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172303C9.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C_D2CF5ED.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4F_A5ED6B0.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347" r:id="rId2"/>
    <p:sldId id="344" r:id="rId3"/>
    <p:sldId id="345" r:id="rId4"/>
    <p:sldId id="346" r:id="rId5"/>
    <p:sldId id="341" r:id="rId6"/>
    <p:sldId id="343" r:id="rId7"/>
    <p:sldId id="348" r:id="rId8"/>
    <p:sldId id="258" r:id="rId9"/>
    <p:sldId id="284" r:id="rId10"/>
    <p:sldId id="285" r:id="rId11"/>
    <p:sldId id="264" r:id="rId12"/>
    <p:sldId id="330" r:id="rId13"/>
    <p:sldId id="288" r:id="rId14"/>
    <p:sldId id="289" r:id="rId15"/>
    <p:sldId id="299" r:id="rId16"/>
    <p:sldId id="265" r:id="rId17"/>
    <p:sldId id="267" r:id="rId18"/>
    <p:sldId id="266" r:id="rId19"/>
    <p:sldId id="268" r:id="rId20"/>
    <p:sldId id="300" r:id="rId21"/>
    <p:sldId id="269" r:id="rId22"/>
    <p:sldId id="290" r:id="rId23"/>
    <p:sldId id="294" r:id="rId24"/>
    <p:sldId id="292" r:id="rId25"/>
    <p:sldId id="293" r:id="rId26"/>
    <p:sldId id="291" r:id="rId27"/>
    <p:sldId id="364" r:id="rId28"/>
    <p:sldId id="365" r:id="rId29"/>
    <p:sldId id="366" r:id="rId30"/>
    <p:sldId id="325" r:id="rId31"/>
    <p:sldId id="295" r:id="rId32"/>
    <p:sldId id="270" r:id="rId33"/>
    <p:sldId id="273" r:id="rId34"/>
    <p:sldId id="274" r:id="rId35"/>
    <p:sldId id="275" r:id="rId36"/>
    <p:sldId id="276" r:id="rId37"/>
    <p:sldId id="335" r:id="rId38"/>
    <p:sldId id="297" r:id="rId39"/>
    <p:sldId id="298" r:id="rId40"/>
    <p:sldId id="279" r:id="rId41"/>
    <p:sldId id="306" r:id="rId42"/>
    <p:sldId id="310" r:id="rId43"/>
    <p:sldId id="307" r:id="rId44"/>
    <p:sldId id="308" r:id="rId45"/>
    <p:sldId id="309" r:id="rId46"/>
    <p:sldId id="311" r:id="rId47"/>
    <p:sldId id="312" r:id="rId48"/>
    <p:sldId id="357" r:id="rId49"/>
    <p:sldId id="358" r:id="rId50"/>
    <p:sldId id="363" r:id="rId51"/>
    <p:sldId id="359" r:id="rId52"/>
    <p:sldId id="313" r:id="rId53"/>
    <p:sldId id="287" r:id="rId54"/>
    <p:sldId id="280" r:id="rId55"/>
    <p:sldId id="282" r:id="rId56"/>
    <p:sldId id="327" r:id="rId57"/>
    <p:sldId id="361" r:id="rId58"/>
    <p:sldId id="369" r:id="rId59"/>
    <p:sldId id="362" r:id="rId60"/>
    <p:sldId id="283" r:id="rId61"/>
    <p:sldId id="315" r:id="rId62"/>
    <p:sldId id="316" r:id="rId63"/>
    <p:sldId id="317" r:id="rId64"/>
    <p:sldId id="318" r:id="rId65"/>
    <p:sldId id="302" r:id="rId66"/>
    <p:sldId id="303" r:id="rId67"/>
    <p:sldId id="304" r:id="rId68"/>
    <p:sldId id="305" r:id="rId69"/>
    <p:sldId id="333" r:id="rId70"/>
    <p:sldId id="334" r:id="rId71"/>
    <p:sldId id="336" r:id="rId72"/>
    <p:sldId id="301" r:id="rId73"/>
    <p:sldId id="354" r:id="rId74"/>
    <p:sldId id="329" r:id="rId75"/>
    <p:sldId id="355"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035C24-FB10-503F-F4C7-25DFDBAC4E12}" name="Petzschner, Frederike" initials="PF" userId="S::fpetzsch@ad.brown.edu::c032904a-61fd-4b83-a3f9-5ddb73336483" providerId="AD"/>
  <p188:author id="{34B90641-1D5B-C7D4-588E-5F599BF6B9F7}" name="Warren, Katherine" initials="WK" userId="S::kwarren3@ad.brown.edu::f731e4ee-1169-41e6-88ae-e3aceb5480d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6E4"/>
    <a:srgbClr val="17A3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35"/>
    <p:restoredTop sz="86395"/>
  </p:normalViewPr>
  <p:slideViewPr>
    <p:cSldViewPr snapToGrid="0">
      <p:cViewPr varScale="1">
        <p:scale>
          <a:sx n="101" d="100"/>
          <a:sy n="101" d="100"/>
        </p:scale>
        <p:origin x="216" y="3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26" d="100"/>
          <a:sy n="126" d="100"/>
        </p:scale>
        <p:origin x="4472" y="21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modernComment_10C_D2CF5ED.xml><?xml version="1.0" encoding="utf-8"?>
<p188:cmLst xmlns:a="http://schemas.openxmlformats.org/drawingml/2006/main" xmlns:r="http://schemas.openxmlformats.org/officeDocument/2006/relationships" xmlns:p188="http://schemas.microsoft.com/office/powerpoint/2018/8/main">
  <p188:cm id="{69393EC7-1D4E-EE4D-B02B-EBAB2F576B4D}" authorId="{34B90641-1D5B-C7D4-588E-5F599BF6B9F7}" created="2026-01-22T16:25:47.087">
    <ac:txMkLst xmlns:ac="http://schemas.microsoft.com/office/drawing/2013/main/command">
      <pc:docMk xmlns:pc="http://schemas.microsoft.com/office/powerpoint/2013/main/command"/>
      <pc:sldMk xmlns:pc="http://schemas.microsoft.com/office/powerpoint/2013/main/command" cId="221050349" sldId="268"/>
      <ac:spMk id="4" creationId="{E204D15C-B032-AEA7-6590-C7AEF2008E11}"/>
      <ac:txMk cp="14" len="9">
        <ac:context len="25" hash="3857312020"/>
      </ac:txMk>
    </ac:txMkLst>
    <p188:pos x="8364415" y="795460"/>
    <p188:txBody>
      <a:bodyPr/>
      <a:lstStyle/>
      <a:p>
        <a:r>
          <a:rPr lang="en-US"/>
          <a:t>not sure what the best phrasing for this is... "run out of power" when we are talking about something emptying might imply that the gloop is the power, so I changed it to shutting down for now</a:t>
        </a:r>
      </a:p>
    </p188:txBody>
  </p188:cm>
</p188:cmLst>
</file>

<file path=ppt/comments/modernComment_14F_A5ED6B0.xml><?xml version="1.0" encoding="utf-8"?>
<p188:cmLst xmlns:a="http://schemas.openxmlformats.org/drawingml/2006/main" xmlns:r="http://schemas.openxmlformats.org/officeDocument/2006/relationships" xmlns:p188="http://schemas.microsoft.com/office/powerpoint/2018/8/main">
  <p188:cm id="{73EEB3B4-67FA-034D-9D89-CD00E7904945}" authorId="{34B90641-1D5B-C7D4-588E-5F599BF6B9F7}" created="2026-01-28T02:31:41.746">
    <ac:deMkLst xmlns:ac="http://schemas.microsoft.com/office/drawing/2013/main/command">
      <pc:docMk xmlns:pc="http://schemas.microsoft.com/office/powerpoint/2013/main/command"/>
      <pc:sldMk xmlns:pc="http://schemas.microsoft.com/office/powerpoint/2013/main/command" cId="173987504" sldId="335"/>
      <ac:spMk id="3" creationId="{4FC1EE4D-DD42-4024-6964-CDD59CB7E895}"/>
    </ac:deMkLst>
    <p188:replyLst>
      <p188:reply id="{C87626E3-9EA5-EC4E-8389-C8CCB6865F82}" authorId="{34B90641-1D5B-C7D4-588E-5F599BF6B9F7}" created="2026-01-28T02:40:07.145">
        <p188:txBody>
          <a:bodyPr/>
          <a:lstStyle/>
          <a:p>
            <a:r>
              <a:rPr lang="en-US"/>
              <a:t>so I changed around the phrasing of this so that hopefully it can be avoided</a:t>
            </a:r>
          </a:p>
        </p188:txBody>
      </p188:reply>
    </p188:replyLst>
    <p188:txBody>
      <a:bodyPr/>
      <a:lstStyle/>
      <a:p>
        <a:r>
          <a:rPr lang="en-US"/>
          <a:t>I’m not sure what the best way to make an animation indicating the end of each day, because I’m not sure what the best way to show this in the task would be since we don’t want them to know how long each round is lasting, and it also seems like it might be odd to have a whole animation at the end of each round</a:t>
        </a:r>
      </a:p>
    </p188:txBody>
  </p188:cm>
  <p188:cm id="{52CAA25D-59D1-9B43-9865-6CDFE95B3D91}" authorId="{34B90641-1D5B-C7D4-588E-5F599BF6B9F7}" created="2026-01-28T02:42:26.769">
    <ac:deMkLst xmlns:ac="http://schemas.microsoft.com/office/drawing/2013/main/command">
      <pc:docMk xmlns:pc="http://schemas.microsoft.com/office/powerpoint/2013/main/command"/>
      <pc:sldMk xmlns:pc="http://schemas.microsoft.com/office/powerpoint/2013/main/command" cId="173987504" sldId="335"/>
      <ac:picMk id="6" creationId="{79F9FEDC-6B26-796D-62E2-523DE5DEB261}"/>
    </ac:deMkLst>
    <p188:txBody>
      <a:bodyPr/>
      <a:lstStyle/>
      <a:p>
        <a:r>
          <a:rPr lang="en-US"/>
          <a:t>Update this if the animation changes</a:t>
        </a:r>
      </a:p>
    </p188:txBody>
  </p188:cm>
</p188:cmLst>
</file>

<file path=ppt/comments/modernComment_102_172303C9.xml><?xml version="1.0" encoding="utf-8"?>
<p188:cmLst xmlns:a="http://schemas.openxmlformats.org/drawingml/2006/main" xmlns:r="http://schemas.openxmlformats.org/officeDocument/2006/relationships" xmlns:p188="http://schemas.microsoft.com/office/powerpoint/2018/8/main">
  <p188:cm id="{AD59E1D3-A42A-5944-98D8-FC159207BC9E}" authorId="{34B90641-1D5B-C7D4-588E-5F599BF6B9F7}" created="2026-01-22T16:20:17.309">
    <ac:txMkLst xmlns:ac="http://schemas.microsoft.com/office/drawing/2013/main/command">
      <pc:docMk xmlns:pc="http://schemas.microsoft.com/office/powerpoint/2013/main/command"/>
      <pc:sldMk xmlns:pc="http://schemas.microsoft.com/office/powerpoint/2013/main/command" cId="388170697" sldId="258"/>
      <ac:spMk id="2" creationId="{A31F7415-78C5-2F0F-1F83-545172AA74CF}"/>
      <ac:txMk cp="0" len="39">
        <ac:context len="40" hash="222521813"/>
      </ac:txMk>
    </ac:txMkLst>
    <p188:pos x="8047892" y="525829"/>
    <p188:replyLst>
      <p188:reply id="{B07ABC2F-0EE8-E943-A3CE-AC50DAB7A700}" authorId="{34B90641-1D5B-C7D4-588E-5F599BF6B9F7}" created="2026-01-22T16:22:32.126">
        <p188:txBody>
          <a:bodyPr/>
          <a:lstStyle/>
          <a:p>
            <a:r>
              <a:rPr lang="en-US"/>
              <a:t>also tested out a 2s limit in powerpoint and that seems short enough</a:t>
            </a:r>
          </a:p>
        </p188:txBody>
      </p188:reply>
    </p188:replyLst>
    <p188:txBody>
      <a:bodyPr/>
      <a:lstStyle/>
      <a:p>
        <a:r>
          <a:rPr lang="en-US"/>
          <a:t>Do we want to clarify that Bleeblop is a robot or leave it somewhat ambiguous?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298C9-195B-3D48-A47C-B559AEDD3EF6}" type="datetimeFigureOut">
              <a:rPr lang="en-US" smtClean="0"/>
              <a:t>3/10/26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9EB2F1-BA27-FD42-8E63-0512DC1A5994}" type="slidenum">
              <a:rPr lang="en-US" smtClean="0"/>
              <a:t>‹#›</a:t>
            </a:fld>
            <a:endParaRPr lang="en-US" dirty="0"/>
          </a:p>
        </p:txBody>
      </p:sp>
    </p:spTree>
    <p:extLst>
      <p:ext uri="{BB962C8B-B14F-4D97-AF65-F5344CB8AC3E}">
        <p14:creationId xmlns:p14="http://schemas.microsoft.com/office/powerpoint/2010/main" val="21399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445BB-8BC0-80F3-DE64-91ACD717A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B52BF-4BC0-4BF2-A678-34EB0745F16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CF67EDD-948E-6465-3F51-163A5241D0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should be no minimal time in moving backward only forward)</a:t>
            </a:r>
          </a:p>
          <a:p>
            <a:endParaRPr lang="en-US" dirty="0"/>
          </a:p>
        </p:txBody>
      </p:sp>
      <p:sp>
        <p:nvSpPr>
          <p:cNvPr id="4" name="Slide Number Placeholder 3">
            <a:extLst>
              <a:ext uri="{FF2B5EF4-FFF2-40B4-BE49-F238E27FC236}">
                <a16:creationId xmlns:a16="http://schemas.microsoft.com/office/drawing/2014/main" id="{A6704E64-3EB0-C029-0DE1-22C64952A8BE}"/>
              </a:ext>
            </a:extLst>
          </p:cNvPr>
          <p:cNvSpPr>
            <a:spLocks noGrp="1"/>
          </p:cNvSpPr>
          <p:nvPr>
            <p:ph type="sldNum" sz="quarter" idx="5"/>
          </p:nvPr>
        </p:nvSpPr>
        <p:spPr/>
        <p:txBody>
          <a:bodyPr/>
          <a:lstStyle/>
          <a:p>
            <a:fld id="{E69EB2F1-BA27-FD42-8E63-0512DC1A5994}" type="slidenum">
              <a:rPr lang="en-US" smtClean="0"/>
              <a:t>5</a:t>
            </a:fld>
            <a:endParaRPr lang="en-US" dirty="0"/>
          </a:p>
        </p:txBody>
      </p:sp>
    </p:spTree>
    <p:extLst>
      <p:ext uri="{BB962C8B-B14F-4D97-AF65-F5344CB8AC3E}">
        <p14:creationId xmlns:p14="http://schemas.microsoft.com/office/powerpoint/2010/main" val="1462176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2925E-9199-81DB-F5BB-8B9169363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A0DEC-C420-B70B-6782-6C76B20B0AB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67F44D8-7784-A24A-3332-9488D34B7E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should be no minimal time in moving backward only forward)</a:t>
            </a:r>
          </a:p>
          <a:p>
            <a:endParaRPr lang="en-US" dirty="0"/>
          </a:p>
        </p:txBody>
      </p:sp>
      <p:sp>
        <p:nvSpPr>
          <p:cNvPr id="4" name="Slide Number Placeholder 3">
            <a:extLst>
              <a:ext uri="{FF2B5EF4-FFF2-40B4-BE49-F238E27FC236}">
                <a16:creationId xmlns:a16="http://schemas.microsoft.com/office/drawing/2014/main" id="{53B344CB-3D16-4D4E-E6F5-ADF11DED0FF5}"/>
              </a:ext>
            </a:extLst>
          </p:cNvPr>
          <p:cNvSpPr>
            <a:spLocks noGrp="1"/>
          </p:cNvSpPr>
          <p:nvPr>
            <p:ph type="sldNum" sz="quarter" idx="5"/>
          </p:nvPr>
        </p:nvSpPr>
        <p:spPr/>
        <p:txBody>
          <a:bodyPr/>
          <a:lstStyle/>
          <a:p>
            <a:fld id="{E69EB2F1-BA27-FD42-8E63-0512DC1A5994}" type="slidenum">
              <a:rPr lang="en-US" smtClean="0"/>
              <a:t>6</a:t>
            </a:fld>
            <a:endParaRPr lang="en-US" dirty="0"/>
          </a:p>
        </p:txBody>
      </p:sp>
    </p:spTree>
    <p:extLst>
      <p:ext uri="{BB962C8B-B14F-4D97-AF65-F5344CB8AC3E}">
        <p14:creationId xmlns:p14="http://schemas.microsoft.com/office/powerpoint/2010/main" val="4045245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1D2E-29C9-297C-A480-1BAC8F040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D95EF-2EDC-A61B-D8F9-7BB2DDE5A61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0C37698-B217-614E-F5D3-01E87808A4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should be no minimal time in moving backward only forward)</a:t>
            </a:r>
          </a:p>
          <a:p>
            <a:endParaRPr lang="en-US" dirty="0"/>
          </a:p>
        </p:txBody>
      </p:sp>
      <p:sp>
        <p:nvSpPr>
          <p:cNvPr id="4" name="Slide Number Placeholder 3">
            <a:extLst>
              <a:ext uri="{FF2B5EF4-FFF2-40B4-BE49-F238E27FC236}">
                <a16:creationId xmlns:a16="http://schemas.microsoft.com/office/drawing/2014/main" id="{9A874CFB-9BE9-1665-03F1-568B03105AE5}"/>
              </a:ext>
            </a:extLst>
          </p:cNvPr>
          <p:cNvSpPr>
            <a:spLocks noGrp="1"/>
          </p:cNvSpPr>
          <p:nvPr>
            <p:ph type="sldNum" sz="quarter" idx="5"/>
          </p:nvPr>
        </p:nvSpPr>
        <p:spPr/>
        <p:txBody>
          <a:bodyPr/>
          <a:lstStyle/>
          <a:p>
            <a:fld id="{E69EB2F1-BA27-FD42-8E63-0512DC1A5994}" type="slidenum">
              <a:rPr lang="en-US" smtClean="0"/>
              <a:t>7</a:t>
            </a:fld>
            <a:endParaRPr lang="en-US" dirty="0"/>
          </a:p>
        </p:txBody>
      </p:sp>
    </p:spTree>
    <p:extLst>
      <p:ext uri="{BB962C8B-B14F-4D97-AF65-F5344CB8AC3E}">
        <p14:creationId xmlns:p14="http://schemas.microsoft.com/office/powerpoint/2010/main" val="2282488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9</a:t>
            </a:fld>
            <a:endParaRPr lang="en-US" dirty="0"/>
          </a:p>
        </p:txBody>
      </p:sp>
    </p:spTree>
    <p:extLst>
      <p:ext uri="{BB962C8B-B14F-4D97-AF65-F5344CB8AC3E}">
        <p14:creationId xmlns:p14="http://schemas.microsoft.com/office/powerpoint/2010/main" val="1861179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10</a:t>
            </a:fld>
            <a:endParaRPr lang="en-US" dirty="0"/>
          </a:p>
        </p:txBody>
      </p:sp>
    </p:spTree>
    <p:extLst>
      <p:ext uri="{BB962C8B-B14F-4D97-AF65-F5344CB8AC3E}">
        <p14:creationId xmlns:p14="http://schemas.microsoft.com/office/powerpoint/2010/main" val="2195238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11</a:t>
            </a:fld>
            <a:endParaRPr lang="en-US" dirty="0"/>
          </a:p>
        </p:txBody>
      </p:sp>
    </p:spTree>
    <p:extLst>
      <p:ext uri="{BB962C8B-B14F-4D97-AF65-F5344CB8AC3E}">
        <p14:creationId xmlns:p14="http://schemas.microsoft.com/office/powerpoint/2010/main" val="2950986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B3CD-0F86-1637-1965-50C686CDD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8FA62-FB8F-24CF-79FC-608DDD7315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FFD90EB-2B3F-1E84-430B-71123348D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525ED1-F0BD-C523-BA33-020AD4DD478C}"/>
              </a:ext>
            </a:extLst>
          </p:cNvPr>
          <p:cNvSpPr>
            <a:spLocks noGrp="1"/>
          </p:cNvSpPr>
          <p:nvPr>
            <p:ph type="sldNum" sz="quarter" idx="5"/>
          </p:nvPr>
        </p:nvSpPr>
        <p:spPr/>
        <p:txBody>
          <a:bodyPr/>
          <a:lstStyle/>
          <a:p>
            <a:fld id="{E69EB2F1-BA27-FD42-8E63-0512DC1A5994}" type="slidenum">
              <a:rPr lang="en-US" smtClean="0"/>
              <a:t>12</a:t>
            </a:fld>
            <a:endParaRPr lang="en-US" dirty="0"/>
          </a:p>
        </p:txBody>
      </p:sp>
    </p:spTree>
    <p:extLst>
      <p:ext uri="{BB962C8B-B14F-4D97-AF65-F5344CB8AC3E}">
        <p14:creationId xmlns:p14="http://schemas.microsoft.com/office/powerpoint/2010/main" val="1318771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731D-815B-351C-A1B2-7C2F79C8E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FD9AA-F315-54EC-BD98-F57D8DDFFB1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C3BCEE3-A310-5213-1430-C383C034B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2CE94A-93FA-84F2-D169-00ADE1712F16}"/>
              </a:ext>
            </a:extLst>
          </p:cNvPr>
          <p:cNvSpPr>
            <a:spLocks noGrp="1"/>
          </p:cNvSpPr>
          <p:nvPr>
            <p:ph type="sldNum" sz="quarter" idx="5"/>
          </p:nvPr>
        </p:nvSpPr>
        <p:spPr/>
        <p:txBody>
          <a:bodyPr/>
          <a:lstStyle/>
          <a:p>
            <a:fld id="{E69EB2F1-BA27-FD42-8E63-0512DC1A5994}" type="slidenum">
              <a:rPr lang="en-US" smtClean="0"/>
              <a:t>13</a:t>
            </a:fld>
            <a:endParaRPr lang="en-US" dirty="0"/>
          </a:p>
        </p:txBody>
      </p:sp>
    </p:spTree>
    <p:extLst>
      <p:ext uri="{BB962C8B-B14F-4D97-AF65-F5344CB8AC3E}">
        <p14:creationId xmlns:p14="http://schemas.microsoft.com/office/powerpoint/2010/main" val="3073702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8D5BC-A82C-3B03-3E4A-2AA4937BF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4D3C1-93D1-9FAB-5026-DF9C10B9D7B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F5FB32-9703-20C0-B74C-814C1F4661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289FEF-B11B-2F55-50FC-3B2496956C41}"/>
              </a:ext>
            </a:extLst>
          </p:cNvPr>
          <p:cNvSpPr>
            <a:spLocks noGrp="1"/>
          </p:cNvSpPr>
          <p:nvPr>
            <p:ph type="sldNum" sz="quarter" idx="5"/>
          </p:nvPr>
        </p:nvSpPr>
        <p:spPr/>
        <p:txBody>
          <a:bodyPr/>
          <a:lstStyle/>
          <a:p>
            <a:fld id="{E69EB2F1-BA27-FD42-8E63-0512DC1A5994}" type="slidenum">
              <a:rPr lang="en-US" smtClean="0"/>
              <a:t>14</a:t>
            </a:fld>
            <a:endParaRPr lang="en-US" dirty="0"/>
          </a:p>
        </p:txBody>
      </p:sp>
    </p:spTree>
    <p:extLst>
      <p:ext uri="{BB962C8B-B14F-4D97-AF65-F5344CB8AC3E}">
        <p14:creationId xmlns:p14="http://schemas.microsoft.com/office/powerpoint/2010/main" val="1763185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7A94-E667-0FE9-7A76-A4E5F4E9B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0BDAA-B83C-862E-1FA9-20FDB2E076E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B6D5FC9-76D7-BDE5-FA28-AA4739D625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DBC7ED-98DD-2551-DE13-1BF66AAC31B0}"/>
              </a:ext>
            </a:extLst>
          </p:cNvPr>
          <p:cNvSpPr>
            <a:spLocks noGrp="1"/>
          </p:cNvSpPr>
          <p:nvPr>
            <p:ph type="sldNum" sz="quarter" idx="5"/>
          </p:nvPr>
        </p:nvSpPr>
        <p:spPr/>
        <p:txBody>
          <a:bodyPr/>
          <a:lstStyle/>
          <a:p>
            <a:fld id="{E69EB2F1-BA27-FD42-8E63-0512DC1A5994}" type="slidenum">
              <a:rPr lang="en-US" smtClean="0"/>
              <a:t>15</a:t>
            </a:fld>
            <a:endParaRPr lang="en-US" dirty="0"/>
          </a:p>
        </p:txBody>
      </p:sp>
    </p:spTree>
    <p:extLst>
      <p:ext uri="{BB962C8B-B14F-4D97-AF65-F5344CB8AC3E}">
        <p14:creationId xmlns:p14="http://schemas.microsoft.com/office/powerpoint/2010/main" val="1828830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16</a:t>
            </a:fld>
            <a:endParaRPr lang="en-US" dirty="0"/>
          </a:p>
        </p:txBody>
      </p:sp>
    </p:spTree>
    <p:extLst>
      <p:ext uri="{BB962C8B-B14F-4D97-AF65-F5344CB8AC3E}">
        <p14:creationId xmlns:p14="http://schemas.microsoft.com/office/powerpoint/2010/main" val="786378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17</a:t>
            </a:fld>
            <a:endParaRPr lang="en-US" dirty="0"/>
          </a:p>
        </p:txBody>
      </p:sp>
    </p:spTree>
    <p:extLst>
      <p:ext uri="{BB962C8B-B14F-4D97-AF65-F5344CB8AC3E}">
        <p14:creationId xmlns:p14="http://schemas.microsoft.com/office/powerpoint/2010/main" val="3177821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AB6C3-7829-2CC5-55E7-0194220C8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637D1-4441-B510-5B1C-B43ED02110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068F21C-D223-8118-20B8-CD31658AFE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90143-4692-EE39-B3FE-97A99292EB5D}"/>
              </a:ext>
            </a:extLst>
          </p:cNvPr>
          <p:cNvSpPr>
            <a:spLocks noGrp="1"/>
          </p:cNvSpPr>
          <p:nvPr>
            <p:ph type="sldNum" sz="quarter" idx="5"/>
          </p:nvPr>
        </p:nvSpPr>
        <p:spPr/>
        <p:txBody>
          <a:bodyPr/>
          <a:lstStyle/>
          <a:p>
            <a:fld id="{E69EB2F1-BA27-FD42-8E63-0512DC1A5994}" type="slidenum">
              <a:rPr lang="en-US" smtClean="0"/>
              <a:t>20</a:t>
            </a:fld>
            <a:endParaRPr lang="en-US" dirty="0"/>
          </a:p>
        </p:txBody>
      </p:sp>
    </p:spTree>
    <p:extLst>
      <p:ext uri="{BB962C8B-B14F-4D97-AF65-F5344CB8AC3E}">
        <p14:creationId xmlns:p14="http://schemas.microsoft.com/office/powerpoint/2010/main" val="2478642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21</a:t>
            </a:fld>
            <a:endParaRPr lang="en-US" dirty="0"/>
          </a:p>
        </p:txBody>
      </p:sp>
    </p:spTree>
    <p:extLst>
      <p:ext uri="{BB962C8B-B14F-4D97-AF65-F5344CB8AC3E}">
        <p14:creationId xmlns:p14="http://schemas.microsoft.com/office/powerpoint/2010/main" val="858731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B396A-5311-1B03-401B-DDAC212E2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3F135-373E-7169-442D-C667CB1DEB1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F37B870-02CE-5104-1DBE-63DE13030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2E414C-7573-3D50-205F-BFACC317EA62}"/>
              </a:ext>
            </a:extLst>
          </p:cNvPr>
          <p:cNvSpPr>
            <a:spLocks noGrp="1"/>
          </p:cNvSpPr>
          <p:nvPr>
            <p:ph type="sldNum" sz="quarter" idx="5"/>
          </p:nvPr>
        </p:nvSpPr>
        <p:spPr/>
        <p:txBody>
          <a:bodyPr/>
          <a:lstStyle/>
          <a:p>
            <a:fld id="{E69EB2F1-BA27-FD42-8E63-0512DC1A5994}" type="slidenum">
              <a:rPr lang="en-US" smtClean="0"/>
              <a:t>22</a:t>
            </a:fld>
            <a:endParaRPr lang="en-US" dirty="0"/>
          </a:p>
        </p:txBody>
      </p:sp>
    </p:spTree>
    <p:extLst>
      <p:ext uri="{BB962C8B-B14F-4D97-AF65-F5344CB8AC3E}">
        <p14:creationId xmlns:p14="http://schemas.microsoft.com/office/powerpoint/2010/main" val="1223951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B8A2-871C-566B-DA78-88C805C11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1915A-C34A-290B-26BA-F0EA20F78E3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7CED474-7ACE-A5DE-8498-639C5D369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87DBAF-94A1-C567-D71C-BC905509BDF6}"/>
              </a:ext>
            </a:extLst>
          </p:cNvPr>
          <p:cNvSpPr>
            <a:spLocks noGrp="1"/>
          </p:cNvSpPr>
          <p:nvPr>
            <p:ph type="sldNum" sz="quarter" idx="5"/>
          </p:nvPr>
        </p:nvSpPr>
        <p:spPr/>
        <p:txBody>
          <a:bodyPr/>
          <a:lstStyle/>
          <a:p>
            <a:fld id="{E69EB2F1-BA27-FD42-8E63-0512DC1A5994}" type="slidenum">
              <a:rPr lang="en-US" smtClean="0"/>
              <a:t>23</a:t>
            </a:fld>
            <a:endParaRPr lang="en-US" dirty="0"/>
          </a:p>
        </p:txBody>
      </p:sp>
    </p:spTree>
    <p:extLst>
      <p:ext uri="{BB962C8B-B14F-4D97-AF65-F5344CB8AC3E}">
        <p14:creationId xmlns:p14="http://schemas.microsoft.com/office/powerpoint/2010/main" val="68514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7EEE-F288-738E-4228-7DED41886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6A08E-ED19-199B-C05E-A2911322ED4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0C1D632-72EE-761F-2063-165B098654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E460A-DFC2-B722-25C7-6B996C67B3E5}"/>
              </a:ext>
            </a:extLst>
          </p:cNvPr>
          <p:cNvSpPr>
            <a:spLocks noGrp="1"/>
          </p:cNvSpPr>
          <p:nvPr>
            <p:ph type="sldNum" sz="quarter" idx="5"/>
          </p:nvPr>
        </p:nvSpPr>
        <p:spPr/>
        <p:txBody>
          <a:bodyPr/>
          <a:lstStyle/>
          <a:p>
            <a:fld id="{E69EB2F1-BA27-FD42-8E63-0512DC1A5994}" type="slidenum">
              <a:rPr lang="en-US" smtClean="0"/>
              <a:t>24</a:t>
            </a:fld>
            <a:endParaRPr lang="en-US" dirty="0"/>
          </a:p>
        </p:txBody>
      </p:sp>
    </p:spTree>
    <p:extLst>
      <p:ext uri="{BB962C8B-B14F-4D97-AF65-F5344CB8AC3E}">
        <p14:creationId xmlns:p14="http://schemas.microsoft.com/office/powerpoint/2010/main" val="2510920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7E451-9E46-D840-3275-8B4C4E99D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26ABA-E3D9-CB3F-1AFE-85EAB5C054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5DBA9AE-F8D0-0982-3C8F-C3A9C9B1F6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EABBCA-EA17-CD8C-32FC-4BE57BB7E1AB}"/>
              </a:ext>
            </a:extLst>
          </p:cNvPr>
          <p:cNvSpPr>
            <a:spLocks noGrp="1"/>
          </p:cNvSpPr>
          <p:nvPr>
            <p:ph type="sldNum" sz="quarter" idx="5"/>
          </p:nvPr>
        </p:nvSpPr>
        <p:spPr/>
        <p:txBody>
          <a:bodyPr/>
          <a:lstStyle/>
          <a:p>
            <a:fld id="{E69EB2F1-BA27-FD42-8E63-0512DC1A5994}" type="slidenum">
              <a:rPr lang="en-US" smtClean="0"/>
              <a:t>25</a:t>
            </a:fld>
            <a:endParaRPr lang="en-US" dirty="0"/>
          </a:p>
        </p:txBody>
      </p:sp>
    </p:spTree>
    <p:extLst>
      <p:ext uri="{BB962C8B-B14F-4D97-AF65-F5344CB8AC3E}">
        <p14:creationId xmlns:p14="http://schemas.microsoft.com/office/powerpoint/2010/main" val="835821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1E5E6-811A-D443-A1AE-F9AA74009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8E8AD6-5A58-4158-DA75-D521C6AAED1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DC6624E-F165-09C8-2A34-D9D0ACF156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FCAF79-87E3-D921-42D8-17EF3104583F}"/>
              </a:ext>
            </a:extLst>
          </p:cNvPr>
          <p:cNvSpPr>
            <a:spLocks noGrp="1"/>
          </p:cNvSpPr>
          <p:nvPr>
            <p:ph type="sldNum" sz="quarter" idx="5"/>
          </p:nvPr>
        </p:nvSpPr>
        <p:spPr/>
        <p:txBody>
          <a:bodyPr/>
          <a:lstStyle/>
          <a:p>
            <a:fld id="{E69EB2F1-BA27-FD42-8E63-0512DC1A5994}" type="slidenum">
              <a:rPr lang="en-US" smtClean="0"/>
              <a:t>26</a:t>
            </a:fld>
            <a:endParaRPr lang="en-US" dirty="0"/>
          </a:p>
        </p:txBody>
      </p:sp>
    </p:spTree>
    <p:extLst>
      <p:ext uri="{BB962C8B-B14F-4D97-AF65-F5344CB8AC3E}">
        <p14:creationId xmlns:p14="http://schemas.microsoft.com/office/powerpoint/2010/main" val="454687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F5843-8582-FFAF-9C31-C2D44626E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04447-FB8F-D9AF-0F2D-2F5CE8CA89A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D47CA5A-2A34-4053-487F-4D2C5061B4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Description of which question they missed should be given after the slide </a:t>
            </a:r>
          </a:p>
        </p:txBody>
      </p:sp>
      <p:sp>
        <p:nvSpPr>
          <p:cNvPr id="4" name="Slide Number Placeholder 3">
            <a:extLst>
              <a:ext uri="{FF2B5EF4-FFF2-40B4-BE49-F238E27FC236}">
                <a16:creationId xmlns:a16="http://schemas.microsoft.com/office/drawing/2014/main" id="{4E2D98FF-FFAD-109D-CD6B-D2F4A7348E74}"/>
              </a:ext>
            </a:extLst>
          </p:cNvPr>
          <p:cNvSpPr>
            <a:spLocks noGrp="1"/>
          </p:cNvSpPr>
          <p:nvPr>
            <p:ph type="sldNum" sz="quarter" idx="5"/>
          </p:nvPr>
        </p:nvSpPr>
        <p:spPr/>
        <p:txBody>
          <a:bodyPr/>
          <a:lstStyle/>
          <a:p>
            <a:fld id="{E69EB2F1-BA27-FD42-8E63-0512DC1A5994}" type="slidenum">
              <a:rPr lang="en-US" smtClean="0"/>
              <a:t>27</a:t>
            </a:fld>
            <a:endParaRPr lang="en-US" dirty="0"/>
          </a:p>
        </p:txBody>
      </p:sp>
    </p:spTree>
    <p:extLst>
      <p:ext uri="{BB962C8B-B14F-4D97-AF65-F5344CB8AC3E}">
        <p14:creationId xmlns:p14="http://schemas.microsoft.com/office/powerpoint/2010/main" val="900394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5690-A0CE-EE12-74E2-207738B30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1BDE4-9EE6-949C-B799-F0A23ACDC0E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899F635-1468-BE4F-647C-F23B38398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a:t>
            </a:r>
          </a:p>
        </p:txBody>
      </p:sp>
      <p:sp>
        <p:nvSpPr>
          <p:cNvPr id="4" name="Slide Number Placeholder 3">
            <a:extLst>
              <a:ext uri="{FF2B5EF4-FFF2-40B4-BE49-F238E27FC236}">
                <a16:creationId xmlns:a16="http://schemas.microsoft.com/office/drawing/2014/main" id="{6BF0C382-6672-EC95-A3EA-E87B9CB37D04}"/>
              </a:ext>
            </a:extLst>
          </p:cNvPr>
          <p:cNvSpPr>
            <a:spLocks noGrp="1"/>
          </p:cNvSpPr>
          <p:nvPr>
            <p:ph type="sldNum" sz="quarter" idx="5"/>
          </p:nvPr>
        </p:nvSpPr>
        <p:spPr/>
        <p:txBody>
          <a:bodyPr/>
          <a:lstStyle/>
          <a:p>
            <a:fld id="{E69EB2F1-BA27-FD42-8E63-0512DC1A5994}" type="slidenum">
              <a:rPr lang="en-US" smtClean="0"/>
              <a:t>28</a:t>
            </a:fld>
            <a:endParaRPr lang="en-US" dirty="0"/>
          </a:p>
        </p:txBody>
      </p:sp>
    </p:spTree>
    <p:extLst>
      <p:ext uri="{BB962C8B-B14F-4D97-AF65-F5344CB8AC3E}">
        <p14:creationId xmlns:p14="http://schemas.microsoft.com/office/powerpoint/2010/main" val="3287346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3318-24CE-C426-58AA-0E11619B7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17FC6-7A78-08A2-C346-E6170A5C9A5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E515F04-2FDF-C3E1-53D5-334E32F0FD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Description of which question they missed should be given after the slide </a:t>
            </a:r>
          </a:p>
        </p:txBody>
      </p:sp>
      <p:sp>
        <p:nvSpPr>
          <p:cNvPr id="4" name="Slide Number Placeholder 3">
            <a:extLst>
              <a:ext uri="{FF2B5EF4-FFF2-40B4-BE49-F238E27FC236}">
                <a16:creationId xmlns:a16="http://schemas.microsoft.com/office/drawing/2014/main" id="{89C897DB-1973-3B5E-D0BC-FD56D57658AE}"/>
              </a:ext>
            </a:extLst>
          </p:cNvPr>
          <p:cNvSpPr>
            <a:spLocks noGrp="1"/>
          </p:cNvSpPr>
          <p:nvPr>
            <p:ph type="sldNum" sz="quarter" idx="5"/>
          </p:nvPr>
        </p:nvSpPr>
        <p:spPr/>
        <p:txBody>
          <a:bodyPr/>
          <a:lstStyle/>
          <a:p>
            <a:fld id="{E69EB2F1-BA27-FD42-8E63-0512DC1A5994}" type="slidenum">
              <a:rPr lang="en-US" smtClean="0"/>
              <a:t>29</a:t>
            </a:fld>
            <a:endParaRPr lang="en-US" dirty="0"/>
          </a:p>
        </p:txBody>
      </p:sp>
    </p:spTree>
    <p:extLst>
      <p:ext uri="{BB962C8B-B14F-4D97-AF65-F5344CB8AC3E}">
        <p14:creationId xmlns:p14="http://schemas.microsoft.com/office/powerpoint/2010/main" val="3493114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Show this if they finish the questions in the section, but failed to get them all right after 2 tries</a:t>
            </a:r>
          </a:p>
        </p:txBody>
      </p:sp>
      <p:sp>
        <p:nvSpPr>
          <p:cNvPr id="4" name="Slide Number Placeholder 3"/>
          <p:cNvSpPr>
            <a:spLocks noGrp="1"/>
          </p:cNvSpPr>
          <p:nvPr>
            <p:ph type="sldNum" sz="quarter" idx="5"/>
          </p:nvPr>
        </p:nvSpPr>
        <p:spPr/>
        <p:txBody>
          <a:bodyPr/>
          <a:lstStyle/>
          <a:p>
            <a:fld id="{E69EB2F1-BA27-FD42-8E63-0512DC1A5994}" type="slidenum">
              <a:rPr lang="en-US" smtClean="0"/>
              <a:t>30</a:t>
            </a:fld>
            <a:endParaRPr lang="en-US" dirty="0"/>
          </a:p>
        </p:txBody>
      </p:sp>
    </p:spTree>
    <p:extLst>
      <p:ext uri="{BB962C8B-B14F-4D97-AF65-F5344CB8AC3E}">
        <p14:creationId xmlns:p14="http://schemas.microsoft.com/office/powerpoint/2010/main" val="1445756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32</a:t>
            </a:fld>
            <a:endParaRPr lang="en-US" dirty="0"/>
          </a:p>
        </p:txBody>
      </p:sp>
    </p:spTree>
    <p:extLst>
      <p:ext uri="{BB962C8B-B14F-4D97-AF65-F5344CB8AC3E}">
        <p14:creationId xmlns:p14="http://schemas.microsoft.com/office/powerpoint/2010/main" val="615267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34</a:t>
            </a:fld>
            <a:endParaRPr lang="en-US" dirty="0"/>
          </a:p>
        </p:txBody>
      </p:sp>
    </p:spTree>
    <p:extLst>
      <p:ext uri="{BB962C8B-B14F-4D97-AF65-F5344CB8AC3E}">
        <p14:creationId xmlns:p14="http://schemas.microsoft.com/office/powerpoint/2010/main" val="9287593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35</a:t>
            </a:fld>
            <a:endParaRPr lang="en-US" dirty="0"/>
          </a:p>
        </p:txBody>
      </p:sp>
    </p:spTree>
    <p:extLst>
      <p:ext uri="{BB962C8B-B14F-4D97-AF65-F5344CB8AC3E}">
        <p14:creationId xmlns:p14="http://schemas.microsoft.com/office/powerpoint/2010/main" val="14842105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36</a:t>
            </a:fld>
            <a:endParaRPr lang="en-US" dirty="0"/>
          </a:p>
        </p:txBody>
      </p:sp>
    </p:spTree>
    <p:extLst>
      <p:ext uri="{BB962C8B-B14F-4D97-AF65-F5344CB8AC3E}">
        <p14:creationId xmlns:p14="http://schemas.microsoft.com/office/powerpoint/2010/main" val="3696676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AA4E-BE57-9B30-5D5D-99D5F8FC9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47AFE-056D-9B2F-3C04-41D9FB3E5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6B0DA-B125-C1A6-CAE0-330E6F41C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03295A-4378-6365-2349-20732F81D62F}"/>
              </a:ext>
            </a:extLst>
          </p:cNvPr>
          <p:cNvSpPr>
            <a:spLocks noGrp="1"/>
          </p:cNvSpPr>
          <p:nvPr>
            <p:ph type="sldNum" sz="quarter" idx="5"/>
          </p:nvPr>
        </p:nvSpPr>
        <p:spPr/>
        <p:txBody>
          <a:bodyPr/>
          <a:lstStyle/>
          <a:p>
            <a:fld id="{E69EB2F1-BA27-FD42-8E63-0512DC1A5994}" type="slidenum">
              <a:rPr lang="en-US" smtClean="0"/>
              <a:t>37</a:t>
            </a:fld>
            <a:endParaRPr lang="en-US" dirty="0"/>
          </a:p>
        </p:txBody>
      </p:sp>
    </p:spTree>
    <p:extLst>
      <p:ext uri="{BB962C8B-B14F-4D97-AF65-F5344CB8AC3E}">
        <p14:creationId xmlns:p14="http://schemas.microsoft.com/office/powerpoint/2010/main" val="21421177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38</a:t>
            </a:fld>
            <a:endParaRPr lang="en-US" dirty="0"/>
          </a:p>
        </p:txBody>
      </p:sp>
    </p:spTree>
    <p:extLst>
      <p:ext uri="{BB962C8B-B14F-4D97-AF65-F5344CB8AC3E}">
        <p14:creationId xmlns:p14="http://schemas.microsoft.com/office/powerpoint/2010/main" val="2724435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7D64A-E350-86FE-1D66-B71932CEF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E1683-74F9-42D8-6BBA-1D64242CA81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341798F-398D-A83E-F21C-02DEF79598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E85BD-8FA6-9DB1-FC0E-EEA25EE03446}"/>
              </a:ext>
            </a:extLst>
          </p:cNvPr>
          <p:cNvSpPr>
            <a:spLocks noGrp="1"/>
          </p:cNvSpPr>
          <p:nvPr>
            <p:ph type="sldNum" sz="quarter" idx="5"/>
          </p:nvPr>
        </p:nvSpPr>
        <p:spPr/>
        <p:txBody>
          <a:bodyPr/>
          <a:lstStyle/>
          <a:p>
            <a:fld id="{E69EB2F1-BA27-FD42-8E63-0512DC1A5994}" type="slidenum">
              <a:rPr lang="en-US" smtClean="0"/>
              <a:t>41</a:t>
            </a:fld>
            <a:endParaRPr lang="en-US" dirty="0"/>
          </a:p>
        </p:txBody>
      </p:sp>
    </p:spTree>
    <p:extLst>
      <p:ext uri="{BB962C8B-B14F-4D97-AF65-F5344CB8AC3E}">
        <p14:creationId xmlns:p14="http://schemas.microsoft.com/office/powerpoint/2010/main" val="5795945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7AF4-3199-3426-9977-73385D15D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D345B-2426-1D1C-47DB-5D6E3D759F3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D18A76E-E41B-7911-A748-20792DA7B2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083868-E25F-3950-DBE3-0882055E7AFF}"/>
              </a:ext>
            </a:extLst>
          </p:cNvPr>
          <p:cNvSpPr>
            <a:spLocks noGrp="1"/>
          </p:cNvSpPr>
          <p:nvPr>
            <p:ph type="sldNum" sz="quarter" idx="5"/>
          </p:nvPr>
        </p:nvSpPr>
        <p:spPr/>
        <p:txBody>
          <a:bodyPr/>
          <a:lstStyle/>
          <a:p>
            <a:fld id="{E69EB2F1-BA27-FD42-8E63-0512DC1A5994}" type="slidenum">
              <a:rPr lang="en-US" smtClean="0"/>
              <a:t>42</a:t>
            </a:fld>
            <a:endParaRPr lang="en-US" dirty="0"/>
          </a:p>
        </p:txBody>
      </p:sp>
    </p:spTree>
    <p:extLst>
      <p:ext uri="{BB962C8B-B14F-4D97-AF65-F5344CB8AC3E}">
        <p14:creationId xmlns:p14="http://schemas.microsoft.com/office/powerpoint/2010/main" val="35662046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DE7A-C4F5-D6F4-8CD4-C620E004A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ACD9E-E4EA-C6BA-498E-0699C8F7D31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6CAE565-D51D-475C-762F-12EEC80D56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F8A258-D5F2-D999-1939-6A40B17BD28E}"/>
              </a:ext>
            </a:extLst>
          </p:cNvPr>
          <p:cNvSpPr>
            <a:spLocks noGrp="1"/>
          </p:cNvSpPr>
          <p:nvPr>
            <p:ph type="sldNum" sz="quarter" idx="5"/>
          </p:nvPr>
        </p:nvSpPr>
        <p:spPr/>
        <p:txBody>
          <a:bodyPr/>
          <a:lstStyle/>
          <a:p>
            <a:fld id="{E69EB2F1-BA27-FD42-8E63-0512DC1A5994}" type="slidenum">
              <a:rPr lang="en-US" smtClean="0"/>
              <a:t>43</a:t>
            </a:fld>
            <a:endParaRPr lang="en-US" dirty="0"/>
          </a:p>
        </p:txBody>
      </p:sp>
    </p:spTree>
    <p:extLst>
      <p:ext uri="{BB962C8B-B14F-4D97-AF65-F5344CB8AC3E}">
        <p14:creationId xmlns:p14="http://schemas.microsoft.com/office/powerpoint/2010/main" val="2047512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AC5D-CF0D-B3D2-D9F2-107DA45F8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C7544-7299-A68F-BB09-6EEB774BF65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8C286C3-BB91-D568-4FBA-DE2EA09D15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0A616-4A98-2276-D2F7-1006CB35E471}"/>
              </a:ext>
            </a:extLst>
          </p:cNvPr>
          <p:cNvSpPr>
            <a:spLocks noGrp="1"/>
          </p:cNvSpPr>
          <p:nvPr>
            <p:ph type="sldNum" sz="quarter" idx="5"/>
          </p:nvPr>
        </p:nvSpPr>
        <p:spPr/>
        <p:txBody>
          <a:bodyPr/>
          <a:lstStyle/>
          <a:p>
            <a:fld id="{E69EB2F1-BA27-FD42-8E63-0512DC1A5994}" type="slidenum">
              <a:rPr lang="en-US" smtClean="0"/>
              <a:t>44</a:t>
            </a:fld>
            <a:endParaRPr lang="en-US" dirty="0"/>
          </a:p>
        </p:txBody>
      </p:sp>
    </p:spTree>
    <p:extLst>
      <p:ext uri="{BB962C8B-B14F-4D97-AF65-F5344CB8AC3E}">
        <p14:creationId xmlns:p14="http://schemas.microsoft.com/office/powerpoint/2010/main" val="2863932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97CF8-A7EE-34B0-F286-1411AA85A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28476-7535-CB6D-55AE-2A14C6B8F96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7CFA50-1AF4-595B-8EA7-8152B43F65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9BA5BD-259C-9D53-3191-0C572EB0C995}"/>
              </a:ext>
            </a:extLst>
          </p:cNvPr>
          <p:cNvSpPr>
            <a:spLocks noGrp="1"/>
          </p:cNvSpPr>
          <p:nvPr>
            <p:ph type="sldNum" sz="quarter" idx="5"/>
          </p:nvPr>
        </p:nvSpPr>
        <p:spPr/>
        <p:txBody>
          <a:bodyPr/>
          <a:lstStyle/>
          <a:p>
            <a:fld id="{E69EB2F1-BA27-FD42-8E63-0512DC1A5994}" type="slidenum">
              <a:rPr lang="en-US" smtClean="0"/>
              <a:t>45</a:t>
            </a:fld>
            <a:endParaRPr lang="en-US" dirty="0"/>
          </a:p>
        </p:txBody>
      </p:sp>
    </p:spTree>
    <p:extLst>
      <p:ext uri="{BB962C8B-B14F-4D97-AF65-F5344CB8AC3E}">
        <p14:creationId xmlns:p14="http://schemas.microsoft.com/office/powerpoint/2010/main" val="4193313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0952E-9684-82C3-84D9-2B4472543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8AB9DE-6E01-20D4-AD74-93ECBB757CA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A4A1947-34B4-7EB4-E95B-E22962720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58456F-343E-265A-E12F-170C8B791A83}"/>
              </a:ext>
            </a:extLst>
          </p:cNvPr>
          <p:cNvSpPr>
            <a:spLocks noGrp="1"/>
          </p:cNvSpPr>
          <p:nvPr>
            <p:ph type="sldNum" sz="quarter" idx="5"/>
          </p:nvPr>
        </p:nvSpPr>
        <p:spPr/>
        <p:txBody>
          <a:bodyPr/>
          <a:lstStyle/>
          <a:p>
            <a:fld id="{E69EB2F1-BA27-FD42-8E63-0512DC1A5994}" type="slidenum">
              <a:rPr lang="en-US" smtClean="0"/>
              <a:t>46</a:t>
            </a:fld>
            <a:endParaRPr lang="en-US" dirty="0"/>
          </a:p>
        </p:txBody>
      </p:sp>
    </p:spTree>
    <p:extLst>
      <p:ext uri="{BB962C8B-B14F-4D97-AF65-F5344CB8AC3E}">
        <p14:creationId xmlns:p14="http://schemas.microsoft.com/office/powerpoint/2010/main" val="2980353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08406-E93D-DE88-750E-637E09992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03F71-1E2F-FAAE-1240-374AEB7A7BE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EC6A12B-BC65-BD34-F354-1C385A7285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3B6C39-4792-94CB-3BE2-389D29758FFD}"/>
              </a:ext>
            </a:extLst>
          </p:cNvPr>
          <p:cNvSpPr>
            <a:spLocks noGrp="1"/>
          </p:cNvSpPr>
          <p:nvPr>
            <p:ph type="sldNum" sz="quarter" idx="5"/>
          </p:nvPr>
        </p:nvSpPr>
        <p:spPr/>
        <p:txBody>
          <a:bodyPr/>
          <a:lstStyle/>
          <a:p>
            <a:fld id="{E69EB2F1-BA27-FD42-8E63-0512DC1A5994}" type="slidenum">
              <a:rPr lang="en-US" smtClean="0"/>
              <a:t>47</a:t>
            </a:fld>
            <a:endParaRPr lang="en-US" dirty="0"/>
          </a:p>
        </p:txBody>
      </p:sp>
    </p:spTree>
    <p:extLst>
      <p:ext uri="{BB962C8B-B14F-4D97-AF65-F5344CB8AC3E}">
        <p14:creationId xmlns:p14="http://schemas.microsoft.com/office/powerpoint/2010/main" val="32732724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F0F1-973E-1C7E-2FEC-D38CEFD96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690C8-B373-8FFA-E21B-12EC6303F99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DFAE741-F6B3-1403-BCD8-004CAB64F5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Description of which question they missed should be given after the slide </a:t>
            </a:r>
          </a:p>
        </p:txBody>
      </p:sp>
      <p:sp>
        <p:nvSpPr>
          <p:cNvPr id="4" name="Slide Number Placeholder 3">
            <a:extLst>
              <a:ext uri="{FF2B5EF4-FFF2-40B4-BE49-F238E27FC236}">
                <a16:creationId xmlns:a16="http://schemas.microsoft.com/office/drawing/2014/main" id="{604D870B-0E54-D3E9-148F-6C11F3CAC500}"/>
              </a:ext>
            </a:extLst>
          </p:cNvPr>
          <p:cNvSpPr>
            <a:spLocks noGrp="1"/>
          </p:cNvSpPr>
          <p:nvPr>
            <p:ph type="sldNum" sz="quarter" idx="5"/>
          </p:nvPr>
        </p:nvSpPr>
        <p:spPr/>
        <p:txBody>
          <a:bodyPr/>
          <a:lstStyle/>
          <a:p>
            <a:fld id="{E69EB2F1-BA27-FD42-8E63-0512DC1A5994}" type="slidenum">
              <a:rPr lang="en-US" smtClean="0"/>
              <a:t>48</a:t>
            </a:fld>
            <a:endParaRPr lang="en-US" dirty="0"/>
          </a:p>
        </p:txBody>
      </p:sp>
    </p:spTree>
    <p:extLst>
      <p:ext uri="{BB962C8B-B14F-4D97-AF65-F5344CB8AC3E}">
        <p14:creationId xmlns:p14="http://schemas.microsoft.com/office/powerpoint/2010/main" val="15624874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A5112-6362-3F63-C63D-16F8BC40A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043C0-985A-2678-C45F-3AB66DEA741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5629026-6B5B-2EF9-1051-ECB3CE2140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a:t>
            </a:r>
          </a:p>
        </p:txBody>
      </p:sp>
      <p:sp>
        <p:nvSpPr>
          <p:cNvPr id="4" name="Slide Number Placeholder 3">
            <a:extLst>
              <a:ext uri="{FF2B5EF4-FFF2-40B4-BE49-F238E27FC236}">
                <a16:creationId xmlns:a16="http://schemas.microsoft.com/office/drawing/2014/main" id="{B1B607C7-B4E1-CD52-6669-4FF97C0562E0}"/>
              </a:ext>
            </a:extLst>
          </p:cNvPr>
          <p:cNvSpPr>
            <a:spLocks noGrp="1"/>
          </p:cNvSpPr>
          <p:nvPr>
            <p:ph type="sldNum" sz="quarter" idx="5"/>
          </p:nvPr>
        </p:nvSpPr>
        <p:spPr/>
        <p:txBody>
          <a:bodyPr/>
          <a:lstStyle/>
          <a:p>
            <a:fld id="{E69EB2F1-BA27-FD42-8E63-0512DC1A5994}" type="slidenum">
              <a:rPr lang="en-US" smtClean="0"/>
              <a:t>49</a:t>
            </a:fld>
            <a:endParaRPr lang="en-US" dirty="0"/>
          </a:p>
        </p:txBody>
      </p:sp>
    </p:spTree>
    <p:extLst>
      <p:ext uri="{BB962C8B-B14F-4D97-AF65-F5344CB8AC3E}">
        <p14:creationId xmlns:p14="http://schemas.microsoft.com/office/powerpoint/2010/main" val="9288361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98E9-E228-893E-38CB-01A39AB91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3F836-3B79-F65A-C2AB-F795BB121DF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FACB939-6765-EF17-1F26-C5271690AC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Description of which question they missed should be given after the slide </a:t>
            </a:r>
          </a:p>
        </p:txBody>
      </p:sp>
      <p:sp>
        <p:nvSpPr>
          <p:cNvPr id="4" name="Slide Number Placeholder 3">
            <a:extLst>
              <a:ext uri="{FF2B5EF4-FFF2-40B4-BE49-F238E27FC236}">
                <a16:creationId xmlns:a16="http://schemas.microsoft.com/office/drawing/2014/main" id="{1FE22133-F95C-BD13-019E-8B8A751851F9}"/>
              </a:ext>
            </a:extLst>
          </p:cNvPr>
          <p:cNvSpPr>
            <a:spLocks noGrp="1"/>
          </p:cNvSpPr>
          <p:nvPr>
            <p:ph type="sldNum" sz="quarter" idx="5"/>
          </p:nvPr>
        </p:nvSpPr>
        <p:spPr/>
        <p:txBody>
          <a:bodyPr/>
          <a:lstStyle/>
          <a:p>
            <a:fld id="{E69EB2F1-BA27-FD42-8E63-0512DC1A5994}" type="slidenum">
              <a:rPr lang="en-US" smtClean="0"/>
              <a:t>50</a:t>
            </a:fld>
            <a:endParaRPr lang="en-US" dirty="0"/>
          </a:p>
        </p:txBody>
      </p:sp>
    </p:spTree>
    <p:extLst>
      <p:ext uri="{BB962C8B-B14F-4D97-AF65-F5344CB8AC3E}">
        <p14:creationId xmlns:p14="http://schemas.microsoft.com/office/powerpoint/2010/main" val="33774147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9CDC3-8720-DFC0-0A83-08433238B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09C8D-ED9A-CC36-FE2D-DED7238256A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90D12DF-14DF-10FA-B935-EE630577F5CC}"/>
              </a:ext>
            </a:extLst>
          </p:cNvPr>
          <p:cNvSpPr>
            <a:spLocks noGrp="1"/>
          </p:cNvSpPr>
          <p:nvPr>
            <p:ph type="body" idx="1"/>
          </p:nvPr>
        </p:nvSpPr>
        <p:spPr/>
        <p:txBody>
          <a:bodyPr/>
          <a:lstStyle/>
          <a:p>
            <a:r>
              <a:rPr lang="en-US" dirty="0"/>
              <a:t>Show this if they finish the questions in the section, but failed to get them all right after 2 tries</a:t>
            </a:r>
          </a:p>
        </p:txBody>
      </p:sp>
      <p:sp>
        <p:nvSpPr>
          <p:cNvPr id="4" name="Slide Number Placeholder 3">
            <a:extLst>
              <a:ext uri="{FF2B5EF4-FFF2-40B4-BE49-F238E27FC236}">
                <a16:creationId xmlns:a16="http://schemas.microsoft.com/office/drawing/2014/main" id="{6BE21EAE-93E1-F3C2-C009-2F0847A35221}"/>
              </a:ext>
            </a:extLst>
          </p:cNvPr>
          <p:cNvSpPr>
            <a:spLocks noGrp="1"/>
          </p:cNvSpPr>
          <p:nvPr>
            <p:ph type="sldNum" sz="quarter" idx="5"/>
          </p:nvPr>
        </p:nvSpPr>
        <p:spPr/>
        <p:txBody>
          <a:bodyPr/>
          <a:lstStyle/>
          <a:p>
            <a:fld id="{E69EB2F1-BA27-FD42-8E63-0512DC1A5994}" type="slidenum">
              <a:rPr lang="en-US" smtClean="0"/>
              <a:t>51</a:t>
            </a:fld>
            <a:endParaRPr lang="en-US" dirty="0"/>
          </a:p>
        </p:txBody>
      </p:sp>
    </p:spTree>
    <p:extLst>
      <p:ext uri="{BB962C8B-B14F-4D97-AF65-F5344CB8AC3E}">
        <p14:creationId xmlns:p14="http://schemas.microsoft.com/office/powerpoint/2010/main" val="699332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9D2C9-FEDF-D42C-4647-1A85F3D87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6B96-3916-50FA-6612-2BC7B12208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8C295B6-DE0A-D266-DC24-C221FA922F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483D6D-CA31-495D-8242-0416201C0203}"/>
              </a:ext>
            </a:extLst>
          </p:cNvPr>
          <p:cNvSpPr>
            <a:spLocks noGrp="1"/>
          </p:cNvSpPr>
          <p:nvPr>
            <p:ph type="sldNum" sz="quarter" idx="5"/>
          </p:nvPr>
        </p:nvSpPr>
        <p:spPr/>
        <p:txBody>
          <a:bodyPr/>
          <a:lstStyle/>
          <a:p>
            <a:fld id="{E69EB2F1-BA27-FD42-8E63-0512DC1A5994}" type="slidenum">
              <a:rPr lang="en-US" smtClean="0"/>
              <a:t>53</a:t>
            </a:fld>
            <a:endParaRPr lang="en-US" dirty="0"/>
          </a:p>
        </p:txBody>
      </p:sp>
    </p:spTree>
    <p:extLst>
      <p:ext uri="{BB962C8B-B14F-4D97-AF65-F5344CB8AC3E}">
        <p14:creationId xmlns:p14="http://schemas.microsoft.com/office/powerpoint/2010/main" val="37555385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54</a:t>
            </a:fld>
            <a:endParaRPr lang="en-US" dirty="0"/>
          </a:p>
        </p:txBody>
      </p:sp>
    </p:spTree>
    <p:extLst>
      <p:ext uri="{BB962C8B-B14F-4D97-AF65-F5344CB8AC3E}">
        <p14:creationId xmlns:p14="http://schemas.microsoft.com/office/powerpoint/2010/main" val="8271002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one is tricky I think we should say they receive the bonus when they make it at least 75% </a:t>
            </a:r>
            <a:r>
              <a:rPr lang="en-US" sz="1200" kern="1200" dirty="0" err="1">
                <a:solidFill>
                  <a:schemeClr val="tx1"/>
                </a:solidFill>
                <a:effectLst/>
                <a:latin typeface="+mn-lt"/>
                <a:ea typeface="+mn-ea"/>
                <a:cs typeface="+mn-cs"/>
              </a:rPr>
              <a:t>zthere</a:t>
            </a:r>
            <a:r>
              <a:rPr lang="en-US" sz="1200" kern="1200" dirty="0">
                <a:solidFill>
                  <a:schemeClr val="tx1"/>
                </a:solidFill>
                <a:effectLst/>
                <a:latin typeface="+mn-lt"/>
                <a:ea typeface="+mn-ea"/>
                <a:cs typeface="+mn-cs"/>
              </a:rPr>
              <a:t> or so and than have you reach Robonia when Bleeblop has the ideal level </a:t>
            </a:r>
            <a:r>
              <a:rPr lang="en-US" sz="1200" kern="1200" dirty="0" err="1">
                <a:solidFill>
                  <a:schemeClr val="tx1"/>
                </a:solidFill>
                <a:effectLst/>
                <a:latin typeface="+mn-lt"/>
                <a:ea typeface="+mn-ea"/>
                <a:cs typeface="+mn-cs"/>
              </a:rPr>
              <a:t>avery</a:t>
            </a:r>
            <a:r>
              <a:rPr lang="en-US" sz="1200" kern="1200" dirty="0">
                <a:solidFill>
                  <a:schemeClr val="tx1"/>
                </a:solidFill>
                <a:effectLst/>
                <a:latin typeface="+mn-lt"/>
                <a:ea typeface="+mn-ea"/>
                <a:cs typeface="+mn-cs"/>
              </a:rPr>
              <a:t> days or something, because we want people to keep playing through all trials even if the already achieved the goal. --FP</a:t>
            </a:r>
          </a:p>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55</a:t>
            </a:fld>
            <a:endParaRPr lang="en-US" dirty="0"/>
          </a:p>
        </p:txBody>
      </p:sp>
    </p:spTree>
    <p:extLst>
      <p:ext uri="{BB962C8B-B14F-4D97-AF65-F5344CB8AC3E}">
        <p14:creationId xmlns:p14="http://schemas.microsoft.com/office/powerpoint/2010/main" val="21475138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1F085-498F-02B0-7964-E5E834685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1ED3C-2727-5AA5-B5BE-BA383CA277F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4E6CD4E-4AE3-0221-3051-9C85185E11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C6CBDC-E354-95CA-A43E-8D337B675B02}"/>
              </a:ext>
            </a:extLst>
          </p:cNvPr>
          <p:cNvSpPr>
            <a:spLocks noGrp="1"/>
          </p:cNvSpPr>
          <p:nvPr>
            <p:ph type="sldNum" sz="quarter" idx="5"/>
          </p:nvPr>
        </p:nvSpPr>
        <p:spPr/>
        <p:txBody>
          <a:bodyPr/>
          <a:lstStyle/>
          <a:p>
            <a:fld id="{E69EB2F1-BA27-FD42-8E63-0512DC1A5994}" type="slidenum">
              <a:rPr lang="en-US" smtClean="0"/>
              <a:t>56</a:t>
            </a:fld>
            <a:endParaRPr lang="en-US" dirty="0"/>
          </a:p>
        </p:txBody>
      </p:sp>
    </p:spTree>
    <p:extLst>
      <p:ext uri="{BB962C8B-B14F-4D97-AF65-F5344CB8AC3E}">
        <p14:creationId xmlns:p14="http://schemas.microsoft.com/office/powerpoint/2010/main" val="25778815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5B91-E498-94DF-8E6F-BFB04B0B0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5AA71-082B-29A1-E4B1-94E50FFDAD2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6030D76-F1E6-F255-D67B-03B0263779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a:t>
            </a:r>
          </a:p>
        </p:txBody>
      </p:sp>
      <p:sp>
        <p:nvSpPr>
          <p:cNvPr id="4" name="Slide Number Placeholder 3">
            <a:extLst>
              <a:ext uri="{FF2B5EF4-FFF2-40B4-BE49-F238E27FC236}">
                <a16:creationId xmlns:a16="http://schemas.microsoft.com/office/drawing/2014/main" id="{4EDDF4DF-4E3D-04D4-91F0-439C3C8F3213}"/>
              </a:ext>
            </a:extLst>
          </p:cNvPr>
          <p:cNvSpPr>
            <a:spLocks noGrp="1"/>
          </p:cNvSpPr>
          <p:nvPr>
            <p:ph type="sldNum" sz="quarter" idx="5"/>
          </p:nvPr>
        </p:nvSpPr>
        <p:spPr/>
        <p:txBody>
          <a:bodyPr/>
          <a:lstStyle/>
          <a:p>
            <a:fld id="{E69EB2F1-BA27-FD42-8E63-0512DC1A5994}" type="slidenum">
              <a:rPr lang="en-US" smtClean="0"/>
              <a:t>57</a:t>
            </a:fld>
            <a:endParaRPr lang="en-US" dirty="0"/>
          </a:p>
        </p:txBody>
      </p:sp>
    </p:spTree>
    <p:extLst>
      <p:ext uri="{BB962C8B-B14F-4D97-AF65-F5344CB8AC3E}">
        <p14:creationId xmlns:p14="http://schemas.microsoft.com/office/powerpoint/2010/main" val="21807617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D418-51EF-371C-8772-259E87B89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D2AC4-2870-A1BA-8E52-2CF94ACA1F0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CAFFBEE-EE32-AF6C-C91E-1CFA19FE8B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Description of which question they missed should be given after the slide </a:t>
            </a:r>
          </a:p>
        </p:txBody>
      </p:sp>
      <p:sp>
        <p:nvSpPr>
          <p:cNvPr id="4" name="Slide Number Placeholder 3">
            <a:extLst>
              <a:ext uri="{FF2B5EF4-FFF2-40B4-BE49-F238E27FC236}">
                <a16:creationId xmlns:a16="http://schemas.microsoft.com/office/drawing/2014/main" id="{DC8C0B41-5532-B08C-B553-88A158F4C055}"/>
              </a:ext>
            </a:extLst>
          </p:cNvPr>
          <p:cNvSpPr>
            <a:spLocks noGrp="1"/>
          </p:cNvSpPr>
          <p:nvPr>
            <p:ph type="sldNum" sz="quarter" idx="5"/>
          </p:nvPr>
        </p:nvSpPr>
        <p:spPr/>
        <p:txBody>
          <a:bodyPr/>
          <a:lstStyle/>
          <a:p>
            <a:fld id="{E69EB2F1-BA27-FD42-8E63-0512DC1A5994}" type="slidenum">
              <a:rPr lang="en-US" smtClean="0"/>
              <a:t>58</a:t>
            </a:fld>
            <a:endParaRPr lang="en-US" dirty="0"/>
          </a:p>
        </p:txBody>
      </p:sp>
    </p:spTree>
    <p:extLst>
      <p:ext uri="{BB962C8B-B14F-4D97-AF65-F5344CB8AC3E}">
        <p14:creationId xmlns:p14="http://schemas.microsoft.com/office/powerpoint/2010/main" val="19244328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853FE-DD75-1DF6-BD54-FD6324EC7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75D58-9B6B-1F85-F3BE-6E62207FD7A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B01308-CCF6-4306-149F-650F7F5D8265}"/>
              </a:ext>
            </a:extLst>
          </p:cNvPr>
          <p:cNvSpPr>
            <a:spLocks noGrp="1"/>
          </p:cNvSpPr>
          <p:nvPr>
            <p:ph type="body" idx="1"/>
          </p:nvPr>
        </p:nvSpPr>
        <p:spPr/>
        <p:txBody>
          <a:bodyPr/>
          <a:lstStyle/>
          <a:p>
            <a:r>
              <a:rPr lang="en-US" dirty="0"/>
              <a:t>Show this if they finish the questions in the section, but failed to get them all right after 2 tries</a:t>
            </a:r>
          </a:p>
        </p:txBody>
      </p:sp>
      <p:sp>
        <p:nvSpPr>
          <p:cNvPr id="4" name="Slide Number Placeholder 3">
            <a:extLst>
              <a:ext uri="{FF2B5EF4-FFF2-40B4-BE49-F238E27FC236}">
                <a16:creationId xmlns:a16="http://schemas.microsoft.com/office/drawing/2014/main" id="{8C0992B6-F8F7-84B9-ED1B-57B445644324}"/>
              </a:ext>
            </a:extLst>
          </p:cNvPr>
          <p:cNvSpPr>
            <a:spLocks noGrp="1"/>
          </p:cNvSpPr>
          <p:nvPr>
            <p:ph type="sldNum" sz="quarter" idx="5"/>
          </p:nvPr>
        </p:nvSpPr>
        <p:spPr/>
        <p:txBody>
          <a:bodyPr/>
          <a:lstStyle/>
          <a:p>
            <a:fld id="{E69EB2F1-BA27-FD42-8E63-0512DC1A5994}" type="slidenum">
              <a:rPr lang="en-US" smtClean="0"/>
              <a:t>59</a:t>
            </a:fld>
            <a:endParaRPr lang="en-US" dirty="0"/>
          </a:p>
        </p:txBody>
      </p:sp>
    </p:spTree>
    <p:extLst>
      <p:ext uri="{BB962C8B-B14F-4D97-AF65-F5344CB8AC3E}">
        <p14:creationId xmlns:p14="http://schemas.microsoft.com/office/powerpoint/2010/main" val="30198842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457200" indent="-457200">
              <a:lnSpc>
                <a:spcPct val="200000"/>
              </a:lnSpc>
              <a:buFont typeface="Wingdings" pitchFamily="2" charset="2"/>
              <a:buChar char="q"/>
            </a:pPr>
            <a:r>
              <a:rPr lang="en-US" sz="1200" dirty="0">
                <a:latin typeface="Segoe Print" panose="02000800000000000000" pitchFamily="2" charset="0"/>
              </a:rPr>
              <a:t>Yes! Let’s Get Bleeblop to Robonia!</a:t>
            </a:r>
          </a:p>
          <a:p>
            <a:pPr marL="457200" indent="-457200">
              <a:lnSpc>
                <a:spcPct val="200000"/>
              </a:lnSpc>
              <a:buFont typeface="Wingdings" pitchFamily="2" charset="2"/>
              <a:buChar char="q"/>
            </a:pPr>
            <a:r>
              <a:rPr lang="en-US" sz="1200" dirty="0">
                <a:latin typeface="Segoe Print" panose="02000800000000000000" pitchFamily="2" charset="0"/>
              </a:rPr>
              <a:t>Mmm… I think I need to review the instructions again</a:t>
            </a:r>
          </a:p>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60</a:t>
            </a:fld>
            <a:endParaRPr lang="en-US" dirty="0"/>
          </a:p>
        </p:txBody>
      </p:sp>
    </p:spTree>
    <p:extLst>
      <p:ext uri="{BB962C8B-B14F-4D97-AF65-F5344CB8AC3E}">
        <p14:creationId xmlns:p14="http://schemas.microsoft.com/office/powerpoint/2010/main" val="34696918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D63A-7D89-891F-6BF9-A16552988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A4BDA-3F4E-FF43-DF86-6F32D25A315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6414375-23FE-73D3-3336-E0F2AA18BD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23990B-6F27-B89F-024F-23EE8DFCB672}"/>
              </a:ext>
            </a:extLst>
          </p:cNvPr>
          <p:cNvSpPr>
            <a:spLocks noGrp="1"/>
          </p:cNvSpPr>
          <p:nvPr>
            <p:ph type="sldNum" sz="quarter" idx="5"/>
          </p:nvPr>
        </p:nvSpPr>
        <p:spPr/>
        <p:txBody>
          <a:bodyPr/>
          <a:lstStyle/>
          <a:p>
            <a:fld id="{E69EB2F1-BA27-FD42-8E63-0512DC1A5994}" type="slidenum">
              <a:rPr lang="en-US" smtClean="0"/>
              <a:t>61</a:t>
            </a:fld>
            <a:endParaRPr lang="en-US" dirty="0"/>
          </a:p>
        </p:txBody>
      </p:sp>
    </p:spTree>
    <p:extLst>
      <p:ext uri="{BB962C8B-B14F-4D97-AF65-F5344CB8AC3E}">
        <p14:creationId xmlns:p14="http://schemas.microsoft.com/office/powerpoint/2010/main" val="17055268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64D6-B8F8-CBA6-773B-8E3386B68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7A465-E6BC-8EC7-8C2B-C9D9F3A012A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9241051-0D99-E4AB-2CD7-3D4AACF41F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72A700-DA2F-473D-9B58-E194AAC50CB1}"/>
              </a:ext>
            </a:extLst>
          </p:cNvPr>
          <p:cNvSpPr>
            <a:spLocks noGrp="1"/>
          </p:cNvSpPr>
          <p:nvPr>
            <p:ph type="sldNum" sz="quarter" idx="5"/>
          </p:nvPr>
        </p:nvSpPr>
        <p:spPr/>
        <p:txBody>
          <a:bodyPr/>
          <a:lstStyle/>
          <a:p>
            <a:fld id="{E69EB2F1-BA27-FD42-8E63-0512DC1A5994}" type="slidenum">
              <a:rPr lang="en-US" smtClean="0"/>
              <a:t>62</a:t>
            </a:fld>
            <a:endParaRPr lang="en-US" dirty="0"/>
          </a:p>
        </p:txBody>
      </p:sp>
    </p:spTree>
    <p:extLst>
      <p:ext uri="{BB962C8B-B14F-4D97-AF65-F5344CB8AC3E}">
        <p14:creationId xmlns:p14="http://schemas.microsoft.com/office/powerpoint/2010/main" val="39554421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4EDC2-F9A2-3CE4-3C83-A8992ABBF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FB2D8-91A5-9231-CAC5-46C78B7185A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55D966-C34F-FB1A-7EB5-301525BDB7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657993-4399-AF3A-326E-92DA63165A19}"/>
              </a:ext>
            </a:extLst>
          </p:cNvPr>
          <p:cNvSpPr>
            <a:spLocks noGrp="1"/>
          </p:cNvSpPr>
          <p:nvPr>
            <p:ph type="sldNum" sz="quarter" idx="5"/>
          </p:nvPr>
        </p:nvSpPr>
        <p:spPr/>
        <p:txBody>
          <a:bodyPr/>
          <a:lstStyle/>
          <a:p>
            <a:fld id="{E69EB2F1-BA27-FD42-8E63-0512DC1A5994}" type="slidenum">
              <a:rPr lang="en-US" smtClean="0"/>
              <a:t>63</a:t>
            </a:fld>
            <a:endParaRPr lang="en-US" dirty="0"/>
          </a:p>
        </p:txBody>
      </p:sp>
    </p:spTree>
    <p:extLst>
      <p:ext uri="{BB962C8B-B14F-4D97-AF65-F5344CB8AC3E}">
        <p14:creationId xmlns:p14="http://schemas.microsoft.com/office/powerpoint/2010/main" val="18288003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25F5-E421-41D2-6E31-4435A03A7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66473-DB85-7CF8-0D23-B4EF3198A32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0833E63-3641-D069-D549-7BD8E2024B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2E1BA-E0EE-80B1-BE49-95A6E1945ADA}"/>
              </a:ext>
            </a:extLst>
          </p:cNvPr>
          <p:cNvSpPr>
            <a:spLocks noGrp="1"/>
          </p:cNvSpPr>
          <p:nvPr>
            <p:ph type="sldNum" sz="quarter" idx="5"/>
          </p:nvPr>
        </p:nvSpPr>
        <p:spPr/>
        <p:txBody>
          <a:bodyPr/>
          <a:lstStyle/>
          <a:p>
            <a:fld id="{E69EB2F1-BA27-FD42-8E63-0512DC1A5994}" type="slidenum">
              <a:rPr lang="en-US" smtClean="0"/>
              <a:t>64</a:t>
            </a:fld>
            <a:endParaRPr lang="en-US" dirty="0"/>
          </a:p>
        </p:txBody>
      </p:sp>
    </p:spTree>
    <p:extLst>
      <p:ext uri="{BB962C8B-B14F-4D97-AF65-F5344CB8AC3E}">
        <p14:creationId xmlns:p14="http://schemas.microsoft.com/office/powerpoint/2010/main" val="37962608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E89BF-DC24-D2B6-BFD5-A765ACD30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C792-D4BD-8A93-C214-B8F51A9CEA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04C8718-68F2-143B-FB4A-45855377E1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DC06E-BC00-AB62-1997-6163F743EE3E}"/>
              </a:ext>
            </a:extLst>
          </p:cNvPr>
          <p:cNvSpPr>
            <a:spLocks noGrp="1"/>
          </p:cNvSpPr>
          <p:nvPr>
            <p:ph type="sldNum" sz="quarter" idx="5"/>
          </p:nvPr>
        </p:nvSpPr>
        <p:spPr/>
        <p:txBody>
          <a:bodyPr/>
          <a:lstStyle/>
          <a:p>
            <a:fld id="{E69EB2F1-BA27-FD42-8E63-0512DC1A5994}" type="slidenum">
              <a:rPr lang="en-US" smtClean="0"/>
              <a:t>67</a:t>
            </a:fld>
            <a:endParaRPr lang="en-US" dirty="0"/>
          </a:p>
        </p:txBody>
      </p:sp>
    </p:spTree>
    <p:extLst>
      <p:ext uri="{BB962C8B-B14F-4D97-AF65-F5344CB8AC3E}">
        <p14:creationId xmlns:p14="http://schemas.microsoft.com/office/powerpoint/2010/main" val="23271464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B389-D317-F4FC-8887-28DD4FA25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89BE5-D937-F950-1CF7-3D5BFBCD557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0839629-E59D-4B90-0820-5F762257E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777894-FF0F-2C1A-38B0-C9BB7DA90C84}"/>
              </a:ext>
            </a:extLst>
          </p:cNvPr>
          <p:cNvSpPr>
            <a:spLocks noGrp="1"/>
          </p:cNvSpPr>
          <p:nvPr>
            <p:ph type="sldNum" sz="quarter" idx="5"/>
          </p:nvPr>
        </p:nvSpPr>
        <p:spPr/>
        <p:txBody>
          <a:bodyPr/>
          <a:lstStyle/>
          <a:p>
            <a:fld id="{E69EB2F1-BA27-FD42-8E63-0512DC1A5994}" type="slidenum">
              <a:rPr lang="en-US" smtClean="0"/>
              <a:t>68</a:t>
            </a:fld>
            <a:endParaRPr lang="en-US" dirty="0"/>
          </a:p>
        </p:txBody>
      </p:sp>
    </p:spTree>
    <p:extLst>
      <p:ext uri="{BB962C8B-B14F-4D97-AF65-F5344CB8AC3E}">
        <p14:creationId xmlns:p14="http://schemas.microsoft.com/office/powerpoint/2010/main" val="32799746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4780-BDD9-E879-BBA6-10E60E015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1928B-649D-D6F1-C9C3-790479DCDBB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A381E01-E133-F93D-B219-9C6A2F9873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431BEE-BD7A-3B2A-D3EE-37617784B48E}"/>
              </a:ext>
            </a:extLst>
          </p:cNvPr>
          <p:cNvSpPr>
            <a:spLocks noGrp="1"/>
          </p:cNvSpPr>
          <p:nvPr>
            <p:ph type="sldNum" sz="quarter" idx="5"/>
          </p:nvPr>
        </p:nvSpPr>
        <p:spPr/>
        <p:txBody>
          <a:bodyPr/>
          <a:lstStyle/>
          <a:p>
            <a:fld id="{E69EB2F1-BA27-FD42-8E63-0512DC1A5994}" type="slidenum">
              <a:rPr lang="en-US" smtClean="0"/>
              <a:t>69</a:t>
            </a:fld>
            <a:endParaRPr lang="en-US" dirty="0"/>
          </a:p>
        </p:txBody>
      </p:sp>
    </p:spTree>
    <p:extLst>
      <p:ext uri="{BB962C8B-B14F-4D97-AF65-F5344CB8AC3E}">
        <p14:creationId xmlns:p14="http://schemas.microsoft.com/office/powerpoint/2010/main" val="38938322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0DA5-E7FF-8FE0-BD2A-291106180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BA4D7-3A6F-120D-4AB5-8D8C970F4C7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7DE8813-A27F-4CAE-CE7A-C242493EB1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18D7B8-3A45-46C8-F6DD-429C59525A88}"/>
              </a:ext>
            </a:extLst>
          </p:cNvPr>
          <p:cNvSpPr>
            <a:spLocks noGrp="1"/>
          </p:cNvSpPr>
          <p:nvPr>
            <p:ph type="sldNum" sz="quarter" idx="5"/>
          </p:nvPr>
        </p:nvSpPr>
        <p:spPr/>
        <p:txBody>
          <a:bodyPr/>
          <a:lstStyle/>
          <a:p>
            <a:fld id="{E69EB2F1-BA27-FD42-8E63-0512DC1A5994}" type="slidenum">
              <a:rPr lang="en-US" smtClean="0"/>
              <a:t>70</a:t>
            </a:fld>
            <a:endParaRPr lang="en-US" dirty="0"/>
          </a:p>
        </p:txBody>
      </p:sp>
    </p:spTree>
    <p:extLst>
      <p:ext uri="{BB962C8B-B14F-4D97-AF65-F5344CB8AC3E}">
        <p14:creationId xmlns:p14="http://schemas.microsoft.com/office/powerpoint/2010/main" val="24424022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5C3C1-F6AF-CAAA-E63F-0B235E208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A434A-ECAE-9258-F23B-CEB2AC80F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7EE69-B57A-4BE1-0053-DEDB46623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2FC74-7994-63ED-E78A-3962D5F6259B}"/>
              </a:ext>
            </a:extLst>
          </p:cNvPr>
          <p:cNvSpPr>
            <a:spLocks noGrp="1"/>
          </p:cNvSpPr>
          <p:nvPr>
            <p:ph type="sldNum" sz="quarter" idx="5"/>
          </p:nvPr>
        </p:nvSpPr>
        <p:spPr/>
        <p:txBody>
          <a:bodyPr/>
          <a:lstStyle/>
          <a:p>
            <a:fld id="{E69EB2F1-BA27-FD42-8E63-0512DC1A5994}" type="slidenum">
              <a:rPr lang="en-US" smtClean="0"/>
              <a:t>71</a:t>
            </a:fld>
            <a:endParaRPr lang="en-US" dirty="0"/>
          </a:p>
        </p:txBody>
      </p:sp>
    </p:spTree>
    <p:extLst>
      <p:ext uri="{BB962C8B-B14F-4D97-AF65-F5344CB8AC3E}">
        <p14:creationId xmlns:p14="http://schemas.microsoft.com/office/powerpoint/2010/main" val="7557371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(there should be no minimal time in moving backward only forward)</a:t>
            </a:r>
          </a:p>
          <a:p>
            <a:endParaRPr lang="en-US" dirty="0"/>
          </a:p>
        </p:txBody>
      </p:sp>
      <p:sp>
        <p:nvSpPr>
          <p:cNvPr id="4" name="Slide Number Placeholder 3"/>
          <p:cNvSpPr>
            <a:spLocks noGrp="1"/>
          </p:cNvSpPr>
          <p:nvPr>
            <p:ph type="sldNum" sz="quarter" idx="5"/>
          </p:nvPr>
        </p:nvSpPr>
        <p:spPr/>
        <p:txBody>
          <a:bodyPr/>
          <a:lstStyle/>
          <a:p>
            <a:fld id="{E69EB2F1-BA27-FD42-8E63-0512DC1A5994}" type="slidenum">
              <a:rPr lang="en-US" smtClean="0"/>
              <a:t>74</a:t>
            </a:fld>
            <a:endParaRPr lang="en-US" dirty="0"/>
          </a:p>
        </p:txBody>
      </p:sp>
    </p:spTree>
    <p:extLst>
      <p:ext uri="{BB962C8B-B14F-4D97-AF65-F5344CB8AC3E}">
        <p14:creationId xmlns:p14="http://schemas.microsoft.com/office/powerpoint/2010/main" val="5913891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DD5F-5587-BAF5-C9C6-EE618F14D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CDDDF-C0EE-DCFB-EC1B-8298F1544E5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98FA448-ACF8-D8AA-2E46-722C570BDA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this after all of the sections questions if they get at least one wrong (not just after the question that they missed) and then </a:t>
            </a:r>
            <a:r>
              <a:rPr lang="en-US" sz="1200" kern="1200" dirty="0">
                <a:solidFill>
                  <a:schemeClr val="tx1"/>
                </a:solidFill>
                <a:effectLst/>
                <a:latin typeface="+mn-lt"/>
                <a:ea typeface="+mn-ea"/>
                <a:cs typeface="+mn-cs"/>
              </a:rPr>
              <a:t>send them back to the BleeBlop intro screen</a:t>
            </a:r>
          </a:p>
        </p:txBody>
      </p:sp>
      <p:sp>
        <p:nvSpPr>
          <p:cNvPr id="4" name="Slide Number Placeholder 3">
            <a:extLst>
              <a:ext uri="{FF2B5EF4-FFF2-40B4-BE49-F238E27FC236}">
                <a16:creationId xmlns:a16="http://schemas.microsoft.com/office/drawing/2014/main" id="{247833B0-FB46-BDBE-79AC-2FE3D95E092F}"/>
              </a:ext>
            </a:extLst>
          </p:cNvPr>
          <p:cNvSpPr>
            <a:spLocks noGrp="1"/>
          </p:cNvSpPr>
          <p:nvPr>
            <p:ph type="sldNum" sz="quarter" idx="5"/>
          </p:nvPr>
        </p:nvSpPr>
        <p:spPr/>
        <p:txBody>
          <a:bodyPr/>
          <a:lstStyle/>
          <a:p>
            <a:fld id="{E69EB2F1-BA27-FD42-8E63-0512DC1A5994}" type="slidenum">
              <a:rPr lang="en-US" smtClean="0"/>
              <a:t>75</a:t>
            </a:fld>
            <a:endParaRPr lang="en-US" dirty="0"/>
          </a:p>
        </p:txBody>
      </p:sp>
    </p:spTree>
    <p:extLst>
      <p:ext uri="{BB962C8B-B14F-4D97-AF65-F5344CB8AC3E}">
        <p14:creationId xmlns:p14="http://schemas.microsoft.com/office/powerpoint/2010/main" val="3051433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735A3-ACF5-F384-15EE-D080585798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73F411-2D41-C0A8-C319-48155AAAFE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D09FDC-EED8-91C5-7390-1661A66ACFA7}"/>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E733EF84-33D0-7D93-A89A-127BBD9BFB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DB55B52-9CDA-D482-CD7C-9B05A89359D9}"/>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23435436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84F0-765F-F8E5-95DA-DD3E10C22F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7FF9C2-C759-50BE-0304-B3E896169F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FFAE90-80C5-3CCF-281A-9D8421726148}"/>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3A4B4145-5FFF-2599-7187-25F5B61E5F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A2A0AB-BD5D-71A1-0E5E-1467CE346EF0}"/>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118830337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EC5F-A4C3-858E-C5F3-7B7D9476D2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F09AD9-E0DD-00D2-9EEB-DCF3A7E25D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A8A734-E401-63C7-8371-98EBD7343F21}"/>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1075ADE4-AC79-5873-F3A2-C7EB5293BD2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AC2775-5606-CE6F-BD44-B5715669B01C}"/>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25596205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C817-0597-66BA-5EF4-29FC2AE2DC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D760A0-8B0A-2C1C-6375-95EE8679CA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EA8734-F2AA-A65F-1E69-696B6B3686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8E704D-AD0B-C555-E11D-616500F03BFB}"/>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6" name="Footer Placeholder 5">
            <a:extLst>
              <a:ext uri="{FF2B5EF4-FFF2-40B4-BE49-F238E27FC236}">
                <a16:creationId xmlns:a16="http://schemas.microsoft.com/office/drawing/2014/main" id="{B4A74A5B-8EC9-ED82-4012-708F7AF36E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6F5F41B-99F1-378B-BB18-5834D0857DA2}"/>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6618768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C358-8899-320A-7E8C-6A548EE91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8BCADF-4725-0ECD-4271-B0E7564F8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84299C-B368-61B3-85FA-F42E7128A1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998712-06D3-62AF-C7B2-72673F0A9D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21340F-507F-F490-E6BF-73D2E2E273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AFDEEA-743D-603A-8BBC-DF625B348090}"/>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8" name="Footer Placeholder 7">
            <a:extLst>
              <a:ext uri="{FF2B5EF4-FFF2-40B4-BE49-F238E27FC236}">
                <a16:creationId xmlns:a16="http://schemas.microsoft.com/office/drawing/2014/main" id="{21DE2ABA-86CB-FCC2-8501-7267D5CE961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2173A48-2641-3706-C24F-24C1EC770850}"/>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314240194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17777-989E-2C12-007C-A3FC3F1C9F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1E97C4-EED8-11E4-C339-642ABDD06CF4}"/>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4" name="Footer Placeholder 3">
            <a:extLst>
              <a:ext uri="{FF2B5EF4-FFF2-40B4-BE49-F238E27FC236}">
                <a16:creationId xmlns:a16="http://schemas.microsoft.com/office/drawing/2014/main" id="{8FF889FB-78D3-A66A-7A46-023C7451DD1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0BCE526-169C-B588-09A6-1A4ABFE50F1C}"/>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129408115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BBB66F-2CC8-1B5B-281B-B2AAA4670D6E}"/>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3" name="Footer Placeholder 2">
            <a:extLst>
              <a:ext uri="{FF2B5EF4-FFF2-40B4-BE49-F238E27FC236}">
                <a16:creationId xmlns:a16="http://schemas.microsoft.com/office/drawing/2014/main" id="{943E9E47-B909-4EBA-6469-049D38CD901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8964583-6262-EB2C-E8FF-A71E958B51AB}"/>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24744590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D83C9-13E5-E890-9749-4506C3ED8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C4C2F0-A66C-88DE-90D9-A43E8E2685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520674-653F-4A4D-8579-93E27CD030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FA6ECD-13AE-4BE0-EDCE-27033F7F833A}"/>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6" name="Footer Placeholder 5">
            <a:extLst>
              <a:ext uri="{FF2B5EF4-FFF2-40B4-BE49-F238E27FC236}">
                <a16:creationId xmlns:a16="http://schemas.microsoft.com/office/drawing/2014/main" id="{0AE0678C-94E6-4C25-A27E-826CDD68118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0B38C9-25B2-6073-5F1D-73843BB52F6A}"/>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25406860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0F91-E9FF-D127-0DA2-EA7F5C9077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DA1F95-0B5B-E8F0-6D45-0A66E3D02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9F3EDCF-4613-B35D-2ED5-3C8B72B8B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235AE-3B51-AC1F-D52D-995B0CFA2395}"/>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6" name="Footer Placeholder 5">
            <a:extLst>
              <a:ext uri="{FF2B5EF4-FFF2-40B4-BE49-F238E27FC236}">
                <a16:creationId xmlns:a16="http://schemas.microsoft.com/office/drawing/2014/main" id="{0A6CC104-BC30-E2C7-6F41-2FC614CF59B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1A1D118-6B19-7872-BA79-71E765264751}"/>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24406476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3565-C49B-9D3A-D123-D4F093B931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D6A7A0-7B89-581B-0971-0A67245CC8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0631C-0A33-8932-EDA5-FEEF28C2C3B5}"/>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D81F0AEF-C783-94E2-4BE3-D29522B111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7D03AC-44CF-2C55-776F-9E3A02D6DCD7}"/>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118738350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265BF1-4DB9-2D6A-9C19-3BD05ED8B6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0E8B21-6CD6-7CA7-230D-A0E4471F82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3819D-3597-6AFD-D436-6E42C9ED4D82}"/>
              </a:ext>
            </a:extLst>
          </p:cNvPr>
          <p:cNvSpPr>
            <a:spLocks noGrp="1"/>
          </p:cNvSpPr>
          <p:nvPr>
            <p:ph type="dt" sz="half" idx="10"/>
          </p:nvPr>
        </p:nvSpPr>
        <p:spPr/>
        <p:txBody>
          <a:body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AAC52AD4-7D3E-1BB2-854E-159DDB20D8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7D505F-0DDD-EC4A-073E-5160D041E647}"/>
              </a:ext>
            </a:extLst>
          </p:cNvPr>
          <p:cNvSpPr>
            <a:spLocks noGrp="1"/>
          </p:cNvSpPr>
          <p:nvPr>
            <p:ph type="sldNum" sz="quarter" idx="12"/>
          </p:nvPr>
        </p:nvSpPr>
        <p:spPr/>
        <p:txBody>
          <a:bodyPr/>
          <a:lstStyle/>
          <a:p>
            <a:fld id="{ED504BB8-D86B-514B-A483-C0498A584AC6}" type="slidenum">
              <a:rPr lang="en-US" smtClean="0"/>
              <a:t>‹#›</a:t>
            </a:fld>
            <a:endParaRPr lang="en-US" dirty="0"/>
          </a:p>
        </p:txBody>
      </p:sp>
    </p:spTree>
    <p:extLst>
      <p:ext uri="{BB962C8B-B14F-4D97-AF65-F5344CB8AC3E}">
        <p14:creationId xmlns:p14="http://schemas.microsoft.com/office/powerpoint/2010/main" val="195187718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2C244-BF61-B08D-11F1-5C75AF761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2A124-AB4E-14DD-3ADD-7341A6E37F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2A7F5E-BA5E-B80C-3D39-CEBE0EFFF3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B68F68-D3A6-7F43-9FE1-37BB1EA23682}" type="datetimeFigureOut">
              <a:rPr lang="en-US" smtClean="0"/>
              <a:t>3/10/26</a:t>
            </a:fld>
            <a:endParaRPr lang="en-US" dirty="0"/>
          </a:p>
        </p:txBody>
      </p:sp>
      <p:sp>
        <p:nvSpPr>
          <p:cNvPr id="5" name="Footer Placeholder 4">
            <a:extLst>
              <a:ext uri="{FF2B5EF4-FFF2-40B4-BE49-F238E27FC236}">
                <a16:creationId xmlns:a16="http://schemas.microsoft.com/office/drawing/2014/main" id="{71BD41D5-749D-4896-F740-22D6349095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99B6EEA-D9D0-CDF5-D1FB-A2196F114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504BB8-D86B-514B-A483-C0498A584AC6}" type="slidenum">
              <a:rPr lang="en-US" smtClean="0"/>
              <a:t>‹#›</a:t>
            </a:fld>
            <a:endParaRPr lang="en-US" dirty="0"/>
          </a:p>
        </p:txBody>
      </p:sp>
    </p:spTree>
    <p:extLst>
      <p:ext uri="{BB962C8B-B14F-4D97-AF65-F5344CB8AC3E}">
        <p14:creationId xmlns:p14="http://schemas.microsoft.com/office/powerpoint/2010/main" val="2857205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microsoft.com/office/2018/10/relationships/comments" Target="../comments/modernComment_102_172303C9.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microsoft.com/office/2018/10/relationships/comments" Target="../comments/modernComment_10C_D2CF5ED.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14F_A5ED6B0.xml"/><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9.gif"/></Relationships>
</file>

<file path=ppt/slides/_rels/slide3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33.emf"/><Relationship Id="rId4" Type="http://schemas.openxmlformats.org/officeDocument/2006/relationships/image" Target="../media/image32.emf"/></Relationships>
</file>

<file path=ppt/slides/_rels/slide6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55.xml"/><Relationship Id="rId1" Type="http://schemas.openxmlformats.org/officeDocument/2006/relationships/slideLayout" Target="../slideLayouts/slideLayout6.xml"/><Relationship Id="rId5" Type="http://schemas.openxmlformats.org/officeDocument/2006/relationships/image" Target="../media/image37.jpeg"/><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6.xml"/><Relationship Id="rId1" Type="http://schemas.openxmlformats.org/officeDocument/2006/relationships/slideLayout" Target="../slideLayouts/slideLayout6.xml"/><Relationship Id="rId5" Type="http://schemas.openxmlformats.org/officeDocument/2006/relationships/image" Target="../media/image37.jpeg"/><Relationship Id="rId4" Type="http://schemas.openxmlformats.org/officeDocument/2006/relationships/image" Target="../media/image36.png"/></Relationships>
</file>

<file path=ppt/slides/_rels/slide7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3192-242E-CBE2-ACC5-B019EA6088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10A780-B346-A6B0-88F7-A3869B6AA5B1}"/>
              </a:ext>
            </a:extLst>
          </p:cNvPr>
          <p:cNvSpPr txBox="1"/>
          <p:nvPr/>
        </p:nvSpPr>
        <p:spPr>
          <a:xfrm>
            <a:off x="1241742" y="1017381"/>
            <a:ext cx="9708516" cy="1600438"/>
          </a:xfrm>
          <a:prstGeom prst="rect">
            <a:avLst/>
          </a:prstGeom>
          <a:noFill/>
        </p:spPr>
        <p:txBody>
          <a:bodyPr wrap="square" rtlCol="0">
            <a:spAutoFit/>
          </a:bodyPr>
          <a:lstStyle/>
          <a:p>
            <a:pPr algn="ctr"/>
            <a:r>
              <a:rPr lang="en-US" sz="4000" dirty="0">
                <a:latin typeface="Segoe Print" panose="02000800000000000000" pitchFamily="2" charset="0"/>
                <a:ea typeface="Verdana" panose="020B0604030504040204" pitchFamily="34" charset="0"/>
                <a:cs typeface="Dreaming Outloud Pro" panose="020F0502020204030204" pitchFamily="34" charset="0"/>
              </a:rPr>
              <a:t>Welcome to the Maintenance Game</a:t>
            </a:r>
          </a:p>
          <a:p>
            <a:pPr marL="457200" indent="-457200">
              <a:buFont typeface="Arial" panose="020B0604020202020204" pitchFamily="34" charset="0"/>
              <a:buChar char="•"/>
            </a:pPr>
            <a:endParaRPr lang="en-US" sz="3000" dirty="0"/>
          </a:p>
          <a:p>
            <a:endParaRPr lang="en-US" sz="2800" dirty="0">
              <a:latin typeface="Segoe Print" panose="02000800000000000000" pitchFamily="2" charset="0"/>
            </a:endParaRPr>
          </a:p>
        </p:txBody>
      </p:sp>
      <p:sp>
        <p:nvSpPr>
          <p:cNvPr id="2" name="Rounded Rectangle 1">
            <a:extLst>
              <a:ext uri="{FF2B5EF4-FFF2-40B4-BE49-F238E27FC236}">
                <a16:creationId xmlns:a16="http://schemas.microsoft.com/office/drawing/2014/main" id="{2573997C-F154-5A44-462E-B2F7B1A5EC8A}"/>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5230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5D57F-334D-90C7-09D1-5D329B25AB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200BBD-B8D0-947B-8E5D-F930CD3DE7B9}"/>
              </a:ext>
            </a:extLst>
          </p:cNvPr>
          <p:cNvSpPr txBox="1"/>
          <p:nvPr/>
        </p:nvSpPr>
        <p:spPr>
          <a:xfrm>
            <a:off x="1241742" y="1017381"/>
            <a:ext cx="9708516" cy="2462213"/>
          </a:xfrm>
          <a:prstGeom prst="rect">
            <a:avLst/>
          </a:prstGeom>
          <a:noFill/>
        </p:spPr>
        <p:txBody>
          <a:bodyPr wrap="square" rtlCol="0">
            <a:spAutoFit/>
          </a:bodyPr>
          <a:lstStyle/>
          <a:p>
            <a:pPr algn="ctr"/>
            <a:r>
              <a:rPr lang="en-US" sz="4000" dirty="0">
                <a:latin typeface="Segoe Print" panose="02000800000000000000" pitchFamily="2" charset="0"/>
                <a:ea typeface="Verdana" panose="020B0604030504040204" pitchFamily="34" charset="0"/>
                <a:cs typeface="Dreaming Outloud Pro" panose="020F0502020204030204" pitchFamily="34" charset="0"/>
              </a:rPr>
              <a:t>Welcome to the Maintenance Game</a:t>
            </a:r>
          </a:p>
          <a:p>
            <a:pPr marL="457200" indent="-457200">
              <a:buFont typeface="Arial" panose="020B0604020202020204" pitchFamily="34" charset="0"/>
              <a:buChar char="•"/>
            </a:pPr>
            <a:endParaRPr lang="en-US" sz="3000" dirty="0"/>
          </a:p>
          <a:p>
            <a:r>
              <a:rPr lang="en-US" sz="2800" dirty="0">
                <a:latin typeface="Segoe Print" panose="02000800000000000000" pitchFamily="2" charset="0"/>
              </a:rPr>
              <a:t>Now that you’re logged in, please give this game </a:t>
            </a:r>
            <a:r>
              <a:rPr lang="en-US" sz="2800" b="1" u="sng" dirty="0">
                <a:latin typeface="Segoe Print" panose="02000800000000000000" pitchFamily="2" charset="0"/>
              </a:rPr>
              <a:t>your full attention</a:t>
            </a:r>
            <a:r>
              <a:rPr lang="en-US" sz="2800" b="1" dirty="0">
                <a:latin typeface="Segoe Print" panose="02000800000000000000" pitchFamily="2" charset="0"/>
              </a:rPr>
              <a:t>.</a:t>
            </a:r>
          </a:p>
          <a:p>
            <a:endParaRPr lang="en-US" sz="2800" dirty="0">
              <a:latin typeface="Segoe Print" panose="02000800000000000000" pitchFamily="2" charset="0"/>
            </a:endParaRPr>
          </a:p>
        </p:txBody>
      </p:sp>
      <p:sp>
        <p:nvSpPr>
          <p:cNvPr id="2" name="Rounded Rectangle 1">
            <a:extLst>
              <a:ext uri="{FF2B5EF4-FFF2-40B4-BE49-F238E27FC236}">
                <a16:creationId xmlns:a16="http://schemas.microsoft.com/office/drawing/2014/main" id="{47F7E4CA-AD75-0631-69D4-EA9B471922C5}"/>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395443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9C197-212E-2869-2EE4-68A5AF4D34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295D5A-A05C-C13C-EABE-3AC5785EB0D5}"/>
              </a:ext>
            </a:extLst>
          </p:cNvPr>
          <p:cNvSpPr txBox="1"/>
          <p:nvPr/>
        </p:nvSpPr>
        <p:spPr>
          <a:xfrm>
            <a:off x="1241742" y="1017381"/>
            <a:ext cx="9708516" cy="5047536"/>
          </a:xfrm>
          <a:prstGeom prst="rect">
            <a:avLst/>
          </a:prstGeom>
          <a:noFill/>
        </p:spPr>
        <p:txBody>
          <a:bodyPr wrap="square" rtlCol="0">
            <a:spAutoFit/>
          </a:bodyPr>
          <a:lstStyle/>
          <a:p>
            <a:pPr algn="ctr"/>
            <a:r>
              <a:rPr lang="en-US" sz="4000" dirty="0">
                <a:latin typeface="Segoe Print" panose="02000800000000000000" pitchFamily="2" charset="0"/>
                <a:ea typeface="Verdana" panose="020B0604030504040204" pitchFamily="34" charset="0"/>
                <a:cs typeface="Dreaming Outloud Pro" panose="020F0502020204030204" pitchFamily="34" charset="0"/>
              </a:rPr>
              <a:t>Welcome to the Maintenance Game</a:t>
            </a:r>
          </a:p>
          <a:p>
            <a:pPr marL="457200" indent="-457200">
              <a:buFont typeface="Arial" panose="020B0604020202020204" pitchFamily="34" charset="0"/>
              <a:buChar char="•"/>
            </a:pPr>
            <a:endParaRPr lang="en-US" sz="3000" dirty="0"/>
          </a:p>
          <a:p>
            <a:r>
              <a:rPr lang="en-US" sz="2800" dirty="0">
                <a:latin typeface="Segoe Print" panose="02000800000000000000" pitchFamily="2" charset="0"/>
              </a:rPr>
              <a:t>Now that you’re logged in, please give this game </a:t>
            </a:r>
            <a:r>
              <a:rPr lang="en-US" sz="2800" b="1" u="sng" dirty="0">
                <a:latin typeface="Segoe Print" panose="02000800000000000000" pitchFamily="2" charset="0"/>
              </a:rPr>
              <a:t>your full attention</a:t>
            </a:r>
            <a:r>
              <a:rPr lang="en-US" sz="2800" b="1" dirty="0">
                <a:latin typeface="Segoe Print" panose="02000800000000000000" pitchFamily="2" charset="0"/>
              </a:rPr>
              <a:t>.</a:t>
            </a:r>
          </a:p>
          <a:p>
            <a:endParaRPr lang="en-US" sz="2800" dirty="0">
              <a:latin typeface="Segoe Print" panose="02000800000000000000" pitchFamily="2" charset="0"/>
            </a:endParaRPr>
          </a:p>
          <a:p>
            <a:r>
              <a:rPr lang="en-US" sz="2800" dirty="0">
                <a:latin typeface="Segoe Print" panose="02000800000000000000" pitchFamily="2" charset="0"/>
              </a:rPr>
              <a:t>To make sure your data is recorded correctly, </a:t>
            </a:r>
            <a:r>
              <a:rPr lang="en-US" sz="2800" b="1" u="sng" dirty="0">
                <a:latin typeface="Segoe Print" panose="02000800000000000000" pitchFamily="2" charset="0"/>
              </a:rPr>
              <a:t>do not switch tabs or leave this window while playing</a:t>
            </a:r>
            <a:r>
              <a:rPr lang="en-US" sz="2800" u="sng" dirty="0">
                <a:latin typeface="Segoe Print" panose="02000800000000000000" pitchFamily="2" charset="0"/>
              </a:rPr>
              <a:t>. </a:t>
            </a:r>
            <a:r>
              <a:rPr lang="en-US" sz="2800" dirty="0">
                <a:latin typeface="Segoe Print" panose="02000800000000000000" pitchFamily="2" charset="0"/>
              </a:rPr>
              <a:t>Doing so may stop the game early or make your results unusable. Please also check that your </a:t>
            </a:r>
            <a:r>
              <a:rPr lang="en-US" sz="2800" b="1" u="sng" dirty="0">
                <a:latin typeface="Segoe Print" panose="02000800000000000000" pitchFamily="2" charset="0"/>
              </a:rPr>
              <a:t>volume is turned on</a:t>
            </a:r>
            <a:r>
              <a:rPr lang="en-US" sz="2800" dirty="0">
                <a:latin typeface="Segoe Print" panose="02000800000000000000" pitchFamily="2" charset="0"/>
              </a:rPr>
              <a:t>.</a:t>
            </a:r>
          </a:p>
          <a:p>
            <a:endParaRPr lang="en-US" sz="2800" dirty="0">
              <a:latin typeface="Segoe Print" panose="02000800000000000000" pitchFamily="2" charset="0"/>
            </a:endParaRPr>
          </a:p>
        </p:txBody>
      </p:sp>
      <p:sp>
        <p:nvSpPr>
          <p:cNvPr id="2" name="Rounded Rectangle 1">
            <a:extLst>
              <a:ext uri="{FF2B5EF4-FFF2-40B4-BE49-F238E27FC236}">
                <a16:creationId xmlns:a16="http://schemas.microsoft.com/office/drawing/2014/main" id="{16E988E7-4E90-D5E6-9232-64FA2E63E2A6}"/>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61836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3DFD-C486-635C-D14D-27F8C3B1B9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D3328C-C8D2-6A40-EAA8-A771AFD4FBF4}"/>
              </a:ext>
            </a:extLst>
          </p:cNvPr>
          <p:cNvSpPr txBox="1"/>
          <p:nvPr/>
        </p:nvSpPr>
        <p:spPr>
          <a:xfrm>
            <a:off x="1241742" y="1017381"/>
            <a:ext cx="9708516" cy="5478423"/>
          </a:xfrm>
          <a:prstGeom prst="rect">
            <a:avLst/>
          </a:prstGeom>
          <a:noFill/>
        </p:spPr>
        <p:txBody>
          <a:bodyPr wrap="square" rtlCol="0">
            <a:spAutoFit/>
          </a:bodyPr>
          <a:lstStyle/>
          <a:p>
            <a:pPr algn="ctr"/>
            <a:r>
              <a:rPr lang="en-US" sz="4000" dirty="0">
                <a:latin typeface="Segoe Print" panose="02000800000000000000" pitchFamily="2" charset="0"/>
                <a:ea typeface="Verdana" panose="020B0604030504040204" pitchFamily="34" charset="0"/>
                <a:cs typeface="Dreaming Outloud Pro" panose="020F0502020204030204" pitchFamily="34" charset="0"/>
              </a:rPr>
              <a:t>Welcome to the Maintenance Game</a:t>
            </a:r>
          </a:p>
          <a:p>
            <a:pPr marL="457200" indent="-457200">
              <a:buFont typeface="Arial" panose="020B0604020202020204" pitchFamily="34" charset="0"/>
              <a:buChar char="•"/>
            </a:pPr>
            <a:endParaRPr lang="en-US" sz="3000" dirty="0"/>
          </a:p>
          <a:p>
            <a:r>
              <a:rPr lang="en-US" sz="2800" dirty="0">
                <a:latin typeface="Segoe Print" panose="02000800000000000000" pitchFamily="2" charset="0"/>
              </a:rPr>
              <a:t>Now that you’re logged in, please give this game </a:t>
            </a:r>
            <a:r>
              <a:rPr lang="en-US" sz="2800" b="1" u="sng" dirty="0">
                <a:latin typeface="Segoe Print" panose="02000800000000000000" pitchFamily="2" charset="0"/>
              </a:rPr>
              <a:t>your full attention</a:t>
            </a:r>
            <a:r>
              <a:rPr lang="en-US" sz="2800" b="1" dirty="0">
                <a:latin typeface="Segoe Print" panose="02000800000000000000" pitchFamily="2" charset="0"/>
              </a:rPr>
              <a:t>.</a:t>
            </a:r>
          </a:p>
          <a:p>
            <a:endParaRPr lang="en-US" sz="2800" dirty="0">
              <a:latin typeface="Segoe Print" panose="02000800000000000000" pitchFamily="2" charset="0"/>
            </a:endParaRPr>
          </a:p>
          <a:p>
            <a:r>
              <a:rPr lang="en-US" sz="2800" dirty="0">
                <a:latin typeface="Segoe Print" panose="02000800000000000000" pitchFamily="2" charset="0"/>
              </a:rPr>
              <a:t>To make sure your data is recorded correctly, </a:t>
            </a:r>
            <a:r>
              <a:rPr lang="en-US" sz="2800" b="1" u="sng" dirty="0">
                <a:latin typeface="Segoe Print" panose="02000800000000000000" pitchFamily="2" charset="0"/>
              </a:rPr>
              <a:t>do not switch tabs or leave this window while playing</a:t>
            </a:r>
            <a:r>
              <a:rPr lang="en-US" sz="2800" u="sng" dirty="0">
                <a:latin typeface="Segoe Print" panose="02000800000000000000" pitchFamily="2" charset="0"/>
              </a:rPr>
              <a:t>. </a:t>
            </a:r>
            <a:r>
              <a:rPr lang="en-US" sz="2800" dirty="0">
                <a:latin typeface="Segoe Print" panose="02000800000000000000" pitchFamily="2" charset="0"/>
              </a:rPr>
              <a:t>Doing so may stop the game early or make your results unusable. Please also check that your </a:t>
            </a:r>
            <a:r>
              <a:rPr lang="en-US" sz="2800" b="1" u="sng" dirty="0">
                <a:latin typeface="Segoe Print" panose="02000800000000000000" pitchFamily="2" charset="0"/>
              </a:rPr>
              <a:t>volume is turned on</a:t>
            </a:r>
            <a:r>
              <a:rPr lang="en-US" sz="2800" dirty="0">
                <a:latin typeface="Segoe Print" panose="02000800000000000000" pitchFamily="2" charset="0"/>
              </a:rPr>
              <a:t>.</a:t>
            </a:r>
          </a:p>
          <a:p>
            <a:endParaRPr lang="en-US" sz="2800" dirty="0">
              <a:latin typeface="Segoe Print" panose="02000800000000000000" pitchFamily="2" charset="0"/>
            </a:endParaRPr>
          </a:p>
          <a:p>
            <a:r>
              <a:rPr lang="en-US" sz="2800" dirty="0">
                <a:latin typeface="Segoe Print" panose="02000800000000000000" pitchFamily="2" charset="0"/>
              </a:rPr>
              <a:t>Take a breath, get comfortable—and let’s begin </a:t>
            </a:r>
            <a:r>
              <a:rPr lang="en-US" sz="2800" dirty="0">
                <a:latin typeface=""/>
              </a:rPr>
              <a:t>🙂</a:t>
            </a:r>
          </a:p>
        </p:txBody>
      </p:sp>
      <p:sp>
        <p:nvSpPr>
          <p:cNvPr id="2" name="Rounded Rectangle 1">
            <a:extLst>
              <a:ext uri="{FF2B5EF4-FFF2-40B4-BE49-F238E27FC236}">
                <a16:creationId xmlns:a16="http://schemas.microsoft.com/office/drawing/2014/main" id="{C4AE0ABA-88AF-7033-2D5E-C98A375EB72C}"/>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356688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A3B4-759D-8D3A-7B5A-5693A3384B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CFF18D5-BF89-1790-9C0D-64FBB11419E9}"/>
              </a:ext>
            </a:extLst>
          </p:cNvPr>
          <p:cNvSpPr txBox="1"/>
          <p:nvPr/>
        </p:nvSpPr>
        <p:spPr>
          <a:xfrm>
            <a:off x="1241742" y="2521058"/>
            <a:ext cx="9708516" cy="1815882"/>
          </a:xfrm>
          <a:prstGeom prst="rect">
            <a:avLst/>
          </a:prstGeom>
          <a:noFill/>
        </p:spPr>
        <p:txBody>
          <a:bodyPr wrap="square" rtlCol="0">
            <a:spAutoFit/>
          </a:bodyPr>
          <a:lstStyle/>
          <a:p>
            <a:r>
              <a:rPr lang="en-US" sz="2800" b="1" dirty="0">
                <a:latin typeface="Segoe Print" panose="02000800000000000000" pitchFamily="2" charset="0"/>
              </a:rPr>
              <a:t>Please take a moment to read the instructions carefully.</a:t>
            </a:r>
            <a:r>
              <a:rPr lang="en-US" sz="2800" dirty="0">
                <a:latin typeface="Segoe Print" panose="02000800000000000000" pitchFamily="2" charset="0"/>
              </a:rPr>
              <a:t> Each slide will remain on screen for at least </a:t>
            </a:r>
            <a:r>
              <a:rPr lang="en-US" sz="2800" b="1" dirty="0">
                <a:latin typeface="Segoe Print" panose="02000800000000000000" pitchFamily="2" charset="0"/>
              </a:rPr>
              <a:t>two seconds</a:t>
            </a:r>
            <a:r>
              <a:rPr lang="en-US" sz="2800" dirty="0">
                <a:latin typeface="Segoe Print" panose="02000800000000000000" pitchFamily="2" charset="0"/>
              </a:rPr>
              <a:t> before you can continue to the next one.</a:t>
            </a:r>
          </a:p>
        </p:txBody>
      </p:sp>
      <p:sp>
        <p:nvSpPr>
          <p:cNvPr id="2" name="Rounded Rectangle 1">
            <a:extLst>
              <a:ext uri="{FF2B5EF4-FFF2-40B4-BE49-F238E27FC236}">
                <a16:creationId xmlns:a16="http://schemas.microsoft.com/office/drawing/2014/main" id="{7E922E02-6FA1-2013-9FF1-8B73BC463F47}"/>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84058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9668-0B69-7515-E431-1FEED6CC30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825B5A-320C-80CE-FEBA-4336443F0952}"/>
              </a:ext>
            </a:extLst>
          </p:cNvPr>
          <p:cNvSpPr txBox="1"/>
          <p:nvPr/>
        </p:nvSpPr>
        <p:spPr>
          <a:xfrm>
            <a:off x="834631" y="1690061"/>
            <a:ext cx="10522737" cy="2923877"/>
          </a:xfrm>
          <a:prstGeom prst="rect">
            <a:avLst/>
          </a:prstGeom>
          <a:noFill/>
        </p:spPr>
        <p:txBody>
          <a:bodyPr wrap="square" rtlCol="0">
            <a:spAutoFit/>
          </a:bodyPr>
          <a:lstStyle/>
          <a:p>
            <a:endParaRPr lang="en-US" sz="3600" b="1" dirty="0">
              <a:latin typeface="Segoe Print" panose="02000800000000000000" pitchFamily="2" charset="0"/>
            </a:endParaRPr>
          </a:p>
          <a:p>
            <a:r>
              <a:rPr lang="en-US" sz="2800" dirty="0">
                <a:latin typeface="Segoe Print" panose="02000800000000000000" pitchFamily="2" charset="0"/>
              </a:rPr>
              <a:t>After each section, there will be a short comprehension check. You will be given </a:t>
            </a:r>
            <a:r>
              <a:rPr lang="en-US" sz="2800" b="1" u="sng" dirty="0">
                <a:latin typeface="Segoe Print" panose="02000800000000000000" pitchFamily="2" charset="0"/>
              </a:rPr>
              <a:t>two</a:t>
            </a:r>
            <a:r>
              <a:rPr lang="en-US" sz="2800" dirty="0">
                <a:latin typeface="Segoe Print" panose="02000800000000000000" pitchFamily="2" charset="0"/>
              </a:rPr>
              <a:t> chances to accurately respond to the questions in this check, and failure to do so will cause the game to end early. </a:t>
            </a:r>
          </a:p>
          <a:p>
            <a:endParaRPr lang="en-US" sz="3600" dirty="0">
              <a:latin typeface="Segoe Print" panose="02000800000000000000" pitchFamily="2" charset="0"/>
            </a:endParaRPr>
          </a:p>
        </p:txBody>
      </p:sp>
      <p:sp>
        <p:nvSpPr>
          <p:cNvPr id="2" name="Rounded Rectangle 1">
            <a:extLst>
              <a:ext uri="{FF2B5EF4-FFF2-40B4-BE49-F238E27FC236}">
                <a16:creationId xmlns:a16="http://schemas.microsoft.com/office/drawing/2014/main" id="{207AC380-75FE-09C5-7214-3F9C88DD468E}"/>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68682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71120-53DE-41DC-04FC-703F7A6E79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6F8BEE-5C8B-9865-CF8E-D4F92D6D3A43}"/>
              </a:ext>
            </a:extLst>
          </p:cNvPr>
          <p:cNvSpPr txBox="1"/>
          <p:nvPr/>
        </p:nvSpPr>
        <p:spPr>
          <a:xfrm>
            <a:off x="834631" y="3105833"/>
            <a:ext cx="10522737" cy="646331"/>
          </a:xfrm>
          <a:prstGeom prst="rect">
            <a:avLst/>
          </a:prstGeom>
          <a:noFill/>
        </p:spPr>
        <p:txBody>
          <a:bodyPr wrap="square" rtlCol="0">
            <a:spAutoFit/>
          </a:bodyPr>
          <a:lstStyle/>
          <a:p>
            <a:pPr algn="r"/>
            <a:r>
              <a:rPr lang="en-US" sz="3600" dirty="0">
                <a:latin typeface="Segoe Print" panose="02000800000000000000" pitchFamily="2" charset="0"/>
              </a:rPr>
              <a:t>Thank you for playing, and let’s get started!</a:t>
            </a:r>
          </a:p>
        </p:txBody>
      </p:sp>
      <p:sp>
        <p:nvSpPr>
          <p:cNvPr id="2" name="Rounded Rectangle 1">
            <a:extLst>
              <a:ext uri="{FF2B5EF4-FFF2-40B4-BE49-F238E27FC236}">
                <a16:creationId xmlns:a16="http://schemas.microsoft.com/office/drawing/2014/main" id="{948430DB-0B05-DBA3-C1A4-9967C18FBB40}"/>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9429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7415-78C5-2F0F-1F83-545172AA74CF}"/>
              </a:ext>
            </a:extLst>
          </p:cNvPr>
          <p:cNvSpPr>
            <a:spLocks noGrp="1"/>
          </p:cNvSpPr>
          <p:nvPr>
            <p:ph type="title"/>
          </p:nvPr>
        </p:nvSpPr>
        <p:spPr/>
        <p:txBody>
          <a:bodyPr>
            <a:normAutofit/>
          </a:bodyPr>
          <a:lstStyle/>
          <a:p>
            <a:pPr algn="ctr"/>
            <a:r>
              <a:rPr lang="en-US" sz="4000" dirty="0">
                <a:latin typeface="Segoe Print" panose="02000800000000000000" pitchFamily="2" charset="0"/>
              </a:rPr>
              <a:t>This is BleeBlop. </a:t>
            </a:r>
            <a:br>
              <a:rPr lang="en-US" sz="4000" dirty="0">
                <a:latin typeface="Segoe Print" panose="02000800000000000000" pitchFamily="2" charset="0"/>
              </a:rPr>
            </a:br>
            <a:r>
              <a:rPr lang="en-US" sz="4000" dirty="0">
                <a:latin typeface="Segoe Print" panose="02000800000000000000" pitchFamily="2" charset="0"/>
              </a:rPr>
              <a:t>BleeBlop is a Robot.</a:t>
            </a:r>
          </a:p>
        </p:txBody>
      </p:sp>
      <p:pic>
        <p:nvPicPr>
          <p:cNvPr id="8" name="Picture 7" descr="A black and white cartoon of a robot&#10;&#10;AI-generated content may be incorrect.">
            <a:extLst>
              <a:ext uri="{FF2B5EF4-FFF2-40B4-BE49-F238E27FC236}">
                <a16:creationId xmlns:a16="http://schemas.microsoft.com/office/drawing/2014/main" id="{2720006A-1A92-2337-460C-EA4C135E8ACF}"/>
              </a:ext>
            </a:extLst>
          </p:cNvPr>
          <p:cNvPicPr>
            <a:picLocks noChangeAspect="1"/>
          </p:cNvPicPr>
          <p:nvPr/>
        </p:nvPicPr>
        <p:blipFill>
          <a:blip r:embed="rId3"/>
          <a:srcRect l="2725" t="9317" r="2395" b="4079"/>
          <a:stretch>
            <a:fillRect/>
          </a:stretch>
        </p:blipFill>
        <p:spPr>
          <a:xfrm>
            <a:off x="4204252" y="2377441"/>
            <a:ext cx="3796748" cy="3465576"/>
          </a:xfrm>
          <a:prstGeom prst="rect">
            <a:avLst/>
          </a:prstGeom>
        </p:spPr>
      </p:pic>
    </p:spTree>
    <p:extLst>
      <p:ext uri="{BB962C8B-B14F-4D97-AF65-F5344CB8AC3E}">
        <p14:creationId xmlns:p14="http://schemas.microsoft.com/office/powerpoint/2010/main" val="3881706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B2F9F-511C-2CAC-21F4-07C54A8F671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719D78-2811-7007-DA6C-4CFE7B0E5B16}"/>
              </a:ext>
            </a:extLst>
          </p:cNvPr>
          <p:cNvSpPr txBox="1">
            <a:spLocks/>
          </p:cNvSpPr>
          <p:nvPr/>
        </p:nvSpPr>
        <p:spPr>
          <a:xfrm>
            <a:off x="838199" y="77458"/>
            <a:ext cx="10515600"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Bleeblop’s Goal is to Reach Robonia in time for the yearly Roboday celebration,</a:t>
            </a:r>
          </a:p>
        </p:txBody>
      </p:sp>
      <p:pic>
        <p:nvPicPr>
          <p:cNvPr id="10" name="Picture 9">
            <a:extLst>
              <a:ext uri="{FF2B5EF4-FFF2-40B4-BE49-F238E27FC236}">
                <a16:creationId xmlns:a16="http://schemas.microsoft.com/office/drawing/2014/main" id="{AC5FED5C-EA63-803E-1108-3FCF5ABF97B8}"/>
              </a:ext>
            </a:extLst>
          </p:cNvPr>
          <p:cNvPicPr>
            <a:picLocks noChangeAspect="1"/>
          </p:cNvPicPr>
          <p:nvPr/>
        </p:nvPicPr>
        <p:blipFill>
          <a:blip r:embed="rId3"/>
          <a:stretch>
            <a:fillRect/>
          </a:stretch>
        </p:blipFill>
        <p:spPr>
          <a:xfrm>
            <a:off x="1346888" y="1325229"/>
            <a:ext cx="9557404" cy="5285636"/>
          </a:xfrm>
          <a:prstGeom prst="rect">
            <a:avLst/>
          </a:prstGeom>
        </p:spPr>
      </p:pic>
    </p:spTree>
    <p:extLst>
      <p:ext uri="{BB962C8B-B14F-4D97-AF65-F5344CB8AC3E}">
        <p14:creationId xmlns:p14="http://schemas.microsoft.com/office/powerpoint/2010/main" val="31937224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20472-0289-90B0-4AC5-FA70B5566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12697-47BF-B617-8A7E-A6CBD54FE8A8}"/>
              </a:ext>
            </a:extLst>
          </p:cNvPr>
          <p:cNvSpPr>
            <a:spLocks noGrp="1"/>
          </p:cNvSpPr>
          <p:nvPr>
            <p:ph type="title"/>
          </p:nvPr>
        </p:nvSpPr>
        <p:spPr>
          <a:xfrm>
            <a:off x="838200" y="187438"/>
            <a:ext cx="10515600" cy="1325563"/>
          </a:xfrm>
        </p:spPr>
        <p:txBody>
          <a:bodyPr/>
          <a:lstStyle/>
          <a:p>
            <a:pPr algn="ctr"/>
            <a:r>
              <a:rPr lang="en-US" sz="4000" dirty="0">
                <a:latin typeface="Segoe Print" panose="02000800000000000000" pitchFamily="2" charset="0"/>
              </a:rPr>
              <a:t>But their journey there won’t be easy…</a:t>
            </a:r>
          </a:p>
        </p:txBody>
      </p:sp>
      <p:pic>
        <p:nvPicPr>
          <p:cNvPr id="5" name="Picture 4">
            <a:extLst>
              <a:ext uri="{FF2B5EF4-FFF2-40B4-BE49-F238E27FC236}">
                <a16:creationId xmlns:a16="http://schemas.microsoft.com/office/drawing/2014/main" id="{A3E66891-FFF0-EE61-0097-B7AF335B39CA}"/>
              </a:ext>
            </a:extLst>
          </p:cNvPr>
          <p:cNvPicPr>
            <a:picLocks noChangeAspect="1"/>
          </p:cNvPicPr>
          <p:nvPr/>
        </p:nvPicPr>
        <p:blipFill>
          <a:blip r:embed="rId3"/>
          <a:stretch>
            <a:fillRect/>
          </a:stretch>
        </p:blipFill>
        <p:spPr>
          <a:xfrm>
            <a:off x="3097484" y="1513001"/>
            <a:ext cx="5997031" cy="4669997"/>
          </a:xfrm>
          <a:prstGeom prst="rect">
            <a:avLst/>
          </a:prstGeom>
        </p:spPr>
      </p:pic>
    </p:spTree>
    <p:extLst>
      <p:ext uri="{BB962C8B-B14F-4D97-AF65-F5344CB8AC3E}">
        <p14:creationId xmlns:p14="http://schemas.microsoft.com/office/powerpoint/2010/main" val="13411607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FB67FD-99F4-CFEA-770B-AC665E94AE9B}"/>
              </a:ext>
            </a:extLst>
          </p:cNvPr>
          <p:cNvSpPr>
            <a:spLocks noGrp="1"/>
          </p:cNvSpPr>
          <p:nvPr>
            <p:ph type="title"/>
          </p:nvPr>
        </p:nvSpPr>
        <p:spPr>
          <a:xfrm>
            <a:off x="498612" y="375064"/>
            <a:ext cx="11194774" cy="1325563"/>
          </a:xfrm>
        </p:spPr>
        <p:txBody>
          <a:bodyPr>
            <a:normAutofit/>
          </a:bodyPr>
          <a:lstStyle/>
          <a:p>
            <a:pPr algn="ctr"/>
            <a:r>
              <a:rPr lang="en-US" sz="4000" dirty="0">
                <a:latin typeface="Segoe Print" panose="02000800000000000000" pitchFamily="2" charset="0"/>
              </a:rPr>
              <a:t>For Bleeblop to move most efficiently, their gloop needs to be at the ideal level.</a:t>
            </a:r>
          </a:p>
        </p:txBody>
      </p:sp>
      <p:pic>
        <p:nvPicPr>
          <p:cNvPr id="8" name="Picture 7">
            <a:extLst>
              <a:ext uri="{FF2B5EF4-FFF2-40B4-BE49-F238E27FC236}">
                <a16:creationId xmlns:a16="http://schemas.microsoft.com/office/drawing/2014/main" id="{01DCB64C-9B9E-1AA0-0F37-49AF736CD300}"/>
              </a:ext>
            </a:extLst>
          </p:cNvPr>
          <p:cNvPicPr>
            <a:picLocks noChangeAspect="1"/>
          </p:cNvPicPr>
          <p:nvPr/>
        </p:nvPicPr>
        <p:blipFill>
          <a:blip r:embed="rId3"/>
          <a:stretch>
            <a:fillRect/>
          </a:stretch>
        </p:blipFill>
        <p:spPr>
          <a:xfrm>
            <a:off x="3991016" y="2138081"/>
            <a:ext cx="4209963" cy="3980329"/>
          </a:xfrm>
          <a:prstGeom prst="rect">
            <a:avLst/>
          </a:prstGeom>
        </p:spPr>
      </p:pic>
    </p:spTree>
    <p:extLst>
      <p:ext uri="{BB962C8B-B14F-4D97-AF65-F5344CB8AC3E}">
        <p14:creationId xmlns:p14="http://schemas.microsoft.com/office/powerpoint/2010/main" val="148452650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36F8-2F47-F615-EF0D-C9F07D4BDF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C00467-CE1A-AF20-2E85-E487D26FC234}"/>
              </a:ext>
            </a:extLst>
          </p:cNvPr>
          <p:cNvSpPr>
            <a:spLocks noGrp="1"/>
          </p:cNvSpPr>
          <p:nvPr>
            <p:ph type="title"/>
          </p:nvPr>
        </p:nvSpPr>
        <p:spPr>
          <a:xfrm>
            <a:off x="719325" y="405992"/>
            <a:ext cx="10753344" cy="1325563"/>
          </a:xfrm>
        </p:spPr>
        <p:txBody>
          <a:bodyPr>
            <a:normAutofit/>
          </a:bodyPr>
          <a:lstStyle/>
          <a:p>
            <a:pPr algn="ctr"/>
            <a:r>
              <a:rPr lang="en-US" sz="4000" dirty="0">
                <a:latin typeface="Segoe Print" panose="02000800000000000000" pitchFamily="2" charset="0"/>
              </a:rPr>
              <a:t>The ideal level for Bleeblop’s </a:t>
            </a:r>
            <a:r>
              <a:rPr lang="en-US" sz="4000" dirty="0" err="1">
                <a:latin typeface="Segoe Print" panose="02000800000000000000" pitchFamily="2" charset="0"/>
              </a:rPr>
              <a:t>gloop</a:t>
            </a:r>
            <a:r>
              <a:rPr lang="en-US" sz="4000" dirty="0">
                <a:latin typeface="Segoe Print" panose="02000800000000000000" pitchFamily="2" charset="0"/>
              </a:rPr>
              <a:t> will be indicated using a star.</a:t>
            </a:r>
          </a:p>
        </p:txBody>
      </p:sp>
      <p:pic>
        <p:nvPicPr>
          <p:cNvPr id="8" name="Picture 7">
            <a:extLst>
              <a:ext uri="{FF2B5EF4-FFF2-40B4-BE49-F238E27FC236}">
                <a16:creationId xmlns:a16="http://schemas.microsoft.com/office/drawing/2014/main" id="{51630B37-BAB1-BD08-3814-97834311DBEC}"/>
              </a:ext>
            </a:extLst>
          </p:cNvPr>
          <p:cNvPicPr>
            <a:picLocks noChangeAspect="1"/>
          </p:cNvPicPr>
          <p:nvPr/>
        </p:nvPicPr>
        <p:blipFill>
          <a:blip r:embed="rId3"/>
          <a:stretch>
            <a:fillRect/>
          </a:stretch>
        </p:blipFill>
        <p:spPr>
          <a:xfrm>
            <a:off x="3991016" y="2138081"/>
            <a:ext cx="4209963" cy="3980329"/>
          </a:xfrm>
          <a:prstGeom prst="rect">
            <a:avLst/>
          </a:prstGeom>
        </p:spPr>
      </p:pic>
      <p:sp>
        <p:nvSpPr>
          <p:cNvPr id="2" name="5-Point Star 1">
            <a:extLst>
              <a:ext uri="{FF2B5EF4-FFF2-40B4-BE49-F238E27FC236}">
                <a16:creationId xmlns:a16="http://schemas.microsoft.com/office/drawing/2014/main" id="{48D3E0EC-EBFB-55E6-3150-F054CB54C128}"/>
              </a:ext>
            </a:extLst>
          </p:cNvPr>
          <p:cNvSpPr/>
          <p:nvPr/>
        </p:nvSpPr>
        <p:spPr>
          <a:xfrm>
            <a:off x="5650992" y="426110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95AB41B4-51BF-7159-8034-8B04CE12D9ED}"/>
              </a:ext>
            </a:extLst>
          </p:cNvPr>
          <p:cNvSpPr txBox="1"/>
          <p:nvPr/>
        </p:nvSpPr>
        <p:spPr>
          <a:xfrm>
            <a:off x="3595708" y="3331982"/>
            <a:ext cx="790616" cy="523220"/>
          </a:xfrm>
          <a:prstGeom prst="rect">
            <a:avLst/>
          </a:prstGeom>
          <a:noFill/>
        </p:spPr>
        <p:txBody>
          <a:bodyPr wrap="square" rtlCol="0">
            <a:spAutoFit/>
          </a:bodyPr>
          <a:lstStyle/>
          <a:p>
            <a:r>
              <a:rPr lang="en-US" sz="1400" dirty="0">
                <a:latin typeface="Segoe Print" panose="02000800000000000000" pitchFamily="2" charset="0"/>
              </a:rPr>
              <a:t>Ideal Level</a:t>
            </a:r>
          </a:p>
        </p:txBody>
      </p:sp>
      <p:cxnSp>
        <p:nvCxnSpPr>
          <p:cNvPr id="18" name="Straight Arrow Connector 17">
            <a:extLst>
              <a:ext uri="{FF2B5EF4-FFF2-40B4-BE49-F238E27FC236}">
                <a16:creationId xmlns:a16="http://schemas.microsoft.com/office/drawing/2014/main" id="{CA946C37-95FB-F72E-2FC0-301C747DC892}"/>
              </a:ext>
            </a:extLst>
          </p:cNvPr>
          <p:cNvCxnSpPr>
            <a:cxnSpLocks/>
          </p:cNvCxnSpPr>
          <p:nvPr/>
        </p:nvCxnSpPr>
        <p:spPr>
          <a:xfrm>
            <a:off x="4288536" y="3690610"/>
            <a:ext cx="1252728" cy="570494"/>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905051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B2E4-F67D-CBC6-C4F0-0D62749827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F5F12A-7A5D-7A64-40CE-791397809DE2}"/>
              </a:ext>
            </a:extLst>
          </p:cNvPr>
          <p:cNvSpPr>
            <a:spLocks noGrp="1"/>
          </p:cNvSpPr>
          <p:nvPr>
            <p:ph type="title"/>
          </p:nvPr>
        </p:nvSpPr>
        <p:spPr>
          <a:xfrm>
            <a:off x="178904" y="375064"/>
            <a:ext cx="12013096" cy="1325563"/>
          </a:xfrm>
        </p:spPr>
        <p:txBody>
          <a:bodyPr>
            <a:normAutofit/>
          </a:bodyPr>
          <a:lstStyle/>
          <a:p>
            <a:pPr algn="ctr"/>
            <a:r>
              <a:rPr lang="en-US" sz="3600" dirty="0">
                <a:latin typeface="Segoe Print" panose="02000800000000000000" pitchFamily="2" charset="0"/>
              </a:rPr>
              <a:t>Over time, Bleeblop’s gloop will naturally drain…</a:t>
            </a:r>
          </a:p>
        </p:txBody>
      </p:sp>
      <p:pic>
        <p:nvPicPr>
          <p:cNvPr id="8" name="Picture 7">
            <a:extLst>
              <a:ext uri="{FF2B5EF4-FFF2-40B4-BE49-F238E27FC236}">
                <a16:creationId xmlns:a16="http://schemas.microsoft.com/office/drawing/2014/main" id="{CEDE37FD-B1C1-BA57-0F2F-044577D5E333}"/>
              </a:ext>
            </a:extLst>
          </p:cNvPr>
          <p:cNvPicPr>
            <a:picLocks noChangeAspect="1"/>
          </p:cNvPicPr>
          <p:nvPr/>
        </p:nvPicPr>
        <p:blipFill>
          <a:blip r:embed="rId3"/>
          <a:stretch>
            <a:fillRect/>
          </a:stretch>
        </p:blipFill>
        <p:spPr>
          <a:xfrm>
            <a:off x="4000498" y="2138081"/>
            <a:ext cx="4209962" cy="3980328"/>
          </a:xfrm>
          <a:prstGeom prst="rect">
            <a:avLst/>
          </a:prstGeom>
        </p:spPr>
      </p:pic>
      <p:sp>
        <p:nvSpPr>
          <p:cNvPr id="2" name="5-Point Star 1">
            <a:extLst>
              <a:ext uri="{FF2B5EF4-FFF2-40B4-BE49-F238E27FC236}">
                <a16:creationId xmlns:a16="http://schemas.microsoft.com/office/drawing/2014/main" id="{96B93FD2-28E5-98DB-76A1-ABAC2A732620}"/>
              </a:ext>
            </a:extLst>
          </p:cNvPr>
          <p:cNvSpPr/>
          <p:nvPr/>
        </p:nvSpPr>
        <p:spPr>
          <a:xfrm>
            <a:off x="5650992" y="426110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605446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E0559-108F-39E4-E53D-199B315C86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BAADDB-6911-60A2-2CC4-8745B369C0D1}"/>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So, you will need to add to BleeBlop’s gloop to keep them moving efficiently!</a:t>
            </a:r>
          </a:p>
        </p:txBody>
      </p:sp>
      <p:pic>
        <p:nvPicPr>
          <p:cNvPr id="6" name="Picture 5">
            <a:extLst>
              <a:ext uri="{FF2B5EF4-FFF2-40B4-BE49-F238E27FC236}">
                <a16:creationId xmlns:a16="http://schemas.microsoft.com/office/drawing/2014/main" id="{44A1E1D3-81C3-9F94-4C03-06ED575201DB}"/>
              </a:ext>
            </a:extLst>
          </p:cNvPr>
          <p:cNvPicPr>
            <a:picLocks noChangeAspect="1"/>
          </p:cNvPicPr>
          <p:nvPr/>
        </p:nvPicPr>
        <p:blipFill>
          <a:blip r:embed="rId3"/>
          <a:stretch>
            <a:fillRect/>
          </a:stretch>
        </p:blipFill>
        <p:spPr>
          <a:xfrm>
            <a:off x="4000497" y="2138080"/>
            <a:ext cx="4209961" cy="3980327"/>
          </a:xfrm>
          <a:prstGeom prst="rect">
            <a:avLst/>
          </a:prstGeom>
        </p:spPr>
      </p:pic>
      <p:sp>
        <p:nvSpPr>
          <p:cNvPr id="2" name="5-Point Star 1">
            <a:extLst>
              <a:ext uri="{FF2B5EF4-FFF2-40B4-BE49-F238E27FC236}">
                <a16:creationId xmlns:a16="http://schemas.microsoft.com/office/drawing/2014/main" id="{A3E1E529-B564-86C3-5093-F82562C91D7C}"/>
              </a:ext>
            </a:extLst>
          </p:cNvPr>
          <p:cNvSpPr/>
          <p:nvPr/>
        </p:nvSpPr>
        <p:spPr>
          <a:xfrm>
            <a:off x="5650992" y="426110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64986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E23D-4D2C-1296-9C3E-A39EAEE32E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517322-59FF-4EF2-3A78-FC0D6C5634DE}"/>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As you do this, be careful…</a:t>
            </a:r>
          </a:p>
        </p:txBody>
      </p:sp>
      <p:pic>
        <p:nvPicPr>
          <p:cNvPr id="9" name="Picture 8">
            <a:extLst>
              <a:ext uri="{FF2B5EF4-FFF2-40B4-BE49-F238E27FC236}">
                <a16:creationId xmlns:a16="http://schemas.microsoft.com/office/drawing/2014/main" id="{41600E84-3A25-90D6-8117-0CB2008A1A2D}"/>
              </a:ext>
            </a:extLst>
          </p:cNvPr>
          <p:cNvPicPr>
            <a:picLocks noChangeAspect="1"/>
          </p:cNvPicPr>
          <p:nvPr/>
        </p:nvPicPr>
        <p:blipFill>
          <a:blip r:embed="rId3"/>
          <a:stretch>
            <a:fillRect/>
          </a:stretch>
        </p:blipFill>
        <p:spPr>
          <a:xfrm>
            <a:off x="3991016" y="2138081"/>
            <a:ext cx="4209963" cy="3980329"/>
          </a:xfrm>
          <a:prstGeom prst="rect">
            <a:avLst/>
          </a:prstGeom>
        </p:spPr>
      </p:pic>
      <p:sp>
        <p:nvSpPr>
          <p:cNvPr id="2" name="5-Point Star 1">
            <a:extLst>
              <a:ext uri="{FF2B5EF4-FFF2-40B4-BE49-F238E27FC236}">
                <a16:creationId xmlns:a16="http://schemas.microsoft.com/office/drawing/2014/main" id="{15B5ACD3-8CDA-C704-E43E-BDC5A6CFDFF9}"/>
              </a:ext>
            </a:extLst>
          </p:cNvPr>
          <p:cNvSpPr/>
          <p:nvPr/>
        </p:nvSpPr>
        <p:spPr>
          <a:xfrm>
            <a:off x="5650992" y="426110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01934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4EF9-1CD7-7A00-66F9-828CF46CD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E89CD5-541A-F19E-55C8-07AEF2AC6119}"/>
              </a:ext>
            </a:extLst>
          </p:cNvPr>
          <p:cNvSpPr>
            <a:spLocks noGrp="1"/>
          </p:cNvSpPr>
          <p:nvPr>
            <p:ph type="title"/>
          </p:nvPr>
        </p:nvSpPr>
        <p:spPr>
          <a:xfrm>
            <a:off x="0" y="365125"/>
            <a:ext cx="12192000" cy="1325563"/>
          </a:xfrm>
        </p:spPr>
        <p:txBody>
          <a:bodyPr/>
          <a:lstStyle/>
          <a:p>
            <a:pPr algn="ctr"/>
            <a:r>
              <a:rPr lang="en-US" sz="4000" dirty="0">
                <a:latin typeface="Segoe Print" panose="02000800000000000000" pitchFamily="2" charset="0"/>
              </a:rPr>
              <a:t>If Bleeblop’s main gloop container maxes out…</a:t>
            </a:r>
          </a:p>
        </p:txBody>
      </p:sp>
      <p:pic>
        <p:nvPicPr>
          <p:cNvPr id="9" name="Picture 8">
            <a:extLst>
              <a:ext uri="{FF2B5EF4-FFF2-40B4-BE49-F238E27FC236}">
                <a16:creationId xmlns:a16="http://schemas.microsoft.com/office/drawing/2014/main" id="{299734D0-8C88-CA2B-7481-713856679765}"/>
              </a:ext>
            </a:extLst>
          </p:cNvPr>
          <p:cNvPicPr>
            <a:picLocks noChangeAspect="1"/>
          </p:cNvPicPr>
          <p:nvPr/>
        </p:nvPicPr>
        <p:blipFill>
          <a:blip r:embed="rId3"/>
          <a:stretch>
            <a:fillRect/>
          </a:stretch>
        </p:blipFill>
        <p:spPr>
          <a:xfrm>
            <a:off x="4285724" y="2958178"/>
            <a:ext cx="3620551" cy="3423066"/>
          </a:xfrm>
          <a:prstGeom prst="rect">
            <a:avLst/>
          </a:prstGeom>
        </p:spPr>
      </p:pic>
      <p:sp>
        <p:nvSpPr>
          <p:cNvPr id="2" name="5-Point Star 1">
            <a:extLst>
              <a:ext uri="{FF2B5EF4-FFF2-40B4-BE49-F238E27FC236}">
                <a16:creationId xmlns:a16="http://schemas.microsoft.com/office/drawing/2014/main" id="{2394A134-33C7-69FD-B79F-0751F71EEE1E}"/>
              </a:ext>
            </a:extLst>
          </p:cNvPr>
          <p:cNvSpPr/>
          <p:nvPr/>
        </p:nvSpPr>
        <p:spPr>
          <a:xfrm>
            <a:off x="5650992" y="4773168"/>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7866613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1928-B914-4520-420D-D89C420A673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C180092-82F2-EF77-242A-5AA97E97D8D6}"/>
              </a:ext>
            </a:extLst>
          </p:cNvPr>
          <p:cNvPicPr>
            <a:picLocks noChangeAspect="1"/>
          </p:cNvPicPr>
          <p:nvPr/>
        </p:nvPicPr>
        <p:blipFill>
          <a:blip r:embed="rId3"/>
          <a:stretch>
            <a:fillRect/>
          </a:stretch>
        </p:blipFill>
        <p:spPr>
          <a:xfrm>
            <a:off x="4338795" y="1253219"/>
            <a:ext cx="3514404" cy="5239656"/>
          </a:xfrm>
          <a:prstGeom prst="rect">
            <a:avLst/>
          </a:prstGeom>
        </p:spPr>
      </p:pic>
      <p:sp>
        <p:nvSpPr>
          <p:cNvPr id="10" name="Title 3">
            <a:extLst>
              <a:ext uri="{FF2B5EF4-FFF2-40B4-BE49-F238E27FC236}">
                <a16:creationId xmlns:a16="http://schemas.microsoft.com/office/drawing/2014/main" id="{283C47E6-9DCE-0862-6FD1-F41BA627CA05}"/>
              </a:ext>
            </a:extLst>
          </p:cNvPr>
          <p:cNvSpPr txBox="1">
            <a:spLocks/>
          </p:cNvSpPr>
          <p:nvPr/>
        </p:nvSpPr>
        <p:spPr>
          <a:xfrm>
            <a:off x="0" y="365125"/>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Bleeblop will overheat.</a:t>
            </a:r>
          </a:p>
        </p:txBody>
      </p:sp>
      <p:sp>
        <p:nvSpPr>
          <p:cNvPr id="2" name="5-Point Star 1">
            <a:extLst>
              <a:ext uri="{FF2B5EF4-FFF2-40B4-BE49-F238E27FC236}">
                <a16:creationId xmlns:a16="http://schemas.microsoft.com/office/drawing/2014/main" id="{83B60005-462F-2646-73BF-5DEA24AED242}"/>
              </a:ext>
            </a:extLst>
          </p:cNvPr>
          <p:cNvSpPr/>
          <p:nvPr/>
        </p:nvSpPr>
        <p:spPr>
          <a:xfrm>
            <a:off x="5705856" y="4919472"/>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92096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1E73F-E6FE-153A-FD70-5AEA3AC897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0101A9-2F82-169C-179F-B6CA0C67BFC4}"/>
              </a:ext>
            </a:extLst>
          </p:cNvPr>
          <p:cNvSpPr>
            <a:spLocks noGrp="1"/>
          </p:cNvSpPr>
          <p:nvPr>
            <p:ph type="title"/>
          </p:nvPr>
        </p:nvSpPr>
        <p:spPr>
          <a:xfrm>
            <a:off x="0" y="365125"/>
            <a:ext cx="12192000" cy="1325563"/>
          </a:xfrm>
        </p:spPr>
        <p:txBody>
          <a:bodyPr/>
          <a:lstStyle/>
          <a:p>
            <a:pPr algn="ctr"/>
            <a:r>
              <a:rPr lang="en-US" sz="4000" dirty="0">
                <a:latin typeface="Segoe Print" panose="02000800000000000000" pitchFamily="2" charset="0"/>
              </a:rPr>
              <a:t>If Bleeblop’s main gloop container empties…</a:t>
            </a:r>
          </a:p>
        </p:txBody>
      </p:sp>
      <p:pic>
        <p:nvPicPr>
          <p:cNvPr id="3" name="Picture 2">
            <a:extLst>
              <a:ext uri="{FF2B5EF4-FFF2-40B4-BE49-F238E27FC236}">
                <a16:creationId xmlns:a16="http://schemas.microsoft.com/office/drawing/2014/main" id="{DF8C021A-8D73-A7D4-1731-C74B75175DB1}"/>
              </a:ext>
            </a:extLst>
          </p:cNvPr>
          <p:cNvPicPr>
            <a:picLocks noChangeAspect="1"/>
          </p:cNvPicPr>
          <p:nvPr/>
        </p:nvPicPr>
        <p:blipFill>
          <a:blip r:embed="rId2"/>
          <a:stretch>
            <a:fillRect/>
          </a:stretch>
        </p:blipFill>
        <p:spPr>
          <a:xfrm>
            <a:off x="4129364" y="2580602"/>
            <a:ext cx="3933269" cy="3718727"/>
          </a:xfrm>
          <a:prstGeom prst="rect">
            <a:avLst/>
          </a:prstGeom>
        </p:spPr>
      </p:pic>
      <p:sp>
        <p:nvSpPr>
          <p:cNvPr id="2" name="5-Point Star 1">
            <a:extLst>
              <a:ext uri="{FF2B5EF4-FFF2-40B4-BE49-F238E27FC236}">
                <a16:creationId xmlns:a16="http://schemas.microsoft.com/office/drawing/2014/main" id="{4D0830C7-C20A-E28B-ADF6-7458B2B3BD5D}"/>
              </a:ext>
            </a:extLst>
          </p:cNvPr>
          <p:cNvSpPr/>
          <p:nvPr/>
        </p:nvSpPr>
        <p:spPr>
          <a:xfrm>
            <a:off x="5650992" y="458114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708961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D484-7A3B-0824-5D60-8CA7328DE3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04D15C-B032-AEA7-6590-C7AEF2008E11}"/>
              </a:ext>
            </a:extLst>
          </p:cNvPr>
          <p:cNvSpPr>
            <a:spLocks noGrp="1"/>
          </p:cNvSpPr>
          <p:nvPr>
            <p:ph type="title"/>
          </p:nvPr>
        </p:nvSpPr>
        <p:spPr/>
        <p:txBody>
          <a:bodyPr/>
          <a:lstStyle/>
          <a:p>
            <a:pPr algn="ctr"/>
            <a:r>
              <a:rPr lang="en-US" sz="4000" dirty="0">
                <a:latin typeface="Segoe Print" panose="02000800000000000000" pitchFamily="2" charset="0"/>
              </a:rPr>
              <a:t>Bleeblop will shut down.</a:t>
            </a:r>
          </a:p>
        </p:txBody>
      </p:sp>
      <p:pic>
        <p:nvPicPr>
          <p:cNvPr id="6" name="Picture 5">
            <a:extLst>
              <a:ext uri="{FF2B5EF4-FFF2-40B4-BE49-F238E27FC236}">
                <a16:creationId xmlns:a16="http://schemas.microsoft.com/office/drawing/2014/main" id="{977B51CB-386B-EE9F-A542-8FA79FDF7485}"/>
              </a:ext>
            </a:extLst>
          </p:cNvPr>
          <p:cNvPicPr>
            <a:picLocks noChangeAspect="1"/>
          </p:cNvPicPr>
          <p:nvPr/>
        </p:nvPicPr>
        <p:blipFill>
          <a:blip r:embed="rId3"/>
          <a:stretch>
            <a:fillRect/>
          </a:stretch>
        </p:blipFill>
        <p:spPr>
          <a:xfrm>
            <a:off x="4216771" y="1458826"/>
            <a:ext cx="3758453" cy="5034049"/>
          </a:xfrm>
          <a:prstGeom prst="rect">
            <a:avLst/>
          </a:prstGeom>
        </p:spPr>
      </p:pic>
      <p:sp>
        <p:nvSpPr>
          <p:cNvPr id="2" name="5-Point Star 1">
            <a:extLst>
              <a:ext uri="{FF2B5EF4-FFF2-40B4-BE49-F238E27FC236}">
                <a16:creationId xmlns:a16="http://schemas.microsoft.com/office/drawing/2014/main" id="{BF81198F-1B97-88EF-87BB-D02EDC2CF22C}"/>
              </a:ext>
            </a:extLst>
          </p:cNvPr>
          <p:cNvSpPr/>
          <p:nvPr/>
        </p:nvSpPr>
        <p:spPr>
          <a:xfrm>
            <a:off x="5697884" y="484725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0503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5F18-70DE-28B7-4413-9A73040A1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4ADF3-9CC1-AA66-7654-C0FF1445F26D}"/>
              </a:ext>
            </a:extLst>
          </p:cNvPr>
          <p:cNvSpPr>
            <a:spLocks noGrp="1"/>
          </p:cNvSpPr>
          <p:nvPr>
            <p:ph type="title"/>
          </p:nvPr>
        </p:nvSpPr>
        <p:spPr>
          <a:xfrm>
            <a:off x="430306" y="187438"/>
            <a:ext cx="11456894" cy="1453103"/>
          </a:xfrm>
        </p:spPr>
        <p:txBody>
          <a:bodyPr>
            <a:normAutofit fontScale="90000"/>
          </a:bodyPr>
          <a:lstStyle/>
          <a:p>
            <a:pPr algn="ctr"/>
            <a:r>
              <a:rPr lang="en-US" sz="4000" dirty="0">
                <a:latin typeface="Segoe Print" panose="02000800000000000000" pitchFamily="2" charset="0"/>
              </a:rPr>
              <a:t>Overheating or shutting down will force Bleeblop to go backwards to the last repair shop they passed, and progress will be lost.</a:t>
            </a:r>
          </a:p>
        </p:txBody>
      </p:sp>
      <p:pic>
        <p:nvPicPr>
          <p:cNvPr id="13" name="Picture 12">
            <a:extLst>
              <a:ext uri="{FF2B5EF4-FFF2-40B4-BE49-F238E27FC236}">
                <a16:creationId xmlns:a16="http://schemas.microsoft.com/office/drawing/2014/main" id="{FA852365-31A0-F54A-4FF7-00E5EFEA2E93}"/>
              </a:ext>
            </a:extLst>
          </p:cNvPr>
          <p:cNvPicPr>
            <a:picLocks noChangeAspect="1"/>
          </p:cNvPicPr>
          <p:nvPr/>
        </p:nvPicPr>
        <p:blipFill>
          <a:blip r:embed="rId3"/>
          <a:stretch>
            <a:fillRect/>
          </a:stretch>
        </p:blipFill>
        <p:spPr>
          <a:xfrm>
            <a:off x="3016623" y="1760461"/>
            <a:ext cx="6158753" cy="4790897"/>
          </a:xfrm>
          <a:prstGeom prst="rect">
            <a:avLst/>
          </a:prstGeom>
        </p:spPr>
      </p:pic>
    </p:spTree>
    <p:extLst>
      <p:ext uri="{BB962C8B-B14F-4D97-AF65-F5344CB8AC3E}">
        <p14:creationId xmlns:p14="http://schemas.microsoft.com/office/powerpoint/2010/main" val="19172228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46637-A19D-CBA1-0693-2BE4E269EF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51681A-EC7F-EF65-ADDD-169E17FCFE3C}"/>
              </a:ext>
            </a:extLst>
          </p:cNvPr>
          <p:cNvSpPr>
            <a:spLocks noGrp="1"/>
          </p:cNvSpPr>
          <p:nvPr>
            <p:ph type="title"/>
          </p:nvPr>
        </p:nvSpPr>
        <p:spPr>
          <a:xfrm>
            <a:off x="607942" y="534090"/>
            <a:ext cx="10976113" cy="1325563"/>
          </a:xfrm>
        </p:spPr>
        <p:txBody>
          <a:bodyPr>
            <a:normAutofit fontScale="90000"/>
          </a:bodyPr>
          <a:lstStyle/>
          <a:p>
            <a:pPr algn="ctr"/>
            <a:r>
              <a:rPr lang="en-US" sz="4000" dirty="0">
                <a:latin typeface="Segoe Print" panose="02000800000000000000" pitchFamily="2" charset="0"/>
              </a:rPr>
              <a:t>Your job is to keep BleeBlop’s gloop levels at the ideal height so that they can get to Robonia as fast as possible!</a:t>
            </a:r>
          </a:p>
        </p:txBody>
      </p:sp>
      <p:pic>
        <p:nvPicPr>
          <p:cNvPr id="10" name="Picture 9">
            <a:extLst>
              <a:ext uri="{FF2B5EF4-FFF2-40B4-BE49-F238E27FC236}">
                <a16:creationId xmlns:a16="http://schemas.microsoft.com/office/drawing/2014/main" id="{32C78CEE-D44B-3798-59D2-00B1A1EDF771}"/>
              </a:ext>
            </a:extLst>
          </p:cNvPr>
          <p:cNvPicPr>
            <a:picLocks noChangeAspect="1"/>
          </p:cNvPicPr>
          <p:nvPr/>
        </p:nvPicPr>
        <p:blipFill>
          <a:blip r:embed="rId3"/>
          <a:stretch>
            <a:fillRect/>
          </a:stretch>
        </p:blipFill>
        <p:spPr>
          <a:xfrm>
            <a:off x="2921035" y="1859653"/>
            <a:ext cx="7809716" cy="4661424"/>
          </a:xfrm>
          <a:prstGeom prst="rect">
            <a:avLst/>
          </a:prstGeom>
        </p:spPr>
      </p:pic>
      <p:sp>
        <p:nvSpPr>
          <p:cNvPr id="2" name="5-Point Star 1">
            <a:extLst>
              <a:ext uri="{FF2B5EF4-FFF2-40B4-BE49-F238E27FC236}">
                <a16:creationId xmlns:a16="http://schemas.microsoft.com/office/drawing/2014/main" id="{AD5A2CE5-6CD7-1132-8853-851A81665874}"/>
              </a:ext>
            </a:extLst>
          </p:cNvPr>
          <p:cNvSpPr/>
          <p:nvPr/>
        </p:nvSpPr>
        <p:spPr>
          <a:xfrm>
            <a:off x="4517136" y="4462272"/>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81491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6EE8F-7AE3-9746-3394-C8A3EAD521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291403C-E2BE-C50C-7C1B-0FC20D07B2BF}"/>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Where is BleeBlop trying to go?</a:t>
            </a:r>
          </a:p>
        </p:txBody>
      </p:sp>
      <p:sp>
        <p:nvSpPr>
          <p:cNvPr id="2" name="Title 1">
            <a:extLst>
              <a:ext uri="{FF2B5EF4-FFF2-40B4-BE49-F238E27FC236}">
                <a16:creationId xmlns:a16="http://schemas.microsoft.com/office/drawing/2014/main" id="{0050EEB9-DFE0-1395-8061-3598869D8550}"/>
              </a:ext>
            </a:extLst>
          </p:cNvPr>
          <p:cNvSpPr txBox="1">
            <a:spLocks/>
          </p:cNvSpPr>
          <p:nvPr/>
        </p:nvSpPr>
        <p:spPr>
          <a:xfrm>
            <a:off x="1975754" y="2239327"/>
            <a:ext cx="3758840"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To Mars</a:t>
            </a:r>
          </a:p>
          <a:p>
            <a:pPr marL="457200" indent="-457200">
              <a:lnSpc>
                <a:spcPct val="200000"/>
              </a:lnSpc>
              <a:buFont typeface="Wingdings" pitchFamily="2" charset="2"/>
              <a:buChar char="q"/>
            </a:pPr>
            <a:r>
              <a:rPr lang="en-US" sz="2200" dirty="0">
                <a:latin typeface="Segoe Print" panose="02000800000000000000" pitchFamily="2" charset="0"/>
              </a:rPr>
              <a:t>To Robonia</a:t>
            </a:r>
          </a:p>
          <a:p>
            <a:pPr marL="457200" indent="-457200">
              <a:lnSpc>
                <a:spcPct val="200000"/>
              </a:lnSpc>
              <a:buFont typeface="Wingdings" pitchFamily="2" charset="2"/>
              <a:buChar char="q"/>
            </a:pPr>
            <a:r>
              <a:rPr lang="en-US" sz="2200" dirty="0">
                <a:latin typeface="Segoe Print" panose="02000800000000000000" pitchFamily="2" charset="0"/>
              </a:rPr>
              <a:t>To Providence, RI</a:t>
            </a:r>
          </a:p>
          <a:p>
            <a:pPr marL="457200" indent="-457200">
              <a:lnSpc>
                <a:spcPct val="200000"/>
              </a:lnSpc>
              <a:buFont typeface="Wingdings" pitchFamily="2" charset="2"/>
              <a:buChar char="q"/>
            </a:pPr>
            <a:r>
              <a:rPr lang="en-US" sz="2200" dirty="0">
                <a:latin typeface="Segoe Print" panose="02000800000000000000" pitchFamily="2" charset="0"/>
              </a:rPr>
              <a:t>Out on the town</a:t>
            </a:r>
          </a:p>
          <a:p>
            <a:pPr marL="457200" indent="-457200">
              <a:lnSpc>
                <a:spcPct val="200000"/>
              </a:lnSpc>
              <a:buFont typeface="Wingdings" pitchFamily="2" charset="2"/>
              <a:buChar char="q"/>
            </a:pPr>
            <a:r>
              <a:rPr lang="en-US" sz="2200" dirty="0">
                <a:latin typeface="Segoe Print" panose="02000800000000000000" pitchFamily="2" charset="0"/>
              </a:rPr>
              <a:t>To Disneyland</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26244038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A25C-034A-8498-9068-2C7EBE632B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CCD408-C2BC-3189-FE27-81F9746EAFFF}"/>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naturally happens to BleeBlop’s </a:t>
            </a:r>
            <a:r>
              <a:rPr lang="en-US" sz="4000" dirty="0" err="1">
                <a:latin typeface="Segoe Print" panose="02000800000000000000" pitchFamily="2" charset="0"/>
              </a:rPr>
              <a:t>gloop</a:t>
            </a:r>
            <a:r>
              <a:rPr lang="en-US" sz="4000" dirty="0">
                <a:latin typeface="Segoe Print" panose="02000800000000000000" pitchFamily="2" charset="0"/>
              </a:rPr>
              <a:t> over time?</a:t>
            </a:r>
          </a:p>
        </p:txBody>
      </p:sp>
      <p:sp>
        <p:nvSpPr>
          <p:cNvPr id="2" name="Title 1">
            <a:extLst>
              <a:ext uri="{FF2B5EF4-FFF2-40B4-BE49-F238E27FC236}">
                <a16:creationId xmlns:a16="http://schemas.microsoft.com/office/drawing/2014/main" id="{B8FFD87D-8AAC-9A7F-B27B-0D3387B53806}"/>
              </a:ext>
            </a:extLst>
          </p:cNvPr>
          <p:cNvSpPr txBox="1">
            <a:spLocks/>
          </p:cNvSpPr>
          <p:nvPr/>
        </p:nvSpPr>
        <p:spPr>
          <a:xfrm>
            <a:off x="1975753" y="2537300"/>
            <a:ext cx="8709663" cy="316869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It freezes</a:t>
            </a:r>
          </a:p>
          <a:p>
            <a:pPr marL="457200" indent="-457200">
              <a:lnSpc>
                <a:spcPct val="200000"/>
              </a:lnSpc>
              <a:buFont typeface="Wingdings" pitchFamily="2" charset="2"/>
              <a:buChar char="q"/>
            </a:pPr>
            <a:r>
              <a:rPr lang="en-US" sz="2200" dirty="0">
                <a:latin typeface="Segoe Print" panose="02000800000000000000" pitchFamily="2" charset="0"/>
              </a:rPr>
              <a:t>It fills</a:t>
            </a:r>
          </a:p>
          <a:p>
            <a:pPr marL="457200" indent="-457200">
              <a:lnSpc>
                <a:spcPct val="200000"/>
              </a:lnSpc>
              <a:buFont typeface="Wingdings" pitchFamily="2" charset="2"/>
              <a:buChar char="q"/>
            </a:pPr>
            <a:r>
              <a:rPr lang="en-US" sz="2200" dirty="0">
                <a:latin typeface="Segoe Print" panose="02000800000000000000" pitchFamily="2" charset="0"/>
              </a:rPr>
              <a:t>Nothing</a:t>
            </a:r>
          </a:p>
          <a:p>
            <a:pPr marL="457200" indent="-457200">
              <a:lnSpc>
                <a:spcPct val="200000"/>
              </a:lnSpc>
              <a:buFont typeface="Wingdings" pitchFamily="2" charset="2"/>
              <a:buChar char="q"/>
            </a:pPr>
            <a:r>
              <a:rPr lang="en-US" sz="2200" dirty="0">
                <a:latin typeface="Segoe Print" panose="02000800000000000000" pitchFamily="2" charset="0"/>
              </a:rPr>
              <a:t>It drains</a:t>
            </a:r>
          </a:p>
          <a:p>
            <a:pPr marL="457200" indent="-457200">
              <a:lnSpc>
                <a:spcPct val="200000"/>
              </a:lnSpc>
              <a:buFont typeface="Wingdings" pitchFamily="2" charset="2"/>
              <a:buChar char="q"/>
            </a:pPr>
            <a:r>
              <a:rPr lang="en-US" sz="2200" dirty="0">
                <a:latin typeface="Segoe Print" panose="02000800000000000000" pitchFamily="2" charset="0"/>
              </a:rPr>
              <a:t>It expands</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169827703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B7F6E-68CC-AE45-0946-FF0C41E9CC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7FCF77-F311-4F7D-7E21-56183951A871}"/>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happens if Bleeblop’s gloop container maxes out?</a:t>
            </a:r>
          </a:p>
        </p:txBody>
      </p:sp>
      <p:sp>
        <p:nvSpPr>
          <p:cNvPr id="2" name="Title 1">
            <a:extLst>
              <a:ext uri="{FF2B5EF4-FFF2-40B4-BE49-F238E27FC236}">
                <a16:creationId xmlns:a16="http://schemas.microsoft.com/office/drawing/2014/main" id="{0C4A0E37-C0A2-AA6A-2522-94FDD07847DC}"/>
              </a:ext>
            </a:extLst>
          </p:cNvPr>
          <p:cNvSpPr txBox="1">
            <a:spLocks/>
          </p:cNvSpPr>
          <p:nvPr/>
        </p:nvSpPr>
        <p:spPr>
          <a:xfrm>
            <a:off x="2008819" y="1489166"/>
            <a:ext cx="9381991" cy="44674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Bleepblop moves as fast as possible</a:t>
            </a:r>
          </a:p>
          <a:p>
            <a:pPr marL="457200" indent="-457200">
              <a:lnSpc>
                <a:spcPct val="200000"/>
              </a:lnSpc>
              <a:buFont typeface="Wingdings" pitchFamily="2" charset="2"/>
              <a:buChar char="q"/>
            </a:pPr>
            <a:r>
              <a:rPr lang="en-US" sz="2200" dirty="0">
                <a:latin typeface="Segoe Print" panose="02000800000000000000" pitchFamily="2" charset="0"/>
              </a:rPr>
              <a:t>Bleepblop overheats</a:t>
            </a:r>
          </a:p>
          <a:p>
            <a:pPr marL="457200" indent="-457200">
              <a:lnSpc>
                <a:spcPct val="200000"/>
              </a:lnSpc>
              <a:buFont typeface="Wingdings" pitchFamily="2" charset="2"/>
              <a:buChar char="q"/>
            </a:pPr>
            <a:r>
              <a:rPr lang="en-US" sz="2200" dirty="0">
                <a:latin typeface="Segoe Print" panose="02000800000000000000" pitchFamily="2" charset="0"/>
              </a:rPr>
              <a:t>Bleeblop stops moving completely</a:t>
            </a:r>
          </a:p>
          <a:p>
            <a:pPr marL="457200" indent="-457200">
              <a:lnSpc>
                <a:spcPct val="200000"/>
              </a:lnSpc>
              <a:buFont typeface="Wingdings" pitchFamily="2" charset="2"/>
              <a:buChar char="q"/>
            </a:pPr>
            <a:r>
              <a:rPr lang="en-US" sz="2200" dirty="0">
                <a:latin typeface="Segoe Print" panose="02000800000000000000" pitchFamily="2" charset="0"/>
              </a:rPr>
              <a:t>Nothing</a:t>
            </a:r>
          </a:p>
        </p:txBody>
      </p:sp>
    </p:spTree>
    <p:extLst>
      <p:ext uri="{BB962C8B-B14F-4D97-AF65-F5344CB8AC3E}">
        <p14:creationId xmlns:p14="http://schemas.microsoft.com/office/powerpoint/2010/main" val="36321044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B5B9-CBB2-879F-BAF0-78264B80BE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A5CB3F-1805-E07D-33FB-A261D3BD8E83}"/>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happens if Bleeblop’s gloop container empties?</a:t>
            </a:r>
          </a:p>
        </p:txBody>
      </p:sp>
      <p:sp>
        <p:nvSpPr>
          <p:cNvPr id="2" name="Title 1">
            <a:extLst>
              <a:ext uri="{FF2B5EF4-FFF2-40B4-BE49-F238E27FC236}">
                <a16:creationId xmlns:a16="http://schemas.microsoft.com/office/drawing/2014/main" id="{210EBD37-70BB-A909-999F-37681C0BA119}"/>
              </a:ext>
            </a:extLst>
          </p:cNvPr>
          <p:cNvSpPr txBox="1">
            <a:spLocks/>
          </p:cNvSpPr>
          <p:nvPr/>
        </p:nvSpPr>
        <p:spPr>
          <a:xfrm>
            <a:off x="2008819" y="1489166"/>
            <a:ext cx="9381991" cy="44674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Bleepblop stops moving completely</a:t>
            </a:r>
          </a:p>
          <a:p>
            <a:pPr marL="457200" indent="-457200">
              <a:lnSpc>
                <a:spcPct val="200000"/>
              </a:lnSpc>
              <a:buFont typeface="Wingdings" pitchFamily="2" charset="2"/>
              <a:buChar char="q"/>
            </a:pPr>
            <a:r>
              <a:rPr lang="en-US" sz="2200" dirty="0">
                <a:latin typeface="Segoe Print" panose="02000800000000000000" pitchFamily="2" charset="0"/>
              </a:rPr>
              <a:t>Bleepblop moves as fast as possible</a:t>
            </a:r>
          </a:p>
          <a:p>
            <a:pPr marL="457200" indent="-457200">
              <a:lnSpc>
                <a:spcPct val="200000"/>
              </a:lnSpc>
              <a:buFont typeface="Wingdings" pitchFamily="2" charset="2"/>
              <a:buChar char="q"/>
            </a:pPr>
            <a:r>
              <a:rPr lang="en-US" sz="2200" dirty="0">
                <a:latin typeface="Segoe Print" panose="02000800000000000000" pitchFamily="2" charset="0"/>
              </a:rPr>
              <a:t>Bleeblop shuts down</a:t>
            </a:r>
          </a:p>
          <a:p>
            <a:pPr marL="457200" indent="-457200">
              <a:lnSpc>
                <a:spcPct val="200000"/>
              </a:lnSpc>
              <a:buFont typeface="Wingdings" pitchFamily="2" charset="2"/>
              <a:buChar char="q"/>
            </a:pPr>
            <a:r>
              <a:rPr lang="en-US" sz="2200" dirty="0">
                <a:latin typeface="Segoe Print" panose="02000800000000000000" pitchFamily="2" charset="0"/>
              </a:rPr>
              <a:t>Nothing</a:t>
            </a:r>
          </a:p>
        </p:txBody>
      </p:sp>
    </p:spTree>
    <p:extLst>
      <p:ext uri="{BB962C8B-B14F-4D97-AF65-F5344CB8AC3E}">
        <p14:creationId xmlns:p14="http://schemas.microsoft.com/office/powerpoint/2010/main" val="22931742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6381-DB9A-CCBA-1E97-394CF303D5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2705E5-AB5F-B82B-F509-148BCFD9865C}"/>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When does BleeBlop move the fastest</a:t>
            </a:r>
          </a:p>
        </p:txBody>
      </p:sp>
      <p:sp>
        <p:nvSpPr>
          <p:cNvPr id="2" name="Title 1">
            <a:extLst>
              <a:ext uri="{FF2B5EF4-FFF2-40B4-BE49-F238E27FC236}">
                <a16:creationId xmlns:a16="http://schemas.microsoft.com/office/drawing/2014/main" id="{D2E7FB67-BCED-DF85-B554-6863A8F2ED21}"/>
              </a:ext>
            </a:extLst>
          </p:cNvPr>
          <p:cNvSpPr txBox="1">
            <a:spLocks/>
          </p:cNvSpPr>
          <p:nvPr/>
        </p:nvSpPr>
        <p:spPr>
          <a:xfrm>
            <a:off x="2008819" y="1489166"/>
            <a:ext cx="9381991" cy="44674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When their gloop level is as high as possible</a:t>
            </a:r>
          </a:p>
          <a:p>
            <a:pPr marL="457200" indent="-457200">
              <a:lnSpc>
                <a:spcPct val="200000"/>
              </a:lnSpc>
              <a:buFont typeface="Wingdings" pitchFamily="2" charset="2"/>
              <a:buChar char="q"/>
            </a:pPr>
            <a:r>
              <a:rPr lang="en-US" sz="2200" dirty="0">
                <a:latin typeface="Segoe Print" panose="02000800000000000000" pitchFamily="2" charset="0"/>
              </a:rPr>
              <a:t>When their gloop level is at the ideal height</a:t>
            </a:r>
          </a:p>
          <a:p>
            <a:pPr marL="457200" indent="-457200">
              <a:lnSpc>
                <a:spcPct val="200000"/>
              </a:lnSpc>
              <a:buFont typeface="Wingdings" pitchFamily="2" charset="2"/>
              <a:buChar char="q"/>
            </a:pPr>
            <a:r>
              <a:rPr lang="en-US" sz="2200" dirty="0">
                <a:latin typeface="Segoe Print" panose="02000800000000000000" pitchFamily="2" charset="0"/>
              </a:rPr>
              <a:t>When their gloop level is just below the maximum</a:t>
            </a:r>
          </a:p>
          <a:p>
            <a:pPr marL="457200" indent="-457200">
              <a:lnSpc>
                <a:spcPct val="200000"/>
              </a:lnSpc>
              <a:buFont typeface="Wingdings" pitchFamily="2" charset="2"/>
              <a:buChar char="q"/>
            </a:pPr>
            <a:r>
              <a:rPr lang="en-US" sz="2200" dirty="0">
                <a:latin typeface="Segoe Print" panose="02000800000000000000" pitchFamily="2" charset="0"/>
              </a:rPr>
              <a:t>When their gloop levels are as low as possible</a:t>
            </a:r>
          </a:p>
        </p:txBody>
      </p:sp>
    </p:spTree>
    <p:extLst>
      <p:ext uri="{BB962C8B-B14F-4D97-AF65-F5344CB8AC3E}">
        <p14:creationId xmlns:p14="http://schemas.microsoft.com/office/powerpoint/2010/main" val="39953537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5FD56-2283-4D76-0309-3BA3699BD3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A3E9DEF-4C7C-647F-DDB1-A4DED7699C80}"/>
              </a:ext>
            </a:extLst>
          </p:cNvPr>
          <p:cNvSpPr txBox="1">
            <a:spLocks/>
          </p:cNvSpPr>
          <p:nvPr/>
        </p:nvSpPr>
        <p:spPr>
          <a:xfrm>
            <a:off x="838196" y="276621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there was at least one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a:t>
            </a: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p:txBody>
      </p:sp>
    </p:spTree>
    <p:extLst>
      <p:ext uri="{BB962C8B-B14F-4D97-AF65-F5344CB8AC3E}">
        <p14:creationId xmlns:p14="http://schemas.microsoft.com/office/powerpoint/2010/main" val="1269526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C808-917C-2A8E-7A09-846FD1ED6F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F2BA4C-20A7-9865-1119-D88A3084B641}"/>
              </a:ext>
            </a:extLst>
          </p:cNvPr>
          <p:cNvSpPr txBox="1"/>
          <p:nvPr/>
        </p:nvSpPr>
        <p:spPr>
          <a:xfrm rot="20151242">
            <a:off x="-565155" y="1459230"/>
            <a:ext cx="13322307" cy="3939540"/>
          </a:xfrm>
          <a:prstGeom prst="rect">
            <a:avLst/>
          </a:prstGeom>
          <a:noFill/>
        </p:spPr>
        <p:txBody>
          <a:bodyPr wrap="square" rtlCol="0">
            <a:spAutoFit/>
          </a:bodyPr>
          <a:lstStyle/>
          <a:p>
            <a:r>
              <a:rPr lang="en-US" sz="25000" dirty="0">
                <a:solidFill>
                  <a:schemeClr val="bg2">
                    <a:lumMod val="75000"/>
                  </a:schemeClr>
                </a:solidFill>
              </a:rPr>
              <a:t>EXAMPLE</a:t>
            </a:r>
          </a:p>
        </p:txBody>
      </p:sp>
      <p:sp>
        <p:nvSpPr>
          <p:cNvPr id="9" name="TextBox 8">
            <a:extLst>
              <a:ext uri="{FF2B5EF4-FFF2-40B4-BE49-F238E27FC236}">
                <a16:creationId xmlns:a16="http://schemas.microsoft.com/office/drawing/2014/main" id="{D9EBF379-5A02-B74D-1447-70618A3A766E}"/>
              </a:ext>
            </a:extLst>
          </p:cNvPr>
          <p:cNvSpPr txBox="1"/>
          <p:nvPr/>
        </p:nvSpPr>
        <p:spPr>
          <a:xfrm>
            <a:off x="2509417" y="3514446"/>
            <a:ext cx="7173157" cy="646331"/>
          </a:xfrm>
          <a:prstGeom prst="rect">
            <a:avLst/>
          </a:prstGeom>
          <a:noFill/>
        </p:spPr>
        <p:txBody>
          <a:bodyPr wrap="square" rtlCol="0">
            <a:spAutoFit/>
          </a:bodyPr>
          <a:lstStyle/>
          <a:p>
            <a:pPr marL="285750" indent="-285750">
              <a:buFontTx/>
              <a:buChar char="-"/>
            </a:pPr>
            <a:r>
              <a:rPr lang="en-US" dirty="0">
                <a:latin typeface="Segoe Print" panose="02000800000000000000" pitchFamily="2" charset="0"/>
              </a:rPr>
              <a:t>Where </a:t>
            </a:r>
            <a:r>
              <a:rPr lang="en-US" dirty="0" err="1">
                <a:latin typeface="Segoe Print" panose="02000800000000000000" pitchFamily="2" charset="0"/>
              </a:rPr>
              <a:t>Bleeblop</a:t>
            </a:r>
            <a:r>
              <a:rPr lang="en-US" dirty="0">
                <a:latin typeface="Segoe Print" panose="02000800000000000000" pitchFamily="2" charset="0"/>
              </a:rPr>
              <a:t> is trying to go</a:t>
            </a:r>
          </a:p>
          <a:p>
            <a:pPr marL="285750" indent="-285750">
              <a:buFontTx/>
              <a:buChar char="-"/>
            </a:pPr>
            <a:r>
              <a:rPr lang="en-US" dirty="0">
                <a:latin typeface="Segoe Print" panose="02000800000000000000" pitchFamily="2" charset="0"/>
              </a:rPr>
              <a:t>What happens when </a:t>
            </a:r>
            <a:r>
              <a:rPr lang="en-US" dirty="0" err="1">
                <a:latin typeface="Segoe Print" panose="02000800000000000000" pitchFamily="2" charset="0"/>
              </a:rPr>
              <a:t>Bleeblop’s</a:t>
            </a:r>
            <a:r>
              <a:rPr lang="en-US" dirty="0">
                <a:latin typeface="Segoe Print" panose="02000800000000000000" pitchFamily="2" charset="0"/>
              </a:rPr>
              <a:t> </a:t>
            </a:r>
            <a:r>
              <a:rPr lang="en-US" dirty="0" err="1">
                <a:latin typeface="Segoe Print" panose="02000800000000000000" pitchFamily="2" charset="0"/>
              </a:rPr>
              <a:t>gloop</a:t>
            </a:r>
            <a:r>
              <a:rPr lang="en-US" dirty="0">
                <a:latin typeface="Segoe Print" panose="02000800000000000000" pitchFamily="2" charset="0"/>
              </a:rPr>
              <a:t> container empties</a:t>
            </a:r>
          </a:p>
        </p:txBody>
      </p:sp>
      <p:sp>
        <p:nvSpPr>
          <p:cNvPr id="10" name="Title 1">
            <a:extLst>
              <a:ext uri="{FF2B5EF4-FFF2-40B4-BE49-F238E27FC236}">
                <a16:creationId xmlns:a16="http://schemas.microsoft.com/office/drawing/2014/main" id="{5BB26C36-B7A9-CA51-F0EF-636F2AF98461}"/>
              </a:ext>
            </a:extLst>
          </p:cNvPr>
          <p:cNvSpPr txBox="1">
            <a:spLocks/>
          </p:cNvSpPr>
          <p:nvPr/>
        </p:nvSpPr>
        <p:spPr>
          <a:xfrm>
            <a:off x="838196" y="276621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there was at least one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a:t>
            </a: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p:txBody>
      </p:sp>
    </p:spTree>
    <p:extLst>
      <p:ext uri="{BB962C8B-B14F-4D97-AF65-F5344CB8AC3E}">
        <p14:creationId xmlns:p14="http://schemas.microsoft.com/office/powerpoint/2010/main" val="788356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5630-C0D5-1265-1AC5-803B2AF0ACC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F79796B-D353-940E-B7E6-4E75603F0E62}"/>
              </a:ext>
            </a:extLst>
          </p:cNvPr>
          <p:cNvSpPr txBox="1">
            <a:spLocks/>
          </p:cNvSpPr>
          <p:nvPr/>
        </p:nvSpPr>
        <p:spPr>
          <a:xfrm>
            <a:off x="521193" y="2935599"/>
            <a:ext cx="11149614"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No worries—let’s review this section of the instructions </a:t>
            </a:r>
          </a:p>
          <a:p>
            <a:pPr algn="ctr"/>
            <a:r>
              <a:rPr lang="en-US" sz="3000" u="sng" dirty="0">
                <a:solidFill>
                  <a:srgbClr val="C00000"/>
                </a:solidFill>
                <a:latin typeface="Segoe Print" panose="02000800000000000000" pitchFamily="2" charset="0"/>
              </a:rPr>
              <a:t>one last time.</a:t>
            </a:r>
          </a:p>
          <a:p>
            <a:pPr algn="ctr"/>
            <a:br>
              <a:rPr lang="en-US" sz="2800" dirty="0">
                <a:latin typeface="Segoe Print" panose="02000800000000000000" pitchFamily="2" charset="0"/>
              </a:rPr>
            </a:br>
            <a:r>
              <a:rPr lang="en-US" sz="2000" dirty="0">
                <a:latin typeface="Segoe Print" panose="02000800000000000000" pitchFamily="2" charset="0"/>
              </a:rPr>
              <a:t>To be clear, any more incorrect answers will end the game and result in </a:t>
            </a:r>
            <a:r>
              <a:rPr lang="en-US" sz="2000" b="1" dirty="0">
                <a:latin typeface="Segoe Print" panose="02000800000000000000" pitchFamily="2" charset="0"/>
              </a:rPr>
              <a:t>minimal compensation</a:t>
            </a:r>
            <a:r>
              <a:rPr lang="en-US" sz="2000" dirty="0">
                <a:latin typeface="Segoe Print" panose="02000800000000000000" pitchFamily="2" charset="0"/>
              </a:rPr>
              <a:t>.</a:t>
            </a:r>
            <a:endParaRPr lang="en-US" sz="2800" dirty="0">
              <a:latin typeface="Segoe Print" panose="02000800000000000000" pitchFamily="2" charset="0"/>
            </a:endParaRPr>
          </a:p>
        </p:txBody>
      </p:sp>
    </p:spTree>
    <p:extLst>
      <p:ext uri="{BB962C8B-B14F-4D97-AF65-F5344CB8AC3E}">
        <p14:creationId xmlns:p14="http://schemas.microsoft.com/office/powerpoint/2010/main" val="3149040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0C082-AF97-4452-34BD-0D752EE2B7C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4AD3F98-CD31-DAF6-DDDD-3AB79A1F8C44}"/>
              </a:ext>
            </a:extLst>
          </p:cNvPr>
          <p:cNvSpPr txBox="1">
            <a:spLocks/>
          </p:cNvSpPr>
          <p:nvPr/>
        </p:nvSpPr>
        <p:spPr>
          <a:xfrm>
            <a:off x="838200" y="1404891"/>
            <a:ext cx="10515600" cy="40482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Unfortunately, you have not passed the comprehension portion of the task, so the game will have to end here. </a:t>
            </a:r>
          </a:p>
          <a:p>
            <a:pPr algn="ctr"/>
            <a:endParaRPr lang="en-US" sz="4000" dirty="0">
              <a:latin typeface="Segoe Print" panose="02000800000000000000" pitchFamily="2" charset="0"/>
            </a:endParaRPr>
          </a:p>
          <a:p>
            <a:pPr algn="ctr"/>
            <a:r>
              <a:rPr lang="en-US" sz="4000" dirty="0">
                <a:latin typeface="Segoe Print" panose="02000800000000000000" pitchFamily="2" charset="0"/>
              </a:rPr>
              <a:t>Thank you for your participation!</a:t>
            </a:r>
          </a:p>
        </p:txBody>
      </p:sp>
    </p:spTree>
    <p:extLst>
      <p:ext uri="{BB962C8B-B14F-4D97-AF65-F5344CB8AC3E}">
        <p14:creationId xmlns:p14="http://schemas.microsoft.com/office/powerpoint/2010/main" val="208126101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F72CE-7E6D-4EE1-E697-294BFCF9370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972259D-E773-D545-7AF9-D3B1F1B0280F}"/>
              </a:ext>
            </a:extLst>
          </p:cNvPr>
          <p:cNvSpPr txBox="1">
            <a:spLocks/>
          </p:cNvSpPr>
          <p:nvPr/>
        </p:nvSpPr>
        <p:spPr>
          <a:xfrm>
            <a:off x="838200" y="4338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Awesome! Here’s how you can help BleeBlop:</a:t>
            </a:r>
          </a:p>
        </p:txBody>
      </p:sp>
      <p:pic>
        <p:nvPicPr>
          <p:cNvPr id="7" name="Picture 6">
            <a:extLst>
              <a:ext uri="{FF2B5EF4-FFF2-40B4-BE49-F238E27FC236}">
                <a16:creationId xmlns:a16="http://schemas.microsoft.com/office/drawing/2014/main" id="{7513F497-6D04-F4FF-BC35-5065477204A5}"/>
              </a:ext>
            </a:extLst>
          </p:cNvPr>
          <p:cNvPicPr>
            <a:picLocks noChangeAspect="1"/>
          </p:cNvPicPr>
          <p:nvPr/>
        </p:nvPicPr>
        <p:blipFill>
          <a:blip r:embed="rId2"/>
          <a:stretch>
            <a:fillRect/>
          </a:stretch>
        </p:blipFill>
        <p:spPr>
          <a:xfrm>
            <a:off x="4090929" y="2446637"/>
            <a:ext cx="4010137" cy="3791402"/>
          </a:xfrm>
          <a:prstGeom prst="rect">
            <a:avLst/>
          </a:prstGeom>
        </p:spPr>
      </p:pic>
      <p:sp>
        <p:nvSpPr>
          <p:cNvPr id="2" name="5-Point Star 1">
            <a:extLst>
              <a:ext uri="{FF2B5EF4-FFF2-40B4-BE49-F238E27FC236}">
                <a16:creationId xmlns:a16="http://schemas.microsoft.com/office/drawing/2014/main" id="{C8127736-1A7E-8581-CA3E-2F20E8931C14}"/>
              </a:ext>
            </a:extLst>
          </p:cNvPr>
          <p:cNvSpPr/>
          <p:nvPr/>
        </p:nvSpPr>
        <p:spPr>
          <a:xfrm>
            <a:off x="5650992" y="4471416"/>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285601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B6E971E-5377-2F8D-ADE4-BE7E9B48C191}"/>
              </a:ext>
            </a:extLst>
          </p:cNvPr>
          <p:cNvSpPr txBox="1">
            <a:spLocks/>
          </p:cNvSpPr>
          <p:nvPr/>
        </p:nvSpPr>
        <p:spPr>
          <a:xfrm>
            <a:off x="838200" y="4338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Use the left arrow key to add to the main gloop container.</a:t>
            </a:r>
          </a:p>
        </p:txBody>
      </p:sp>
      <p:pic>
        <p:nvPicPr>
          <p:cNvPr id="13" name="Picture 12" descr="A cartoon of a robot&#10;&#10;AI-generated content may be incorrect.">
            <a:extLst>
              <a:ext uri="{FF2B5EF4-FFF2-40B4-BE49-F238E27FC236}">
                <a16:creationId xmlns:a16="http://schemas.microsoft.com/office/drawing/2014/main" id="{F29C58F3-C2B1-8E9F-0F09-A7AB385015DC}"/>
              </a:ext>
            </a:extLst>
          </p:cNvPr>
          <p:cNvPicPr>
            <a:picLocks noChangeAspect="1"/>
          </p:cNvPicPr>
          <p:nvPr/>
        </p:nvPicPr>
        <p:blipFill>
          <a:blip r:embed="rId3"/>
          <a:srcRect l="11913" t="30859" r="32800" b="12796"/>
          <a:stretch>
            <a:fillRect/>
          </a:stretch>
        </p:blipFill>
        <p:spPr>
          <a:xfrm>
            <a:off x="3637944" y="1943888"/>
            <a:ext cx="7642969" cy="4381383"/>
          </a:xfrm>
          <a:prstGeom prst="rect">
            <a:avLst/>
          </a:prstGeom>
        </p:spPr>
      </p:pic>
      <p:sp>
        <p:nvSpPr>
          <p:cNvPr id="14" name="TextBox 13">
            <a:extLst>
              <a:ext uri="{FF2B5EF4-FFF2-40B4-BE49-F238E27FC236}">
                <a16:creationId xmlns:a16="http://schemas.microsoft.com/office/drawing/2014/main" id="{6C68CBBE-1658-BC2D-97FB-DEADAD579530}"/>
              </a:ext>
            </a:extLst>
          </p:cNvPr>
          <p:cNvSpPr txBox="1"/>
          <p:nvPr/>
        </p:nvSpPr>
        <p:spPr>
          <a:xfrm>
            <a:off x="8322542" y="3288516"/>
            <a:ext cx="791642" cy="646331"/>
          </a:xfrm>
          <a:prstGeom prst="rect">
            <a:avLst/>
          </a:prstGeom>
          <a:solidFill>
            <a:schemeClr val="bg1"/>
          </a:solidFill>
        </p:spPr>
        <p:txBody>
          <a:bodyPr wrap="square">
            <a:spAutoFit/>
          </a:bodyPr>
          <a:lstStyle/>
          <a:p>
            <a:r>
              <a:rPr lang="en-US" sz="1800" dirty="0">
                <a:latin typeface="Segoe Print" panose="02000800000000000000" pitchFamily="2" charset="0"/>
              </a:rPr>
              <a:t>Add gloop</a:t>
            </a:r>
          </a:p>
        </p:txBody>
      </p:sp>
    </p:spTree>
    <p:extLst>
      <p:ext uri="{BB962C8B-B14F-4D97-AF65-F5344CB8AC3E}">
        <p14:creationId xmlns:p14="http://schemas.microsoft.com/office/powerpoint/2010/main" val="3326784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5A6FB97-AAEA-B4B9-E5EB-AD20715CBF59}"/>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Sometimes, Bleeblop will have an extra storage container for their gloop.</a:t>
            </a:r>
          </a:p>
        </p:txBody>
      </p:sp>
      <p:pic>
        <p:nvPicPr>
          <p:cNvPr id="7" name="Picture 6">
            <a:extLst>
              <a:ext uri="{FF2B5EF4-FFF2-40B4-BE49-F238E27FC236}">
                <a16:creationId xmlns:a16="http://schemas.microsoft.com/office/drawing/2014/main" id="{536C791A-36A2-D44B-3901-F36DB861C1C0}"/>
              </a:ext>
            </a:extLst>
          </p:cNvPr>
          <p:cNvPicPr>
            <a:picLocks noChangeAspect="1"/>
          </p:cNvPicPr>
          <p:nvPr/>
        </p:nvPicPr>
        <p:blipFill>
          <a:blip r:embed="rId2"/>
          <a:stretch>
            <a:fillRect/>
          </a:stretch>
        </p:blipFill>
        <p:spPr>
          <a:xfrm>
            <a:off x="3780523" y="1943888"/>
            <a:ext cx="4630950" cy="4351977"/>
          </a:xfrm>
          <a:prstGeom prst="rect">
            <a:avLst/>
          </a:prstGeom>
        </p:spPr>
      </p:pic>
      <p:sp>
        <p:nvSpPr>
          <p:cNvPr id="2" name="5-Point Star 1">
            <a:extLst>
              <a:ext uri="{FF2B5EF4-FFF2-40B4-BE49-F238E27FC236}">
                <a16:creationId xmlns:a16="http://schemas.microsoft.com/office/drawing/2014/main" id="{DC36E9A8-0678-9299-F3AA-44C0431630AF}"/>
              </a:ext>
            </a:extLst>
          </p:cNvPr>
          <p:cNvSpPr/>
          <p:nvPr/>
        </p:nvSpPr>
        <p:spPr>
          <a:xfrm>
            <a:off x="5605272" y="4297680"/>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BE7A135-5F97-7AEE-5E96-A0A898F68656}"/>
              </a:ext>
            </a:extLst>
          </p:cNvPr>
          <p:cNvSpPr txBox="1"/>
          <p:nvPr/>
        </p:nvSpPr>
        <p:spPr>
          <a:xfrm>
            <a:off x="7386881" y="3196238"/>
            <a:ext cx="1144935" cy="523220"/>
          </a:xfrm>
          <a:prstGeom prst="rect">
            <a:avLst/>
          </a:prstGeom>
          <a:noFill/>
        </p:spPr>
        <p:txBody>
          <a:bodyPr wrap="square" rtlCol="0">
            <a:spAutoFit/>
          </a:bodyPr>
          <a:lstStyle/>
          <a:p>
            <a:r>
              <a:rPr lang="en-US" sz="1400" dirty="0">
                <a:latin typeface="Segoe Print" panose="02000800000000000000" pitchFamily="2" charset="0"/>
              </a:rPr>
              <a:t>Storage Container</a:t>
            </a:r>
          </a:p>
        </p:txBody>
      </p:sp>
      <p:cxnSp>
        <p:nvCxnSpPr>
          <p:cNvPr id="5" name="Straight Arrow Connector 4">
            <a:extLst>
              <a:ext uri="{FF2B5EF4-FFF2-40B4-BE49-F238E27FC236}">
                <a16:creationId xmlns:a16="http://schemas.microsoft.com/office/drawing/2014/main" id="{4984CA7B-6402-AF80-C38D-776E7B8EBF5E}"/>
              </a:ext>
            </a:extLst>
          </p:cNvPr>
          <p:cNvCxnSpPr>
            <a:cxnSpLocks/>
          </p:cNvCxnSpPr>
          <p:nvPr/>
        </p:nvCxnSpPr>
        <p:spPr>
          <a:xfrm flipH="1">
            <a:off x="6693408" y="3557016"/>
            <a:ext cx="704088" cy="1161288"/>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603602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868B-E242-7F6F-CC48-D78E778AAB5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E859985-01EC-C143-C886-15B7C241AE2D}"/>
              </a:ext>
            </a:extLst>
          </p:cNvPr>
          <p:cNvSpPr txBox="1">
            <a:spLocks noGrp="1"/>
          </p:cNvSpPr>
          <p:nvPr>
            <p:ph type="title"/>
          </p:nvPr>
        </p:nvSpPr>
        <p:spPr>
          <a:xfrm>
            <a:off x="324787" y="256100"/>
            <a:ext cx="11542426" cy="132556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When BleeBlop has more than the ideal amount of gloop, the gloop that naturally drains will fill this container.</a:t>
            </a:r>
          </a:p>
        </p:txBody>
      </p:sp>
      <p:pic>
        <p:nvPicPr>
          <p:cNvPr id="4" name="Picture 3" descr="A screenshot of a video game&#10;&#10;AI-generated content may be incorrect.">
            <a:extLst>
              <a:ext uri="{FF2B5EF4-FFF2-40B4-BE49-F238E27FC236}">
                <a16:creationId xmlns:a16="http://schemas.microsoft.com/office/drawing/2014/main" id="{C59DE664-818F-1F7F-1BAC-4B8F9E3DF143}"/>
              </a:ext>
            </a:extLst>
          </p:cNvPr>
          <p:cNvPicPr>
            <a:picLocks noChangeAspect="1"/>
          </p:cNvPicPr>
          <p:nvPr/>
        </p:nvPicPr>
        <p:blipFill>
          <a:blip r:embed="rId3"/>
          <a:srcRect l="13718" t="1634" r="2654"/>
          <a:stretch>
            <a:fillRect/>
          </a:stretch>
        </p:blipFill>
        <p:spPr>
          <a:xfrm>
            <a:off x="5000882" y="1781389"/>
            <a:ext cx="2194661" cy="3495197"/>
          </a:xfrm>
          <a:prstGeom prst="rect">
            <a:avLst/>
          </a:prstGeom>
        </p:spPr>
      </p:pic>
    </p:spTree>
    <p:extLst>
      <p:ext uri="{BB962C8B-B14F-4D97-AF65-F5344CB8AC3E}">
        <p14:creationId xmlns:p14="http://schemas.microsoft.com/office/powerpoint/2010/main" val="29036610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BCBB7-65DE-AEAD-C118-4CB9EE5C7CE9}"/>
            </a:ext>
          </a:extLst>
        </p:cNvPr>
        <p:cNvGrpSpPr/>
        <p:nvPr/>
      </p:nvGrpSpPr>
      <p:grpSpPr>
        <a:xfrm>
          <a:off x="0" y="0"/>
          <a:ext cx="0" cy="0"/>
          <a:chOff x="0" y="0"/>
          <a:chExt cx="0" cy="0"/>
        </a:xfrm>
      </p:grpSpPr>
      <p:pic>
        <p:nvPicPr>
          <p:cNvPr id="6" name="Picture 5" descr="A screenshot of a video game&#10;&#10;AI-generated content may be incorrect.">
            <a:extLst>
              <a:ext uri="{FF2B5EF4-FFF2-40B4-BE49-F238E27FC236}">
                <a16:creationId xmlns:a16="http://schemas.microsoft.com/office/drawing/2014/main" id="{1A7A0D00-169E-4464-E914-4DE6B1E0869A}"/>
              </a:ext>
            </a:extLst>
          </p:cNvPr>
          <p:cNvPicPr>
            <a:picLocks noChangeAspect="1"/>
          </p:cNvPicPr>
          <p:nvPr/>
        </p:nvPicPr>
        <p:blipFill>
          <a:blip r:embed="rId3"/>
          <a:srcRect l="13848" t="2202" r="3187" b="424"/>
          <a:stretch>
            <a:fillRect/>
          </a:stretch>
        </p:blipFill>
        <p:spPr>
          <a:xfrm>
            <a:off x="4996457" y="1781637"/>
            <a:ext cx="2199086" cy="3494700"/>
          </a:xfrm>
          <a:prstGeom prst="rect">
            <a:avLst/>
          </a:prstGeom>
        </p:spPr>
      </p:pic>
      <p:sp>
        <p:nvSpPr>
          <p:cNvPr id="7" name="Title 1">
            <a:extLst>
              <a:ext uri="{FF2B5EF4-FFF2-40B4-BE49-F238E27FC236}">
                <a16:creationId xmlns:a16="http://schemas.microsoft.com/office/drawing/2014/main" id="{2D320FD5-7A04-7653-4792-601601761640}"/>
              </a:ext>
            </a:extLst>
          </p:cNvPr>
          <p:cNvSpPr txBox="1">
            <a:spLocks/>
          </p:cNvSpPr>
          <p:nvPr/>
        </p:nvSpPr>
        <p:spPr>
          <a:xfrm>
            <a:off x="943131" y="527633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If their gloop is at or below the ideal level, the draining gloop is simply lost.</a:t>
            </a:r>
          </a:p>
        </p:txBody>
      </p:sp>
      <p:sp>
        <p:nvSpPr>
          <p:cNvPr id="8" name="Title 1">
            <a:extLst>
              <a:ext uri="{FF2B5EF4-FFF2-40B4-BE49-F238E27FC236}">
                <a16:creationId xmlns:a16="http://schemas.microsoft.com/office/drawing/2014/main" id="{D175748D-AB28-5919-8DF2-E4A7BDD20151}"/>
              </a:ext>
            </a:extLst>
          </p:cNvPr>
          <p:cNvSpPr txBox="1">
            <a:spLocks/>
          </p:cNvSpPr>
          <p:nvPr/>
        </p:nvSpPr>
        <p:spPr>
          <a:xfrm>
            <a:off x="838200" y="256100"/>
            <a:ext cx="10515600" cy="132556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IMPORTANT: this only happens if Bleeblop has MORE than the ideal amount of gloop.</a:t>
            </a:r>
          </a:p>
        </p:txBody>
      </p:sp>
    </p:spTree>
    <p:extLst>
      <p:ext uri="{BB962C8B-B14F-4D97-AF65-F5344CB8AC3E}">
        <p14:creationId xmlns:p14="http://schemas.microsoft.com/office/powerpoint/2010/main" val="302840207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F5D40-F155-814C-EE0C-9AFAB7FD09F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2B5BFA9-66CF-50E4-A6B8-D1287DC47242}"/>
              </a:ext>
            </a:extLst>
          </p:cNvPr>
          <p:cNvSpPr txBox="1">
            <a:spLocks/>
          </p:cNvSpPr>
          <p:nvPr/>
        </p:nvSpPr>
        <p:spPr>
          <a:xfrm>
            <a:off x="431809" y="382248"/>
            <a:ext cx="1132837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By clicking the up arrow, you can dump some stored gloop back into the main gloop container.</a:t>
            </a:r>
          </a:p>
        </p:txBody>
      </p:sp>
      <p:pic>
        <p:nvPicPr>
          <p:cNvPr id="16" name="Picture 15" descr="A cartoon of a robot&#10;&#10;AI-generated content may be incorrect.">
            <a:extLst>
              <a:ext uri="{FF2B5EF4-FFF2-40B4-BE49-F238E27FC236}">
                <a16:creationId xmlns:a16="http://schemas.microsoft.com/office/drawing/2014/main" id="{D750F0FE-0E07-48A0-988F-82D038D629E8}"/>
              </a:ext>
            </a:extLst>
          </p:cNvPr>
          <p:cNvPicPr>
            <a:picLocks noChangeAspect="1"/>
          </p:cNvPicPr>
          <p:nvPr/>
        </p:nvPicPr>
        <p:blipFill>
          <a:blip r:embed="rId3"/>
          <a:srcRect l="16667" t="24786" r="23422" b="19088"/>
          <a:stretch>
            <a:fillRect/>
          </a:stretch>
        </p:blipFill>
        <p:spPr>
          <a:xfrm>
            <a:off x="3154894" y="2171160"/>
            <a:ext cx="8308491" cy="4378354"/>
          </a:xfrm>
          <a:prstGeom prst="rect">
            <a:avLst/>
          </a:prstGeom>
        </p:spPr>
      </p:pic>
      <p:sp>
        <p:nvSpPr>
          <p:cNvPr id="17" name="TextBox 16">
            <a:extLst>
              <a:ext uri="{FF2B5EF4-FFF2-40B4-BE49-F238E27FC236}">
                <a16:creationId xmlns:a16="http://schemas.microsoft.com/office/drawing/2014/main" id="{C0FA8D63-CD78-A553-AC5F-FCFD71425C0D}"/>
              </a:ext>
            </a:extLst>
          </p:cNvPr>
          <p:cNvSpPr txBox="1"/>
          <p:nvPr/>
        </p:nvSpPr>
        <p:spPr>
          <a:xfrm>
            <a:off x="9274893" y="2819400"/>
            <a:ext cx="2485293" cy="969496"/>
          </a:xfrm>
          <a:prstGeom prst="rect">
            <a:avLst/>
          </a:prstGeom>
          <a:solidFill>
            <a:schemeClr val="bg1"/>
          </a:solidFill>
        </p:spPr>
        <p:txBody>
          <a:bodyPr wrap="square">
            <a:spAutoFit/>
          </a:bodyPr>
          <a:lstStyle/>
          <a:p>
            <a:r>
              <a:rPr lang="en-US" sz="1900" dirty="0">
                <a:latin typeface="Segoe Print" panose="02000800000000000000" pitchFamily="2" charset="0"/>
              </a:rPr>
              <a:t>Move gloop from storage to main container</a:t>
            </a:r>
          </a:p>
        </p:txBody>
      </p:sp>
    </p:spTree>
    <p:extLst>
      <p:ext uri="{BB962C8B-B14F-4D97-AF65-F5344CB8AC3E}">
        <p14:creationId xmlns:p14="http://schemas.microsoft.com/office/powerpoint/2010/main" val="10214413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DCE9F-1299-96BE-3363-DE1BA0685CA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30B6AB2-43C7-4501-BC01-20C62BC6D47B}"/>
              </a:ext>
            </a:extLst>
          </p:cNvPr>
          <p:cNvSpPr txBox="1"/>
          <p:nvPr/>
        </p:nvSpPr>
        <p:spPr>
          <a:xfrm>
            <a:off x="2120900" y="1912422"/>
            <a:ext cx="7950200" cy="4755078"/>
          </a:xfrm>
          <a:prstGeom prst="rect">
            <a:avLst/>
          </a:prstGeom>
          <a:solidFill>
            <a:srgbClr val="9D96E4"/>
          </a:solidFill>
        </p:spPr>
        <p:txBody>
          <a:bodyPr wrap="square" rtlCol="0">
            <a:spAutoFit/>
          </a:bodyPr>
          <a:lstStyle/>
          <a:p>
            <a:endParaRPr lang="en-US" dirty="0"/>
          </a:p>
        </p:txBody>
      </p:sp>
      <p:sp>
        <p:nvSpPr>
          <p:cNvPr id="3" name="Title 1">
            <a:extLst>
              <a:ext uri="{FF2B5EF4-FFF2-40B4-BE49-F238E27FC236}">
                <a16:creationId xmlns:a16="http://schemas.microsoft.com/office/drawing/2014/main" id="{4FC1EE4D-DD42-4024-6964-CDD59CB7E895}"/>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At the end of each day, you will get to see how far you helped Bleeblop travel.</a:t>
            </a:r>
          </a:p>
        </p:txBody>
      </p:sp>
      <p:pic>
        <p:nvPicPr>
          <p:cNvPr id="10" name="Picture 9" descr="A screenshot of a video game&#10;&#10;AI-generated content may be incorrect.">
            <a:extLst>
              <a:ext uri="{FF2B5EF4-FFF2-40B4-BE49-F238E27FC236}">
                <a16:creationId xmlns:a16="http://schemas.microsoft.com/office/drawing/2014/main" id="{DA68DBC1-5F6A-B542-DBC0-15C9F75D8EC1}"/>
              </a:ext>
            </a:extLst>
          </p:cNvPr>
          <p:cNvPicPr>
            <a:picLocks noChangeAspect="1"/>
          </p:cNvPicPr>
          <p:nvPr/>
        </p:nvPicPr>
        <p:blipFill>
          <a:blip r:embed="rId4"/>
          <a:srcRect r="10" b="66"/>
          <a:stretch>
            <a:fillRect/>
          </a:stretch>
        </p:blipFill>
        <p:spPr>
          <a:xfrm>
            <a:off x="2533848" y="2469713"/>
            <a:ext cx="7124304" cy="4023162"/>
          </a:xfrm>
          <a:prstGeom prst="rect">
            <a:avLst/>
          </a:prstGeom>
        </p:spPr>
      </p:pic>
      <p:sp>
        <p:nvSpPr>
          <p:cNvPr id="4" name="TextBox 3">
            <a:extLst>
              <a:ext uri="{FF2B5EF4-FFF2-40B4-BE49-F238E27FC236}">
                <a16:creationId xmlns:a16="http://schemas.microsoft.com/office/drawing/2014/main" id="{6E3B4851-CDC2-EF5B-2C4B-51F606877526}"/>
              </a:ext>
            </a:extLst>
          </p:cNvPr>
          <p:cNvSpPr txBox="1"/>
          <p:nvPr/>
        </p:nvSpPr>
        <p:spPr>
          <a:xfrm>
            <a:off x="4006850" y="1912422"/>
            <a:ext cx="4178300" cy="646331"/>
          </a:xfrm>
          <a:prstGeom prst="rect">
            <a:avLst/>
          </a:prstGeom>
          <a:noFill/>
        </p:spPr>
        <p:txBody>
          <a:bodyPr wrap="square">
            <a:spAutoFit/>
          </a:bodyPr>
          <a:lstStyle/>
          <a:p>
            <a:pPr algn="ctr">
              <a:spcAft>
                <a:spcPts val="1500"/>
              </a:spcAft>
              <a:buNone/>
            </a:pPr>
            <a:r>
              <a:rPr lang="en-US" sz="3600" b="1" i="0" dirty="0">
                <a:solidFill>
                  <a:srgbClr val="17A349"/>
                </a:solidFill>
                <a:effectLst/>
                <a:latin typeface="Arial" panose="020B0604020202020204" pitchFamily="34" charset="0"/>
              </a:rPr>
              <a:t>Miles traveled: 5.6 </a:t>
            </a:r>
            <a:r>
              <a:rPr lang="en-US" sz="3600" b="1" i="0" dirty="0">
                <a:solidFill>
                  <a:schemeClr val="accent3">
                    <a:lumMod val="60000"/>
                    <a:lumOff val="40000"/>
                  </a:schemeClr>
                </a:solidFill>
                <a:effectLst/>
                <a:latin typeface="Arial" panose="020B0604020202020204" pitchFamily="34" charset="0"/>
              </a:rPr>
              <a:t> </a:t>
            </a:r>
          </a:p>
        </p:txBody>
      </p:sp>
    </p:spTree>
    <p:extLst>
      <p:ext uri="{BB962C8B-B14F-4D97-AF65-F5344CB8AC3E}">
        <p14:creationId xmlns:p14="http://schemas.microsoft.com/office/powerpoint/2010/main" val="17398750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96BD9-378D-0404-C12C-C1E8AEA82BB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93DF858-17CA-D315-AF54-73577D74711A}"/>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Bleeblop’s gloop levels will reset when the new day begins,</a:t>
            </a:r>
          </a:p>
        </p:txBody>
      </p:sp>
      <p:pic>
        <p:nvPicPr>
          <p:cNvPr id="5" name="Picture 4">
            <a:extLst>
              <a:ext uri="{FF2B5EF4-FFF2-40B4-BE49-F238E27FC236}">
                <a16:creationId xmlns:a16="http://schemas.microsoft.com/office/drawing/2014/main" id="{BC78BE87-20AB-0C3F-1D30-CF041F6104EB}"/>
              </a:ext>
            </a:extLst>
          </p:cNvPr>
          <p:cNvPicPr>
            <a:picLocks noChangeAspect="1"/>
          </p:cNvPicPr>
          <p:nvPr/>
        </p:nvPicPr>
        <p:blipFill>
          <a:blip r:embed="rId3"/>
          <a:stretch>
            <a:fillRect/>
          </a:stretch>
        </p:blipFill>
        <p:spPr>
          <a:xfrm>
            <a:off x="3780523" y="1943888"/>
            <a:ext cx="4630951" cy="4378354"/>
          </a:xfrm>
          <a:prstGeom prst="rect">
            <a:avLst/>
          </a:prstGeom>
        </p:spPr>
      </p:pic>
      <p:sp>
        <p:nvSpPr>
          <p:cNvPr id="2" name="5-Point Star 1">
            <a:extLst>
              <a:ext uri="{FF2B5EF4-FFF2-40B4-BE49-F238E27FC236}">
                <a16:creationId xmlns:a16="http://schemas.microsoft.com/office/drawing/2014/main" id="{6C7A3985-08F6-69DD-845F-E222DA277437}"/>
              </a:ext>
            </a:extLst>
          </p:cNvPr>
          <p:cNvSpPr/>
          <p:nvPr/>
        </p:nvSpPr>
        <p:spPr>
          <a:xfrm>
            <a:off x="5650992" y="430682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1676854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8E4F7-D67C-B916-4285-ED131CA2F90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9D11BBB-6C82-7FFD-9B80-1C7AD49A67D3}"/>
              </a:ext>
            </a:extLst>
          </p:cNvPr>
          <p:cNvSpPr txBox="1">
            <a:spLocks noGrp="1"/>
          </p:cNvSpPr>
          <p:nvPr>
            <p:ph type="title"/>
          </p:nvPr>
        </p:nvSpPr>
        <p:spPr>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But you’ll get to keep whatever gloop you’ve stored (even if it isn’t always accessible).</a:t>
            </a:r>
          </a:p>
        </p:txBody>
      </p:sp>
      <p:pic>
        <p:nvPicPr>
          <p:cNvPr id="4" name="Picture 3">
            <a:extLst>
              <a:ext uri="{FF2B5EF4-FFF2-40B4-BE49-F238E27FC236}">
                <a16:creationId xmlns:a16="http://schemas.microsoft.com/office/drawing/2014/main" id="{E6C0A404-F4B8-4F4B-938D-2B4F99BD580A}"/>
              </a:ext>
            </a:extLst>
          </p:cNvPr>
          <p:cNvPicPr>
            <a:picLocks noChangeAspect="1"/>
          </p:cNvPicPr>
          <p:nvPr/>
        </p:nvPicPr>
        <p:blipFill>
          <a:blip r:embed="rId2"/>
          <a:stretch>
            <a:fillRect/>
          </a:stretch>
        </p:blipFill>
        <p:spPr>
          <a:xfrm>
            <a:off x="3780523" y="1943888"/>
            <a:ext cx="4630950" cy="4351977"/>
          </a:xfrm>
          <a:prstGeom prst="rect">
            <a:avLst/>
          </a:prstGeom>
        </p:spPr>
      </p:pic>
      <p:sp>
        <p:nvSpPr>
          <p:cNvPr id="2" name="5-Point Star 1">
            <a:extLst>
              <a:ext uri="{FF2B5EF4-FFF2-40B4-BE49-F238E27FC236}">
                <a16:creationId xmlns:a16="http://schemas.microsoft.com/office/drawing/2014/main" id="{382CBDEC-F18B-1311-2F5F-DD25AC7DCBDA}"/>
              </a:ext>
            </a:extLst>
          </p:cNvPr>
          <p:cNvSpPr/>
          <p:nvPr/>
        </p:nvSpPr>
        <p:spPr>
          <a:xfrm>
            <a:off x="5632704" y="4297680"/>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798533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D75EE-FB6A-59A1-3C39-000C35E545D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2C42BA6-53C6-B430-C5E2-E5F1A1E99FE9}"/>
              </a:ext>
            </a:extLst>
          </p:cNvPr>
          <p:cNvSpPr txBox="1">
            <a:spLocks/>
          </p:cNvSpPr>
          <p:nvPr/>
        </p:nvSpPr>
        <p:spPr>
          <a:xfrm>
            <a:off x="838200" y="3651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To summarize…</a:t>
            </a:r>
          </a:p>
        </p:txBody>
      </p:sp>
      <p:sp>
        <p:nvSpPr>
          <p:cNvPr id="4" name="Title 1">
            <a:extLst>
              <a:ext uri="{FF2B5EF4-FFF2-40B4-BE49-F238E27FC236}">
                <a16:creationId xmlns:a16="http://schemas.microsoft.com/office/drawing/2014/main" id="{2D4BF154-8F9E-F2C0-E384-80E97455C1DD}"/>
              </a:ext>
            </a:extLst>
          </p:cNvPr>
          <p:cNvSpPr txBox="1">
            <a:spLocks/>
          </p:cNvSpPr>
          <p:nvPr/>
        </p:nvSpPr>
        <p:spPr>
          <a:xfrm>
            <a:off x="838200" y="2050451"/>
            <a:ext cx="10515600" cy="323169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Tx/>
              <a:buChar char="-"/>
            </a:pPr>
            <a:r>
              <a:rPr lang="en-US" sz="2200" dirty="0">
                <a:latin typeface="Segoe Print" panose="02000800000000000000" pitchFamily="2" charset="0"/>
              </a:rPr>
              <a:t>Use the left arrow key to add gloop to the main container</a:t>
            </a:r>
          </a:p>
          <a:p>
            <a:pPr marL="457200" indent="-457200">
              <a:lnSpc>
                <a:spcPct val="200000"/>
              </a:lnSpc>
              <a:buFontTx/>
              <a:buChar char="-"/>
            </a:pPr>
            <a:r>
              <a:rPr lang="en-US" sz="2200" dirty="0">
                <a:latin typeface="Segoe Print" panose="02000800000000000000" pitchFamily="2" charset="0"/>
              </a:rPr>
              <a:t>Use the up arrow key to dump gloop to the main container from storage</a:t>
            </a:r>
          </a:p>
          <a:p>
            <a:pPr marL="457200" indent="-457200">
              <a:lnSpc>
                <a:spcPct val="200000"/>
              </a:lnSpc>
              <a:buFontTx/>
              <a:buChar char="-"/>
            </a:pPr>
            <a:r>
              <a:rPr lang="en-US" sz="2200" dirty="0">
                <a:latin typeface="Segoe Print" panose="02000800000000000000" pitchFamily="2" charset="0"/>
              </a:rPr>
              <a:t>Draining gloop will ONLY be stored when Bleeblop’s main gloop container is filled above the ideal level AND there is storage space available</a:t>
            </a:r>
          </a:p>
          <a:p>
            <a:pPr marL="457200" indent="-457200">
              <a:lnSpc>
                <a:spcPct val="200000"/>
              </a:lnSpc>
              <a:buFontTx/>
              <a:buChar char="-"/>
            </a:pPr>
            <a:r>
              <a:rPr lang="en-US" sz="2200" dirty="0">
                <a:latin typeface="Segoe Print" panose="02000800000000000000" pitchFamily="2" charset="0"/>
              </a:rPr>
              <a:t>The main gloop container resets every day, but stored gloop is maintained</a:t>
            </a:r>
          </a:p>
          <a:p>
            <a:pPr>
              <a:lnSpc>
                <a:spcPct val="200000"/>
              </a:lnSpc>
            </a:pPr>
            <a:endParaRPr lang="en-US" sz="2200" dirty="0">
              <a:latin typeface="Segoe Print" panose="02000800000000000000" pitchFamily="2" charset="0"/>
            </a:endParaRPr>
          </a:p>
        </p:txBody>
      </p:sp>
    </p:spTree>
    <p:extLst>
      <p:ext uri="{BB962C8B-B14F-4D97-AF65-F5344CB8AC3E}">
        <p14:creationId xmlns:p14="http://schemas.microsoft.com/office/powerpoint/2010/main" val="41064977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7F15-D30E-3F28-9933-88790F6A15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C7FD28-F80C-7942-0E23-F74837253354}"/>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happens if Bleeblop overheats?</a:t>
            </a:r>
          </a:p>
        </p:txBody>
      </p:sp>
      <p:sp>
        <p:nvSpPr>
          <p:cNvPr id="2" name="Title 1">
            <a:extLst>
              <a:ext uri="{FF2B5EF4-FFF2-40B4-BE49-F238E27FC236}">
                <a16:creationId xmlns:a16="http://schemas.microsoft.com/office/drawing/2014/main" id="{84070611-517C-B8D7-E9AF-98E49DC9B14D}"/>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Bleeblop moves at superspeed</a:t>
            </a:r>
          </a:p>
          <a:p>
            <a:pPr marL="457200" indent="-457200">
              <a:lnSpc>
                <a:spcPct val="200000"/>
              </a:lnSpc>
              <a:buFont typeface="Wingdings" pitchFamily="2" charset="2"/>
              <a:buChar char="q"/>
            </a:pPr>
            <a:r>
              <a:rPr lang="en-US" sz="2200" dirty="0">
                <a:latin typeface="Segoe Print" panose="02000800000000000000" pitchFamily="2" charset="0"/>
              </a:rPr>
              <a:t>Nothing</a:t>
            </a:r>
          </a:p>
          <a:p>
            <a:pPr marL="457200" indent="-457200">
              <a:lnSpc>
                <a:spcPct val="200000"/>
              </a:lnSpc>
              <a:buFont typeface="Wingdings" pitchFamily="2" charset="2"/>
              <a:buChar char="q"/>
            </a:pPr>
            <a:r>
              <a:rPr lang="en-US" sz="2200" dirty="0">
                <a:latin typeface="Segoe Print" panose="02000800000000000000" pitchFamily="2" charset="0"/>
              </a:rPr>
              <a:t>Bleeblop goes back for help and loses progress </a:t>
            </a:r>
          </a:p>
          <a:p>
            <a:pPr marL="457200" indent="-457200">
              <a:lnSpc>
                <a:spcPct val="200000"/>
              </a:lnSpc>
              <a:buFont typeface="Wingdings" pitchFamily="2" charset="2"/>
              <a:buChar char="q"/>
            </a:pPr>
            <a:r>
              <a:rPr lang="en-US" sz="2200" dirty="0" err="1">
                <a:latin typeface="Segoe Print" panose="02000800000000000000" pitchFamily="2" charset="0"/>
              </a:rPr>
              <a:t>Bleeblop</a:t>
            </a:r>
            <a:r>
              <a:rPr lang="en-US" sz="2200" dirty="0">
                <a:latin typeface="Segoe Print" panose="02000800000000000000" pitchFamily="2" charset="0"/>
              </a:rPr>
              <a:t> gives up and the game ends</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30746159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5F15A-07C4-A294-694C-4487EA977D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C638AB-1A58-78EE-84D0-7FCFDE754719}"/>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happens if Bleeblop shuts down?</a:t>
            </a:r>
          </a:p>
        </p:txBody>
      </p:sp>
      <p:sp>
        <p:nvSpPr>
          <p:cNvPr id="2" name="Title 1">
            <a:extLst>
              <a:ext uri="{FF2B5EF4-FFF2-40B4-BE49-F238E27FC236}">
                <a16:creationId xmlns:a16="http://schemas.microsoft.com/office/drawing/2014/main" id="{CEE4257F-6354-9B1B-684A-261DE50D433E}"/>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Nothing</a:t>
            </a:r>
          </a:p>
          <a:p>
            <a:pPr marL="457200" indent="-457200">
              <a:lnSpc>
                <a:spcPct val="200000"/>
              </a:lnSpc>
              <a:buFont typeface="Wingdings" pitchFamily="2" charset="2"/>
              <a:buChar char="q"/>
            </a:pPr>
            <a:r>
              <a:rPr lang="en-US" sz="2200" dirty="0">
                <a:latin typeface="Segoe Print" panose="02000800000000000000" pitchFamily="2" charset="0"/>
              </a:rPr>
              <a:t>Bleeblop stops moving</a:t>
            </a:r>
          </a:p>
          <a:p>
            <a:pPr marL="457200" indent="-457200">
              <a:lnSpc>
                <a:spcPct val="200000"/>
              </a:lnSpc>
              <a:buFont typeface="Wingdings" pitchFamily="2" charset="2"/>
              <a:buChar char="q"/>
            </a:pPr>
            <a:r>
              <a:rPr lang="en-US" sz="2200" dirty="0" err="1">
                <a:latin typeface="Segoe Print" panose="02000800000000000000" pitchFamily="2" charset="0"/>
              </a:rPr>
              <a:t>Bleeblop</a:t>
            </a:r>
            <a:r>
              <a:rPr lang="en-US" sz="2200" dirty="0">
                <a:latin typeface="Segoe Print" panose="02000800000000000000" pitchFamily="2" charset="0"/>
              </a:rPr>
              <a:t> gives up and the game ends</a:t>
            </a:r>
          </a:p>
          <a:p>
            <a:pPr marL="457200" indent="-457200">
              <a:lnSpc>
                <a:spcPct val="200000"/>
              </a:lnSpc>
              <a:buFont typeface="Wingdings" pitchFamily="2" charset="2"/>
              <a:buChar char="q"/>
            </a:pPr>
            <a:r>
              <a:rPr lang="en-US" sz="2200" dirty="0">
                <a:latin typeface="Segoe Print" panose="02000800000000000000" pitchFamily="2" charset="0"/>
              </a:rPr>
              <a:t>Bleeblop goes back for help and loses progress </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11337246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1EBD-3B5C-9207-DE8C-EE078C726A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8FFCB3-E3D5-7E55-B21E-2AD9C92198DC}"/>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key can you use to add to Bleeblop’s main gloop container?</a:t>
            </a:r>
          </a:p>
        </p:txBody>
      </p:sp>
      <p:sp>
        <p:nvSpPr>
          <p:cNvPr id="2" name="Title 1">
            <a:extLst>
              <a:ext uri="{FF2B5EF4-FFF2-40B4-BE49-F238E27FC236}">
                <a16:creationId xmlns:a16="http://schemas.microsoft.com/office/drawing/2014/main" id="{5A3F1B1C-9EEA-1314-0991-C381465F68BB}"/>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Space bar</a:t>
            </a:r>
          </a:p>
          <a:p>
            <a:pPr marL="457200" indent="-457200">
              <a:lnSpc>
                <a:spcPct val="200000"/>
              </a:lnSpc>
              <a:buFont typeface="Wingdings" pitchFamily="2" charset="2"/>
              <a:buChar char="q"/>
            </a:pPr>
            <a:r>
              <a:rPr lang="en-US" sz="2200" dirty="0">
                <a:latin typeface="Segoe Print" panose="02000800000000000000" pitchFamily="2" charset="0"/>
              </a:rPr>
              <a:t>Left arrow key</a:t>
            </a:r>
          </a:p>
          <a:p>
            <a:pPr marL="457200" indent="-457200">
              <a:lnSpc>
                <a:spcPct val="200000"/>
              </a:lnSpc>
              <a:buFont typeface="Wingdings" pitchFamily="2" charset="2"/>
              <a:buChar char="q"/>
            </a:pPr>
            <a:r>
              <a:rPr lang="en-US" sz="2200" dirty="0">
                <a:latin typeface="Segoe Print" panose="02000800000000000000" pitchFamily="2" charset="0"/>
              </a:rPr>
              <a:t>Right arrow key</a:t>
            </a:r>
          </a:p>
          <a:p>
            <a:pPr marL="457200" indent="-457200">
              <a:lnSpc>
                <a:spcPct val="200000"/>
              </a:lnSpc>
              <a:buFont typeface="Wingdings" pitchFamily="2" charset="2"/>
              <a:buChar char="q"/>
            </a:pPr>
            <a:r>
              <a:rPr lang="en-US" sz="2200" dirty="0">
                <a:latin typeface="Segoe Print" panose="02000800000000000000" pitchFamily="2" charset="0"/>
              </a:rPr>
              <a:t>Up arrow key</a:t>
            </a:r>
          </a:p>
          <a:p>
            <a:pPr marL="457200" indent="-457200">
              <a:lnSpc>
                <a:spcPct val="200000"/>
              </a:lnSpc>
              <a:buFont typeface="Wingdings" pitchFamily="2" charset="2"/>
              <a:buChar char="q"/>
            </a:pPr>
            <a:r>
              <a:rPr lang="en-US" sz="2200" dirty="0">
                <a:latin typeface="Segoe Print" panose="02000800000000000000" pitchFamily="2" charset="0"/>
              </a:rPr>
              <a:t>Shift key</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20918509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29C5-76E3-8833-F783-66A0B397D7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B4B87B-2FB5-A717-2A87-3B58A731374D}"/>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key can you use to dump gloop into the main container from storage?</a:t>
            </a:r>
          </a:p>
        </p:txBody>
      </p:sp>
      <p:sp>
        <p:nvSpPr>
          <p:cNvPr id="2" name="Title 1">
            <a:extLst>
              <a:ext uri="{FF2B5EF4-FFF2-40B4-BE49-F238E27FC236}">
                <a16:creationId xmlns:a16="http://schemas.microsoft.com/office/drawing/2014/main" id="{D302EF25-072F-C81F-2428-7C15E1D8AE8A}"/>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Space bar</a:t>
            </a:r>
          </a:p>
          <a:p>
            <a:pPr marL="457200" indent="-457200">
              <a:lnSpc>
                <a:spcPct val="200000"/>
              </a:lnSpc>
              <a:buFont typeface="Wingdings" pitchFamily="2" charset="2"/>
              <a:buChar char="q"/>
            </a:pPr>
            <a:r>
              <a:rPr lang="en-US" sz="2200" dirty="0">
                <a:latin typeface="Segoe Print" panose="02000800000000000000" pitchFamily="2" charset="0"/>
              </a:rPr>
              <a:t>Left arrow key</a:t>
            </a:r>
          </a:p>
          <a:p>
            <a:pPr marL="457200" indent="-457200">
              <a:lnSpc>
                <a:spcPct val="200000"/>
              </a:lnSpc>
              <a:buFont typeface="Wingdings" pitchFamily="2" charset="2"/>
              <a:buChar char="q"/>
            </a:pPr>
            <a:r>
              <a:rPr lang="en-US" sz="2200" dirty="0">
                <a:latin typeface="Segoe Print" panose="02000800000000000000" pitchFamily="2" charset="0"/>
              </a:rPr>
              <a:t>Right arrow key</a:t>
            </a:r>
          </a:p>
          <a:p>
            <a:pPr marL="457200" indent="-457200">
              <a:lnSpc>
                <a:spcPct val="200000"/>
              </a:lnSpc>
              <a:buFont typeface="Wingdings" pitchFamily="2" charset="2"/>
              <a:buChar char="q"/>
            </a:pPr>
            <a:r>
              <a:rPr lang="en-US" sz="2200" dirty="0">
                <a:latin typeface="Segoe Print" panose="02000800000000000000" pitchFamily="2" charset="0"/>
              </a:rPr>
              <a:t>Up arrow key</a:t>
            </a:r>
          </a:p>
          <a:p>
            <a:pPr marL="457200" indent="-457200">
              <a:lnSpc>
                <a:spcPct val="200000"/>
              </a:lnSpc>
              <a:buFont typeface="Wingdings" pitchFamily="2" charset="2"/>
              <a:buChar char="q"/>
            </a:pPr>
            <a:r>
              <a:rPr lang="en-US" sz="2200" dirty="0">
                <a:latin typeface="Segoe Print" panose="02000800000000000000" pitchFamily="2" charset="0"/>
              </a:rPr>
              <a:t>Shift key</a:t>
            </a:r>
          </a:p>
          <a:p>
            <a:pPr marL="457200" indent="-457200">
              <a:lnSpc>
                <a:spcPct val="200000"/>
              </a:lnSpc>
              <a:buFontTx/>
              <a:buChar char="-"/>
            </a:pPr>
            <a:endParaRPr lang="en-US" sz="2200" dirty="0">
              <a:latin typeface="Segoe Print" panose="02000800000000000000" pitchFamily="2" charset="0"/>
            </a:endParaRPr>
          </a:p>
        </p:txBody>
      </p:sp>
    </p:spTree>
    <p:extLst>
      <p:ext uri="{BB962C8B-B14F-4D97-AF65-F5344CB8AC3E}">
        <p14:creationId xmlns:p14="http://schemas.microsoft.com/office/powerpoint/2010/main" val="12814275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6E51-55E5-F40F-0587-885324655F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D2B4D1-91FB-880E-D3C2-D79A817B43FC}"/>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When does gloop get stored? (mark all necessary conditions)</a:t>
            </a:r>
          </a:p>
        </p:txBody>
      </p:sp>
      <p:sp>
        <p:nvSpPr>
          <p:cNvPr id="2" name="Title 1">
            <a:extLst>
              <a:ext uri="{FF2B5EF4-FFF2-40B4-BE49-F238E27FC236}">
                <a16:creationId xmlns:a16="http://schemas.microsoft.com/office/drawing/2014/main" id="{7B830245-515F-A087-3746-E99A63CA6BF9}"/>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The gloop in the main container is above the ideal level</a:t>
            </a:r>
          </a:p>
          <a:p>
            <a:pPr marL="457200" indent="-457200">
              <a:lnSpc>
                <a:spcPct val="200000"/>
              </a:lnSpc>
              <a:buFont typeface="Wingdings" pitchFamily="2" charset="2"/>
              <a:buChar char="q"/>
            </a:pPr>
            <a:r>
              <a:rPr lang="en-US" sz="2200" dirty="0">
                <a:latin typeface="Segoe Print" panose="02000800000000000000" pitchFamily="2" charset="0"/>
              </a:rPr>
              <a:t>The gloop in the main container is draining</a:t>
            </a:r>
          </a:p>
          <a:p>
            <a:pPr marL="457200" indent="-457200">
              <a:lnSpc>
                <a:spcPct val="200000"/>
              </a:lnSpc>
              <a:buFont typeface="Wingdings" pitchFamily="2" charset="2"/>
              <a:buChar char="q"/>
            </a:pPr>
            <a:r>
              <a:rPr lang="en-US" sz="2200" dirty="0">
                <a:latin typeface="Segoe Print" panose="02000800000000000000" pitchFamily="2" charset="0"/>
              </a:rPr>
              <a:t>The round has ended</a:t>
            </a:r>
          </a:p>
          <a:p>
            <a:pPr marL="457200" indent="-457200">
              <a:lnSpc>
                <a:spcPct val="200000"/>
              </a:lnSpc>
              <a:buFont typeface="Wingdings" pitchFamily="2" charset="2"/>
              <a:buChar char="q"/>
            </a:pPr>
            <a:r>
              <a:rPr lang="en-US" sz="2200" dirty="0">
                <a:latin typeface="Segoe Print" panose="02000800000000000000" pitchFamily="2" charset="0"/>
              </a:rPr>
              <a:t>The storage container has empty space</a:t>
            </a:r>
          </a:p>
          <a:p>
            <a:pPr marL="457200" indent="-457200">
              <a:lnSpc>
                <a:spcPct val="200000"/>
              </a:lnSpc>
              <a:buFont typeface="Wingdings" pitchFamily="2" charset="2"/>
              <a:buChar char="q"/>
            </a:pPr>
            <a:r>
              <a:rPr lang="en-US" sz="2200" dirty="0">
                <a:latin typeface="Segoe Print" panose="02000800000000000000" pitchFamily="2" charset="0"/>
              </a:rPr>
              <a:t>The main gloop container is filled above its max</a:t>
            </a:r>
          </a:p>
          <a:p>
            <a:pPr>
              <a:lnSpc>
                <a:spcPct val="200000"/>
              </a:lnSpc>
            </a:pPr>
            <a:endParaRPr lang="en-US" sz="2200" dirty="0">
              <a:latin typeface="Segoe Print" panose="02000800000000000000" pitchFamily="2" charset="0"/>
            </a:endParaRPr>
          </a:p>
        </p:txBody>
      </p:sp>
    </p:spTree>
    <p:extLst>
      <p:ext uri="{BB962C8B-B14F-4D97-AF65-F5344CB8AC3E}">
        <p14:creationId xmlns:p14="http://schemas.microsoft.com/office/powerpoint/2010/main" val="389187503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2707-848A-8E53-17DC-7CA9742CC3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5E1508-47FA-BBDD-A683-98BC4DC8228C}"/>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When is Bleeblop’s stored gloop reset?</a:t>
            </a:r>
          </a:p>
        </p:txBody>
      </p:sp>
      <p:sp>
        <p:nvSpPr>
          <p:cNvPr id="2" name="Title 1">
            <a:extLst>
              <a:ext uri="{FF2B5EF4-FFF2-40B4-BE49-F238E27FC236}">
                <a16:creationId xmlns:a16="http://schemas.microsoft.com/office/drawing/2014/main" id="{DD955548-BF01-49D8-042B-52CFCB76992D}"/>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When the main container reaches the ideal level </a:t>
            </a:r>
          </a:p>
          <a:p>
            <a:pPr marL="457200" indent="-457200">
              <a:lnSpc>
                <a:spcPct val="200000"/>
              </a:lnSpc>
              <a:buFont typeface="Wingdings" pitchFamily="2" charset="2"/>
              <a:buChar char="q"/>
            </a:pPr>
            <a:r>
              <a:rPr lang="en-US" sz="2200" dirty="0">
                <a:latin typeface="Segoe Print" panose="02000800000000000000" pitchFamily="2" charset="0"/>
              </a:rPr>
              <a:t>Never</a:t>
            </a:r>
          </a:p>
          <a:p>
            <a:pPr marL="457200" indent="-457200">
              <a:lnSpc>
                <a:spcPct val="200000"/>
              </a:lnSpc>
              <a:buFont typeface="Wingdings" pitchFamily="2" charset="2"/>
              <a:buChar char="q"/>
            </a:pPr>
            <a:r>
              <a:rPr lang="en-US" sz="2200" dirty="0">
                <a:latin typeface="Segoe Print" panose="02000800000000000000" pitchFamily="2" charset="0"/>
              </a:rPr>
              <a:t>At the end of each day</a:t>
            </a:r>
          </a:p>
          <a:p>
            <a:pPr marL="457200" indent="-457200">
              <a:lnSpc>
                <a:spcPct val="200000"/>
              </a:lnSpc>
              <a:buFont typeface="Wingdings" pitchFamily="2" charset="2"/>
              <a:buChar char="q"/>
            </a:pPr>
            <a:r>
              <a:rPr lang="en-US" sz="2200" dirty="0">
                <a:latin typeface="Segoe Print" panose="02000800000000000000" pitchFamily="2" charset="0"/>
              </a:rPr>
              <a:t>When Bleeblop reaches Robonia</a:t>
            </a:r>
          </a:p>
          <a:p>
            <a:pPr marL="457200" indent="-457200">
              <a:lnSpc>
                <a:spcPct val="200000"/>
              </a:lnSpc>
              <a:buFont typeface="Wingdings" pitchFamily="2" charset="2"/>
              <a:buChar char="q"/>
            </a:pPr>
            <a:r>
              <a:rPr lang="en-US" sz="2200" dirty="0">
                <a:latin typeface="Segoe Print" panose="02000800000000000000" pitchFamily="2" charset="0"/>
              </a:rPr>
              <a:t>When Bleeblop overheats or shuts down</a:t>
            </a:r>
          </a:p>
          <a:p>
            <a:pPr>
              <a:lnSpc>
                <a:spcPct val="200000"/>
              </a:lnSpc>
            </a:pPr>
            <a:endParaRPr lang="en-US" sz="2200" dirty="0">
              <a:latin typeface="Segoe Print" panose="02000800000000000000" pitchFamily="2" charset="0"/>
            </a:endParaRPr>
          </a:p>
        </p:txBody>
      </p:sp>
    </p:spTree>
    <p:extLst>
      <p:ext uri="{BB962C8B-B14F-4D97-AF65-F5344CB8AC3E}">
        <p14:creationId xmlns:p14="http://schemas.microsoft.com/office/powerpoint/2010/main" val="13872490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2E92-E996-F3CB-8D5C-8638C8B5E5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C57FE7-C3D2-5665-90B6-DEE678A85D6D}"/>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When is Bleeblop’s main gloop container reset?</a:t>
            </a:r>
          </a:p>
        </p:txBody>
      </p:sp>
      <p:sp>
        <p:nvSpPr>
          <p:cNvPr id="2" name="Title 1">
            <a:extLst>
              <a:ext uri="{FF2B5EF4-FFF2-40B4-BE49-F238E27FC236}">
                <a16:creationId xmlns:a16="http://schemas.microsoft.com/office/drawing/2014/main" id="{C3F79E1B-8C35-6EB5-DDFA-6EB424555B65}"/>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When it reaches the ideal level </a:t>
            </a:r>
          </a:p>
          <a:p>
            <a:pPr marL="457200" indent="-457200">
              <a:lnSpc>
                <a:spcPct val="200000"/>
              </a:lnSpc>
              <a:buFont typeface="Wingdings" pitchFamily="2" charset="2"/>
              <a:buChar char="q"/>
            </a:pPr>
            <a:r>
              <a:rPr lang="en-US" sz="2200" dirty="0">
                <a:latin typeface="Segoe Print" panose="02000800000000000000" pitchFamily="2" charset="0"/>
              </a:rPr>
              <a:t>Never</a:t>
            </a:r>
          </a:p>
          <a:p>
            <a:pPr marL="457200" indent="-457200">
              <a:lnSpc>
                <a:spcPct val="200000"/>
              </a:lnSpc>
              <a:buFont typeface="Wingdings" pitchFamily="2" charset="2"/>
              <a:buChar char="q"/>
            </a:pPr>
            <a:r>
              <a:rPr lang="en-US" sz="2200" dirty="0">
                <a:latin typeface="Segoe Print" panose="02000800000000000000" pitchFamily="2" charset="0"/>
              </a:rPr>
              <a:t>At the end of each day</a:t>
            </a:r>
          </a:p>
          <a:p>
            <a:pPr marL="457200" indent="-457200">
              <a:lnSpc>
                <a:spcPct val="200000"/>
              </a:lnSpc>
              <a:buFont typeface="Wingdings" pitchFamily="2" charset="2"/>
              <a:buChar char="q"/>
            </a:pPr>
            <a:r>
              <a:rPr lang="en-US" sz="2200" dirty="0">
                <a:latin typeface="Segoe Print" panose="02000800000000000000" pitchFamily="2" charset="0"/>
              </a:rPr>
              <a:t>When Bleeblop reaches Robonia</a:t>
            </a:r>
          </a:p>
          <a:p>
            <a:pPr marL="457200" indent="-457200">
              <a:lnSpc>
                <a:spcPct val="200000"/>
              </a:lnSpc>
              <a:buFont typeface="Wingdings" pitchFamily="2" charset="2"/>
              <a:buChar char="q"/>
            </a:pPr>
            <a:r>
              <a:rPr lang="en-US" sz="2200" dirty="0">
                <a:latin typeface="Segoe Print" panose="02000800000000000000" pitchFamily="2" charset="0"/>
              </a:rPr>
              <a:t>When Bleeblop overheats or shuts down</a:t>
            </a:r>
          </a:p>
          <a:p>
            <a:pPr>
              <a:lnSpc>
                <a:spcPct val="200000"/>
              </a:lnSpc>
            </a:pPr>
            <a:endParaRPr lang="en-US" sz="2200" dirty="0">
              <a:latin typeface="Segoe Print" panose="02000800000000000000" pitchFamily="2" charset="0"/>
            </a:endParaRPr>
          </a:p>
        </p:txBody>
      </p:sp>
    </p:spTree>
    <p:extLst>
      <p:ext uri="{BB962C8B-B14F-4D97-AF65-F5344CB8AC3E}">
        <p14:creationId xmlns:p14="http://schemas.microsoft.com/office/powerpoint/2010/main" val="123066453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6ADB-95CD-3407-D2DB-F6FE8BC03D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501D88E-030F-8C87-05A6-C225F9406BCD}"/>
              </a:ext>
            </a:extLst>
          </p:cNvPr>
          <p:cNvSpPr txBox="1">
            <a:spLocks/>
          </p:cNvSpPr>
          <p:nvPr/>
        </p:nvSpPr>
        <p:spPr>
          <a:xfrm>
            <a:off x="838196" y="276621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there was at least one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a:t>
            </a: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p:txBody>
      </p:sp>
    </p:spTree>
    <p:extLst>
      <p:ext uri="{BB962C8B-B14F-4D97-AF65-F5344CB8AC3E}">
        <p14:creationId xmlns:p14="http://schemas.microsoft.com/office/powerpoint/2010/main" val="2388676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4127-0EC2-3090-BBE1-6B4C47C73C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57FC66-1D49-D019-2E20-683387699C75}"/>
              </a:ext>
            </a:extLst>
          </p:cNvPr>
          <p:cNvSpPr txBox="1"/>
          <p:nvPr/>
        </p:nvSpPr>
        <p:spPr>
          <a:xfrm rot="20151242">
            <a:off x="-565155" y="1459230"/>
            <a:ext cx="13322307" cy="3939540"/>
          </a:xfrm>
          <a:prstGeom prst="rect">
            <a:avLst/>
          </a:prstGeom>
          <a:noFill/>
        </p:spPr>
        <p:txBody>
          <a:bodyPr wrap="square" rtlCol="0">
            <a:spAutoFit/>
          </a:bodyPr>
          <a:lstStyle/>
          <a:p>
            <a:r>
              <a:rPr lang="en-US" sz="25000" dirty="0">
                <a:solidFill>
                  <a:schemeClr val="bg2">
                    <a:lumMod val="75000"/>
                  </a:schemeClr>
                </a:solidFill>
              </a:rPr>
              <a:t>EXAMPLE</a:t>
            </a:r>
          </a:p>
        </p:txBody>
      </p:sp>
      <p:sp>
        <p:nvSpPr>
          <p:cNvPr id="9" name="TextBox 8">
            <a:extLst>
              <a:ext uri="{FF2B5EF4-FFF2-40B4-BE49-F238E27FC236}">
                <a16:creationId xmlns:a16="http://schemas.microsoft.com/office/drawing/2014/main" id="{DB36FA3F-4453-A4AC-3A63-8AA5A779CDF8}"/>
              </a:ext>
            </a:extLst>
          </p:cNvPr>
          <p:cNvSpPr txBox="1"/>
          <p:nvPr/>
        </p:nvSpPr>
        <p:spPr>
          <a:xfrm>
            <a:off x="2509417" y="3514446"/>
            <a:ext cx="7173157" cy="646331"/>
          </a:xfrm>
          <a:prstGeom prst="rect">
            <a:avLst/>
          </a:prstGeom>
          <a:noFill/>
        </p:spPr>
        <p:txBody>
          <a:bodyPr wrap="square" rtlCol="0">
            <a:spAutoFit/>
          </a:bodyPr>
          <a:lstStyle/>
          <a:p>
            <a:pPr marL="285750" indent="-285750">
              <a:buFontTx/>
              <a:buChar char="-"/>
            </a:pPr>
            <a:r>
              <a:rPr lang="en-US" dirty="0">
                <a:latin typeface="Segoe Print" panose="02000800000000000000" pitchFamily="2" charset="0"/>
              </a:rPr>
              <a:t>Where </a:t>
            </a:r>
            <a:r>
              <a:rPr lang="en-US" dirty="0" err="1">
                <a:latin typeface="Segoe Print" panose="02000800000000000000" pitchFamily="2" charset="0"/>
              </a:rPr>
              <a:t>Bleeblop</a:t>
            </a:r>
            <a:r>
              <a:rPr lang="en-US" dirty="0">
                <a:latin typeface="Segoe Print" panose="02000800000000000000" pitchFamily="2" charset="0"/>
              </a:rPr>
              <a:t> is trying to go</a:t>
            </a:r>
          </a:p>
          <a:p>
            <a:pPr marL="285750" indent="-285750">
              <a:buFontTx/>
              <a:buChar char="-"/>
            </a:pPr>
            <a:r>
              <a:rPr lang="en-US" dirty="0">
                <a:latin typeface="Segoe Print" panose="02000800000000000000" pitchFamily="2" charset="0"/>
              </a:rPr>
              <a:t>What happens when </a:t>
            </a:r>
            <a:r>
              <a:rPr lang="en-US" dirty="0" err="1">
                <a:latin typeface="Segoe Print" panose="02000800000000000000" pitchFamily="2" charset="0"/>
              </a:rPr>
              <a:t>Bleeblop’s</a:t>
            </a:r>
            <a:r>
              <a:rPr lang="en-US" dirty="0">
                <a:latin typeface="Segoe Print" panose="02000800000000000000" pitchFamily="2" charset="0"/>
              </a:rPr>
              <a:t> </a:t>
            </a:r>
            <a:r>
              <a:rPr lang="en-US" dirty="0" err="1">
                <a:latin typeface="Segoe Print" panose="02000800000000000000" pitchFamily="2" charset="0"/>
              </a:rPr>
              <a:t>gloop</a:t>
            </a:r>
            <a:r>
              <a:rPr lang="en-US" dirty="0">
                <a:latin typeface="Segoe Print" panose="02000800000000000000" pitchFamily="2" charset="0"/>
              </a:rPr>
              <a:t> container empties</a:t>
            </a:r>
          </a:p>
        </p:txBody>
      </p:sp>
      <p:sp>
        <p:nvSpPr>
          <p:cNvPr id="10" name="Title 1">
            <a:extLst>
              <a:ext uri="{FF2B5EF4-FFF2-40B4-BE49-F238E27FC236}">
                <a16:creationId xmlns:a16="http://schemas.microsoft.com/office/drawing/2014/main" id="{9C01FA15-DCB9-0558-10C8-20BBB0AF9C8D}"/>
              </a:ext>
            </a:extLst>
          </p:cNvPr>
          <p:cNvSpPr txBox="1">
            <a:spLocks/>
          </p:cNvSpPr>
          <p:nvPr/>
        </p:nvSpPr>
        <p:spPr>
          <a:xfrm>
            <a:off x="838196" y="276621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there was at least one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a:t>
            </a: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p:txBody>
      </p:sp>
    </p:spTree>
    <p:extLst>
      <p:ext uri="{BB962C8B-B14F-4D97-AF65-F5344CB8AC3E}">
        <p14:creationId xmlns:p14="http://schemas.microsoft.com/office/powerpoint/2010/main" val="3116898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54F0-57AA-31C7-D47C-E0CCCCA4EDA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FCFBA7C-6262-38D7-E10E-B3F54261121E}"/>
              </a:ext>
            </a:extLst>
          </p:cNvPr>
          <p:cNvSpPr txBox="1">
            <a:spLocks/>
          </p:cNvSpPr>
          <p:nvPr/>
        </p:nvSpPr>
        <p:spPr>
          <a:xfrm>
            <a:off x="521193" y="2935599"/>
            <a:ext cx="11149614"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No worries—let’s review this section of the instructions </a:t>
            </a:r>
          </a:p>
          <a:p>
            <a:pPr algn="ctr"/>
            <a:r>
              <a:rPr lang="en-US" sz="3000" u="sng" dirty="0">
                <a:solidFill>
                  <a:srgbClr val="C00000"/>
                </a:solidFill>
                <a:latin typeface="Segoe Print" panose="02000800000000000000" pitchFamily="2" charset="0"/>
              </a:rPr>
              <a:t>one last time.</a:t>
            </a:r>
          </a:p>
          <a:p>
            <a:pPr algn="ctr"/>
            <a:br>
              <a:rPr lang="en-US" sz="2800" dirty="0">
                <a:latin typeface="Segoe Print" panose="02000800000000000000" pitchFamily="2" charset="0"/>
              </a:rPr>
            </a:br>
            <a:r>
              <a:rPr lang="en-US" sz="2000" dirty="0">
                <a:latin typeface="Segoe Print" panose="02000800000000000000" pitchFamily="2" charset="0"/>
              </a:rPr>
              <a:t>To be clear, any more incorrect answers will end the game and result in </a:t>
            </a:r>
            <a:r>
              <a:rPr lang="en-US" sz="2000" b="1" dirty="0">
                <a:latin typeface="Segoe Print" panose="02000800000000000000" pitchFamily="2" charset="0"/>
              </a:rPr>
              <a:t>minimal compensation</a:t>
            </a:r>
            <a:r>
              <a:rPr lang="en-US" sz="2000" dirty="0">
                <a:latin typeface="Segoe Print" panose="02000800000000000000" pitchFamily="2" charset="0"/>
              </a:rPr>
              <a:t>.</a:t>
            </a:r>
            <a:endParaRPr lang="en-US" sz="2800" dirty="0">
              <a:latin typeface="Segoe Print" panose="02000800000000000000" pitchFamily="2" charset="0"/>
            </a:endParaRPr>
          </a:p>
        </p:txBody>
      </p:sp>
    </p:spTree>
    <p:extLst>
      <p:ext uri="{BB962C8B-B14F-4D97-AF65-F5344CB8AC3E}">
        <p14:creationId xmlns:p14="http://schemas.microsoft.com/office/powerpoint/2010/main" val="682794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AE81-D3CD-4A89-B81D-165B1D1710B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5C16663-6E91-D569-CADC-E5F7C10506D9}"/>
              </a:ext>
            </a:extLst>
          </p:cNvPr>
          <p:cNvSpPr txBox="1">
            <a:spLocks/>
          </p:cNvSpPr>
          <p:nvPr/>
        </p:nvSpPr>
        <p:spPr>
          <a:xfrm>
            <a:off x="838200" y="1404891"/>
            <a:ext cx="10515600" cy="40482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Unfortunately, you have not passed the comprehension portion of the task, so the game will have to end here. </a:t>
            </a:r>
          </a:p>
          <a:p>
            <a:pPr algn="ctr"/>
            <a:endParaRPr lang="en-US" sz="4000" dirty="0">
              <a:latin typeface="Segoe Print" panose="02000800000000000000" pitchFamily="2" charset="0"/>
            </a:endParaRPr>
          </a:p>
          <a:p>
            <a:pPr algn="ctr"/>
            <a:r>
              <a:rPr lang="en-US" sz="4000" dirty="0">
                <a:latin typeface="Segoe Print" panose="02000800000000000000" pitchFamily="2" charset="0"/>
              </a:rPr>
              <a:t>Thank you for your participation!</a:t>
            </a:r>
          </a:p>
        </p:txBody>
      </p:sp>
    </p:spTree>
    <p:extLst>
      <p:ext uri="{BB962C8B-B14F-4D97-AF65-F5344CB8AC3E}">
        <p14:creationId xmlns:p14="http://schemas.microsoft.com/office/powerpoint/2010/main" val="301825189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E4393-57A2-9B27-7DDF-186A3268CD2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8AD8C63-DB5C-54E3-9241-31FD16FF85A0}"/>
              </a:ext>
            </a:extLst>
          </p:cNvPr>
          <p:cNvSpPr txBox="1">
            <a:spLocks/>
          </p:cNvSpPr>
          <p:nvPr/>
        </p:nvSpPr>
        <p:spPr>
          <a:xfrm>
            <a:off x="838200" y="4338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Awesome Job! </a:t>
            </a:r>
          </a:p>
        </p:txBody>
      </p:sp>
      <p:pic>
        <p:nvPicPr>
          <p:cNvPr id="4" name="Picture 3">
            <a:extLst>
              <a:ext uri="{FF2B5EF4-FFF2-40B4-BE49-F238E27FC236}">
                <a16:creationId xmlns:a16="http://schemas.microsoft.com/office/drawing/2014/main" id="{17EA0EC0-F186-EBD8-B283-5B257B8C6979}"/>
              </a:ext>
            </a:extLst>
          </p:cNvPr>
          <p:cNvPicPr>
            <a:picLocks noChangeAspect="1"/>
          </p:cNvPicPr>
          <p:nvPr/>
        </p:nvPicPr>
        <p:blipFill>
          <a:blip r:embed="rId2"/>
          <a:stretch>
            <a:fillRect/>
          </a:stretch>
        </p:blipFill>
        <p:spPr>
          <a:xfrm>
            <a:off x="4090930" y="2446636"/>
            <a:ext cx="4010138" cy="3791403"/>
          </a:xfrm>
          <a:prstGeom prst="rect">
            <a:avLst/>
          </a:prstGeom>
        </p:spPr>
      </p:pic>
      <p:sp>
        <p:nvSpPr>
          <p:cNvPr id="2" name="5-Point Star 1">
            <a:extLst>
              <a:ext uri="{FF2B5EF4-FFF2-40B4-BE49-F238E27FC236}">
                <a16:creationId xmlns:a16="http://schemas.microsoft.com/office/drawing/2014/main" id="{5579FB4D-A4E8-3E94-A82F-3AF9F0B7975F}"/>
              </a:ext>
            </a:extLst>
          </p:cNvPr>
          <p:cNvSpPr/>
          <p:nvPr/>
        </p:nvSpPr>
        <p:spPr>
          <a:xfrm>
            <a:off x="5660136" y="4498848"/>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6058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5D46F-4C27-CEB2-1CE6-8A2F84222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E24FC-C328-8526-1E8B-1ECF54CE274E}"/>
              </a:ext>
            </a:extLst>
          </p:cNvPr>
          <p:cNvSpPr>
            <a:spLocks noGrp="1"/>
          </p:cNvSpPr>
          <p:nvPr>
            <p:ph type="title"/>
          </p:nvPr>
        </p:nvSpPr>
        <p:spPr>
          <a:xfrm>
            <a:off x="838200" y="567775"/>
            <a:ext cx="10515600" cy="1325563"/>
          </a:xfrm>
        </p:spPr>
        <p:txBody>
          <a:bodyPr>
            <a:normAutofit/>
          </a:bodyPr>
          <a:lstStyle/>
          <a:p>
            <a:pPr algn="ctr"/>
            <a:r>
              <a:rPr lang="en-US" sz="4000" dirty="0">
                <a:latin typeface="Segoe Print" panose="02000800000000000000" pitchFamily="2" charset="0"/>
              </a:rPr>
              <a:t>Bleeblop is counting on you to make it to Robonia in time!</a:t>
            </a:r>
          </a:p>
        </p:txBody>
      </p:sp>
      <p:pic>
        <p:nvPicPr>
          <p:cNvPr id="7" name="Picture 6">
            <a:extLst>
              <a:ext uri="{FF2B5EF4-FFF2-40B4-BE49-F238E27FC236}">
                <a16:creationId xmlns:a16="http://schemas.microsoft.com/office/drawing/2014/main" id="{72516891-669F-CE38-ADC6-B26AC3C12C68}"/>
              </a:ext>
            </a:extLst>
          </p:cNvPr>
          <p:cNvPicPr>
            <a:picLocks noChangeAspect="1"/>
          </p:cNvPicPr>
          <p:nvPr/>
        </p:nvPicPr>
        <p:blipFill>
          <a:blip r:embed="rId3"/>
          <a:stretch>
            <a:fillRect/>
          </a:stretch>
        </p:blipFill>
        <p:spPr>
          <a:xfrm>
            <a:off x="3083910" y="2104060"/>
            <a:ext cx="5503263" cy="4287716"/>
          </a:xfrm>
          <a:prstGeom prst="rect">
            <a:avLst/>
          </a:prstGeom>
        </p:spPr>
      </p:pic>
    </p:spTree>
    <p:extLst>
      <p:ext uri="{BB962C8B-B14F-4D97-AF65-F5344CB8AC3E}">
        <p14:creationId xmlns:p14="http://schemas.microsoft.com/office/powerpoint/2010/main" val="22956828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E894C-525B-5A59-B10A-7C1785383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8B13C-A002-69A8-C08D-EB7989561881}"/>
              </a:ext>
            </a:extLst>
          </p:cNvPr>
          <p:cNvSpPr>
            <a:spLocks noGrp="1"/>
          </p:cNvSpPr>
          <p:nvPr>
            <p:ph type="title"/>
          </p:nvPr>
        </p:nvSpPr>
        <p:spPr>
          <a:xfrm>
            <a:off x="272321" y="370876"/>
            <a:ext cx="11647357" cy="1325563"/>
          </a:xfrm>
        </p:spPr>
        <p:txBody>
          <a:bodyPr>
            <a:normAutofit fontScale="90000"/>
          </a:bodyPr>
          <a:lstStyle/>
          <a:p>
            <a:pPr algn="ctr"/>
            <a:r>
              <a:rPr lang="en-US" sz="4000" dirty="0">
                <a:latin typeface="Segoe Print" panose="02000800000000000000" pitchFamily="2" charset="0"/>
              </a:rPr>
              <a:t>The closer you can keep Bleeblop’s gloop level to its ideal, the faster BleeBlop will progress towards Robonia.</a:t>
            </a:r>
          </a:p>
        </p:txBody>
      </p:sp>
      <p:pic>
        <p:nvPicPr>
          <p:cNvPr id="3" name="Picture 2">
            <a:extLst>
              <a:ext uri="{FF2B5EF4-FFF2-40B4-BE49-F238E27FC236}">
                <a16:creationId xmlns:a16="http://schemas.microsoft.com/office/drawing/2014/main" id="{2B232DCF-8E0F-E76A-75AB-D07C838EA04F}"/>
              </a:ext>
            </a:extLst>
          </p:cNvPr>
          <p:cNvPicPr>
            <a:picLocks noChangeAspect="1"/>
          </p:cNvPicPr>
          <p:nvPr/>
        </p:nvPicPr>
        <p:blipFill>
          <a:blip r:embed="rId3"/>
          <a:stretch>
            <a:fillRect/>
          </a:stretch>
        </p:blipFill>
        <p:spPr>
          <a:xfrm>
            <a:off x="3083909" y="2104060"/>
            <a:ext cx="5503263" cy="4287716"/>
          </a:xfrm>
          <a:prstGeom prst="rect">
            <a:avLst/>
          </a:prstGeom>
        </p:spPr>
      </p:pic>
    </p:spTree>
    <p:extLst>
      <p:ext uri="{BB962C8B-B14F-4D97-AF65-F5344CB8AC3E}">
        <p14:creationId xmlns:p14="http://schemas.microsoft.com/office/powerpoint/2010/main" val="336327592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3E7CD-6A07-F4E4-B3E8-39A18DCB2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93F19-0F72-8022-9C51-7B3F20F7E168}"/>
              </a:ext>
            </a:extLst>
          </p:cNvPr>
          <p:cNvSpPr>
            <a:spLocks noGrp="1"/>
          </p:cNvSpPr>
          <p:nvPr>
            <p:ph type="title"/>
          </p:nvPr>
        </p:nvSpPr>
        <p:spPr>
          <a:xfrm>
            <a:off x="419100" y="325929"/>
            <a:ext cx="11353800" cy="1325563"/>
          </a:xfrm>
        </p:spPr>
        <p:txBody>
          <a:bodyPr>
            <a:normAutofit fontScale="90000"/>
          </a:bodyPr>
          <a:lstStyle/>
          <a:p>
            <a:pPr algn="ctr"/>
            <a:r>
              <a:rPr lang="en-US" sz="4000" dirty="0">
                <a:latin typeface="Segoe Print" panose="02000800000000000000" pitchFamily="2" charset="0"/>
              </a:rPr>
              <a:t>If you are able to get </a:t>
            </a:r>
            <a:r>
              <a:rPr lang="en-US" sz="4000" dirty="0" err="1">
                <a:latin typeface="Segoe Print" panose="02000800000000000000" pitchFamily="2" charset="0"/>
              </a:rPr>
              <a:t>Bleeblop</a:t>
            </a:r>
            <a:r>
              <a:rPr lang="en-US" sz="4000" dirty="0">
                <a:latin typeface="Segoe Print" panose="02000800000000000000" pitchFamily="2" charset="0"/>
              </a:rPr>
              <a:t> at least 75% of the way to </a:t>
            </a:r>
            <a:r>
              <a:rPr lang="en-US" sz="4000" dirty="0" err="1">
                <a:latin typeface="Segoe Print" panose="02000800000000000000" pitchFamily="2" charset="0"/>
              </a:rPr>
              <a:t>Robonia</a:t>
            </a:r>
            <a:r>
              <a:rPr lang="en-US" sz="4000" dirty="0">
                <a:latin typeface="Segoe Print" panose="02000800000000000000" pitchFamily="2" charset="0"/>
              </a:rPr>
              <a:t> before the annual </a:t>
            </a:r>
            <a:r>
              <a:rPr lang="en-US" sz="4000" dirty="0" err="1">
                <a:latin typeface="Segoe Print" panose="02000800000000000000" pitchFamily="2" charset="0"/>
              </a:rPr>
              <a:t>Roboday</a:t>
            </a:r>
            <a:r>
              <a:rPr lang="en-US" sz="4000" dirty="0">
                <a:latin typeface="Segoe Print" panose="02000800000000000000" pitchFamily="2" charset="0"/>
              </a:rPr>
              <a:t> celebration, you will receive a $5 bonus!</a:t>
            </a:r>
          </a:p>
        </p:txBody>
      </p:sp>
      <p:pic>
        <p:nvPicPr>
          <p:cNvPr id="6" name="Picture 5">
            <a:extLst>
              <a:ext uri="{FF2B5EF4-FFF2-40B4-BE49-F238E27FC236}">
                <a16:creationId xmlns:a16="http://schemas.microsoft.com/office/drawing/2014/main" id="{394E1D14-C233-E0C9-24D0-CB029DA1A0F4}"/>
              </a:ext>
            </a:extLst>
          </p:cNvPr>
          <p:cNvPicPr>
            <a:picLocks noChangeAspect="1"/>
          </p:cNvPicPr>
          <p:nvPr/>
        </p:nvPicPr>
        <p:blipFill>
          <a:blip r:embed="rId3"/>
          <a:stretch>
            <a:fillRect/>
          </a:stretch>
        </p:blipFill>
        <p:spPr>
          <a:xfrm>
            <a:off x="3513483" y="2091324"/>
            <a:ext cx="6409638" cy="4229963"/>
          </a:xfrm>
          <a:prstGeom prst="rect">
            <a:avLst/>
          </a:prstGeom>
        </p:spPr>
      </p:pic>
    </p:spTree>
    <p:extLst>
      <p:ext uri="{BB962C8B-B14F-4D97-AF65-F5344CB8AC3E}">
        <p14:creationId xmlns:p14="http://schemas.microsoft.com/office/powerpoint/2010/main" val="17057565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9984-8847-BDE9-6426-5986AC63A2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8F2B0D-2559-3DD4-D0D5-54F5F900330E}"/>
              </a:ext>
            </a:extLst>
          </p:cNvPr>
          <p:cNvSpPr>
            <a:spLocks noGrp="1"/>
          </p:cNvSpPr>
          <p:nvPr>
            <p:ph type="title"/>
          </p:nvPr>
        </p:nvSpPr>
        <p:spPr>
          <a:xfrm>
            <a:off x="607942" y="534090"/>
            <a:ext cx="10976113" cy="1325563"/>
          </a:xfrm>
        </p:spPr>
        <p:txBody>
          <a:bodyPr>
            <a:normAutofit/>
          </a:bodyPr>
          <a:lstStyle/>
          <a:p>
            <a:pPr algn="ctr"/>
            <a:r>
              <a:rPr lang="en-US" sz="4000" dirty="0">
                <a:latin typeface="Segoe Print" panose="02000800000000000000" pitchFamily="2" charset="0"/>
              </a:rPr>
              <a:t>What must happen for you to receive the $5 bonus?</a:t>
            </a:r>
          </a:p>
        </p:txBody>
      </p:sp>
      <p:sp>
        <p:nvSpPr>
          <p:cNvPr id="2" name="Title 1">
            <a:extLst>
              <a:ext uri="{FF2B5EF4-FFF2-40B4-BE49-F238E27FC236}">
                <a16:creationId xmlns:a16="http://schemas.microsoft.com/office/drawing/2014/main" id="{DE84F720-3E4E-4064-838A-EC67E446F0D7}"/>
              </a:ext>
            </a:extLst>
          </p:cNvPr>
          <p:cNvSpPr txBox="1">
            <a:spLocks/>
          </p:cNvSpPr>
          <p:nvPr/>
        </p:nvSpPr>
        <p:spPr>
          <a:xfrm>
            <a:off x="1975753" y="2239327"/>
            <a:ext cx="8517361" cy="34822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200000"/>
              </a:lnSpc>
              <a:buFont typeface="Wingdings" pitchFamily="2" charset="2"/>
              <a:buChar char="q"/>
            </a:pPr>
            <a:r>
              <a:rPr lang="en-US" sz="2200" dirty="0">
                <a:latin typeface="Segoe Print" panose="02000800000000000000" pitchFamily="2" charset="0"/>
              </a:rPr>
              <a:t>Bleeblop uses all of their gloop</a:t>
            </a:r>
          </a:p>
          <a:p>
            <a:pPr marL="457200" indent="-457200">
              <a:lnSpc>
                <a:spcPct val="200000"/>
              </a:lnSpc>
              <a:buFont typeface="Wingdings" pitchFamily="2" charset="2"/>
              <a:buChar char="q"/>
            </a:pPr>
            <a:r>
              <a:rPr lang="en-US" sz="2200" dirty="0">
                <a:latin typeface="Segoe Print" panose="02000800000000000000" pitchFamily="2" charset="0"/>
              </a:rPr>
              <a:t>Bleeblop goes to a repair shop</a:t>
            </a:r>
          </a:p>
          <a:p>
            <a:pPr marL="457200" indent="-457200">
              <a:lnSpc>
                <a:spcPct val="200000"/>
              </a:lnSpc>
              <a:buFont typeface="Wingdings" pitchFamily="2" charset="2"/>
              <a:buChar char="q"/>
            </a:pPr>
            <a:r>
              <a:rPr lang="en-US" sz="2200" dirty="0">
                <a:latin typeface="Segoe Print" panose="02000800000000000000" pitchFamily="2" charset="0"/>
              </a:rPr>
              <a:t>Bleeblop gets 75% of the way to Robonia</a:t>
            </a:r>
          </a:p>
          <a:p>
            <a:pPr marL="457200" indent="-457200">
              <a:lnSpc>
                <a:spcPct val="200000"/>
              </a:lnSpc>
              <a:buFont typeface="Wingdings" pitchFamily="2" charset="2"/>
              <a:buChar char="q"/>
            </a:pPr>
            <a:r>
              <a:rPr lang="en-US" sz="2200" dirty="0">
                <a:latin typeface="Segoe Print" panose="02000800000000000000" pitchFamily="2" charset="0"/>
              </a:rPr>
              <a:t>Bleeblop never overheats or shuts down</a:t>
            </a:r>
          </a:p>
          <a:p>
            <a:pPr marL="457200" indent="-457200">
              <a:lnSpc>
                <a:spcPct val="200000"/>
              </a:lnSpc>
              <a:buFont typeface="Wingdings" pitchFamily="2" charset="2"/>
              <a:buChar char="q"/>
            </a:pPr>
            <a:r>
              <a:rPr lang="en-US" sz="2200" dirty="0">
                <a:latin typeface="Segoe Print" panose="02000800000000000000" pitchFamily="2" charset="0"/>
              </a:rPr>
              <a:t>Bleeblop gets all the way to Robonia</a:t>
            </a:r>
          </a:p>
        </p:txBody>
      </p:sp>
    </p:spTree>
    <p:extLst>
      <p:ext uri="{BB962C8B-B14F-4D97-AF65-F5344CB8AC3E}">
        <p14:creationId xmlns:p14="http://schemas.microsoft.com/office/powerpoint/2010/main" val="6066629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5190A-7165-4989-3834-2620CA313FA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AA8D11D-669B-2161-3364-D796BB4DB019}"/>
              </a:ext>
            </a:extLst>
          </p:cNvPr>
          <p:cNvSpPr txBox="1">
            <a:spLocks/>
          </p:cNvSpPr>
          <p:nvPr/>
        </p:nvSpPr>
        <p:spPr>
          <a:xfrm>
            <a:off x="707994" y="2766218"/>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that was an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a:t>
            </a: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a:p>
            <a:pPr algn="ctr"/>
            <a:endParaRPr lang="en-US" sz="3000" dirty="0">
              <a:latin typeface="Segoe Print" panose="02000800000000000000" pitchFamily="2" charset="0"/>
            </a:endParaRPr>
          </a:p>
        </p:txBody>
      </p:sp>
      <p:sp>
        <p:nvSpPr>
          <p:cNvPr id="6" name="TextBox 5">
            <a:extLst>
              <a:ext uri="{FF2B5EF4-FFF2-40B4-BE49-F238E27FC236}">
                <a16:creationId xmlns:a16="http://schemas.microsoft.com/office/drawing/2014/main" id="{C5FA7838-845C-3B5F-A9CE-3B695F43F91A}"/>
              </a:ext>
            </a:extLst>
          </p:cNvPr>
          <p:cNvSpPr txBox="1"/>
          <p:nvPr/>
        </p:nvSpPr>
        <p:spPr>
          <a:xfrm>
            <a:off x="2379216" y="3838564"/>
            <a:ext cx="7173157" cy="369332"/>
          </a:xfrm>
          <a:prstGeom prst="rect">
            <a:avLst/>
          </a:prstGeom>
          <a:noFill/>
        </p:spPr>
        <p:txBody>
          <a:bodyPr wrap="square" rtlCol="0">
            <a:spAutoFit/>
          </a:bodyPr>
          <a:lstStyle/>
          <a:p>
            <a:pPr marL="285750" indent="-285750">
              <a:buFontTx/>
              <a:buChar char="-"/>
            </a:pPr>
            <a:r>
              <a:rPr lang="en-US" dirty="0">
                <a:latin typeface="Segoe Print" panose="02000800000000000000" pitchFamily="2" charset="0"/>
              </a:rPr>
              <a:t>What must happen for you to receive the $5 bonus</a:t>
            </a:r>
          </a:p>
        </p:txBody>
      </p:sp>
    </p:spTree>
    <p:extLst>
      <p:ext uri="{BB962C8B-B14F-4D97-AF65-F5344CB8AC3E}">
        <p14:creationId xmlns:p14="http://schemas.microsoft.com/office/powerpoint/2010/main" val="10671620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A15AC-71A4-4B91-5DE4-5DF53069F35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2B36952-A601-DD90-F75E-DAC90ADEBD82}"/>
              </a:ext>
            </a:extLst>
          </p:cNvPr>
          <p:cNvSpPr txBox="1">
            <a:spLocks/>
          </p:cNvSpPr>
          <p:nvPr/>
        </p:nvSpPr>
        <p:spPr>
          <a:xfrm>
            <a:off x="521193" y="2935599"/>
            <a:ext cx="11149614"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No worries—let’s review </a:t>
            </a:r>
            <a:r>
              <a:rPr lang="en-US" sz="3000" u="sng" dirty="0">
                <a:solidFill>
                  <a:srgbClr val="C00000"/>
                </a:solidFill>
                <a:latin typeface="Segoe Print" panose="02000800000000000000" pitchFamily="2" charset="0"/>
              </a:rPr>
              <a:t>one last time.</a:t>
            </a:r>
          </a:p>
          <a:p>
            <a:pPr algn="ctr"/>
            <a:br>
              <a:rPr lang="en-US" sz="2000" dirty="0">
                <a:latin typeface="Segoe Print" panose="02000800000000000000" pitchFamily="2" charset="0"/>
              </a:rPr>
            </a:br>
            <a:r>
              <a:rPr lang="en-US" sz="2000" dirty="0">
                <a:latin typeface="Segoe Print" panose="02000800000000000000" pitchFamily="2" charset="0"/>
              </a:rPr>
              <a:t>To be clear, another incorrect answer will end the game and result in </a:t>
            </a:r>
            <a:r>
              <a:rPr lang="en-US" sz="2000" b="1" dirty="0">
                <a:latin typeface="Segoe Print" panose="02000800000000000000" pitchFamily="2" charset="0"/>
              </a:rPr>
              <a:t>minimal compensation</a:t>
            </a:r>
            <a:r>
              <a:rPr lang="en-US" sz="2000" dirty="0">
                <a:latin typeface="Segoe Print" panose="02000800000000000000" pitchFamily="2" charset="0"/>
              </a:rPr>
              <a:t>.</a:t>
            </a:r>
          </a:p>
        </p:txBody>
      </p:sp>
    </p:spTree>
    <p:extLst>
      <p:ext uri="{BB962C8B-B14F-4D97-AF65-F5344CB8AC3E}">
        <p14:creationId xmlns:p14="http://schemas.microsoft.com/office/powerpoint/2010/main" val="5770155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C8D7-6F83-705E-8D86-4548BA612B7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EC57144-76DE-BE19-17FE-578553C21CDB}"/>
              </a:ext>
            </a:extLst>
          </p:cNvPr>
          <p:cNvSpPr txBox="1">
            <a:spLocks/>
          </p:cNvSpPr>
          <p:nvPr/>
        </p:nvSpPr>
        <p:spPr>
          <a:xfrm>
            <a:off x="838200" y="1404891"/>
            <a:ext cx="10515600" cy="40482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Unfortunately, you have not passed the comprehension portion of the task, so the game will have to end here. </a:t>
            </a:r>
          </a:p>
          <a:p>
            <a:pPr algn="ctr"/>
            <a:endParaRPr lang="en-US" sz="4000" dirty="0">
              <a:latin typeface="Segoe Print" panose="02000800000000000000" pitchFamily="2" charset="0"/>
            </a:endParaRPr>
          </a:p>
          <a:p>
            <a:pPr algn="ctr"/>
            <a:r>
              <a:rPr lang="en-US" sz="3000" dirty="0">
                <a:latin typeface="Segoe Print" panose="02000800000000000000" pitchFamily="2" charset="0"/>
              </a:rPr>
              <a:t>Thank you for your participation!</a:t>
            </a:r>
          </a:p>
        </p:txBody>
      </p:sp>
    </p:spTree>
    <p:extLst>
      <p:ext uri="{BB962C8B-B14F-4D97-AF65-F5344CB8AC3E}">
        <p14:creationId xmlns:p14="http://schemas.microsoft.com/office/powerpoint/2010/main" val="3579338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D55B1-BE0B-FA36-AD85-922B99438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16438-1CD3-F28D-4EAC-52DBC8A50F7E}"/>
              </a:ext>
            </a:extLst>
          </p:cNvPr>
          <p:cNvSpPr>
            <a:spLocks noGrp="1"/>
          </p:cNvSpPr>
          <p:nvPr>
            <p:ph type="title"/>
          </p:nvPr>
        </p:nvSpPr>
        <p:spPr>
          <a:xfrm>
            <a:off x="838200" y="497404"/>
            <a:ext cx="10515600" cy="1325563"/>
          </a:xfrm>
        </p:spPr>
        <p:txBody>
          <a:bodyPr>
            <a:normAutofit/>
          </a:bodyPr>
          <a:lstStyle/>
          <a:p>
            <a:pPr algn="ctr"/>
            <a:r>
              <a:rPr lang="en-US" sz="4000" dirty="0">
                <a:latin typeface="Segoe Print" panose="02000800000000000000" pitchFamily="2" charset="0"/>
              </a:rPr>
              <a:t>Ready to Go?</a:t>
            </a:r>
          </a:p>
        </p:txBody>
      </p:sp>
      <p:pic>
        <p:nvPicPr>
          <p:cNvPr id="18" name="Picture 17">
            <a:extLst>
              <a:ext uri="{FF2B5EF4-FFF2-40B4-BE49-F238E27FC236}">
                <a16:creationId xmlns:a16="http://schemas.microsoft.com/office/drawing/2014/main" id="{8DE27AA2-7E6A-BEDA-E7EE-36AB0F0DA3DD}"/>
              </a:ext>
            </a:extLst>
          </p:cNvPr>
          <p:cNvPicPr>
            <a:picLocks noChangeAspect="1"/>
          </p:cNvPicPr>
          <p:nvPr/>
        </p:nvPicPr>
        <p:blipFill>
          <a:blip r:embed="rId3"/>
          <a:stretch>
            <a:fillRect/>
          </a:stretch>
        </p:blipFill>
        <p:spPr>
          <a:xfrm>
            <a:off x="3897020" y="1822967"/>
            <a:ext cx="4397960" cy="4158072"/>
          </a:xfrm>
          <a:prstGeom prst="rect">
            <a:avLst/>
          </a:prstGeom>
        </p:spPr>
      </p:pic>
      <p:sp>
        <p:nvSpPr>
          <p:cNvPr id="6" name="5-Point Star 5">
            <a:extLst>
              <a:ext uri="{FF2B5EF4-FFF2-40B4-BE49-F238E27FC236}">
                <a16:creationId xmlns:a16="http://schemas.microsoft.com/office/drawing/2014/main" id="{8624C04E-C241-CF33-032E-B1D33F0448CC}"/>
              </a:ext>
            </a:extLst>
          </p:cNvPr>
          <p:cNvSpPr/>
          <p:nvPr/>
        </p:nvSpPr>
        <p:spPr>
          <a:xfrm>
            <a:off x="5617911" y="4031312"/>
            <a:ext cx="199911" cy="192472"/>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918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F6B53-B14D-92E2-7C84-6CA58662C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972BE-9F83-4C45-4835-2D7FC7BA8AE1}"/>
              </a:ext>
            </a:extLst>
          </p:cNvPr>
          <p:cNvSpPr>
            <a:spLocks noGrp="1"/>
          </p:cNvSpPr>
          <p:nvPr>
            <p:ph type="title"/>
          </p:nvPr>
        </p:nvSpPr>
        <p:spPr>
          <a:xfrm>
            <a:off x="838200" y="286024"/>
            <a:ext cx="10515600" cy="1325563"/>
          </a:xfrm>
        </p:spPr>
        <p:txBody>
          <a:bodyPr>
            <a:normAutofit/>
          </a:bodyPr>
          <a:lstStyle/>
          <a:p>
            <a:pPr algn="ctr"/>
            <a:r>
              <a:rPr lang="en-US" sz="4000" dirty="0">
                <a:latin typeface="Segoe Print" panose="02000800000000000000" pitchFamily="2" charset="0"/>
              </a:rPr>
              <a:t>Great!</a:t>
            </a:r>
          </a:p>
        </p:txBody>
      </p:sp>
      <p:pic>
        <p:nvPicPr>
          <p:cNvPr id="4" name="Picture 3">
            <a:extLst>
              <a:ext uri="{FF2B5EF4-FFF2-40B4-BE49-F238E27FC236}">
                <a16:creationId xmlns:a16="http://schemas.microsoft.com/office/drawing/2014/main" id="{1F92B253-AAEB-86B0-0337-2CE0C1DB7DC2}"/>
              </a:ext>
            </a:extLst>
          </p:cNvPr>
          <p:cNvPicPr>
            <a:picLocks noChangeAspect="1"/>
          </p:cNvPicPr>
          <p:nvPr/>
        </p:nvPicPr>
        <p:blipFill>
          <a:blip r:embed="rId3"/>
          <a:stretch>
            <a:fillRect/>
          </a:stretch>
        </p:blipFill>
        <p:spPr>
          <a:xfrm>
            <a:off x="3897020" y="1822967"/>
            <a:ext cx="4397960" cy="4158072"/>
          </a:xfrm>
          <a:prstGeom prst="rect">
            <a:avLst/>
          </a:prstGeom>
        </p:spPr>
      </p:pic>
      <p:sp>
        <p:nvSpPr>
          <p:cNvPr id="5" name="5-Point Star 4">
            <a:extLst>
              <a:ext uri="{FF2B5EF4-FFF2-40B4-BE49-F238E27FC236}">
                <a16:creationId xmlns:a16="http://schemas.microsoft.com/office/drawing/2014/main" id="{95E6360F-BA26-A92E-2892-CB49B46A99FD}"/>
              </a:ext>
            </a:extLst>
          </p:cNvPr>
          <p:cNvSpPr/>
          <p:nvPr/>
        </p:nvSpPr>
        <p:spPr>
          <a:xfrm>
            <a:off x="5617911" y="4031312"/>
            <a:ext cx="199911" cy="192472"/>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1164793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CEB62-49D7-6D9C-22CC-7359AA323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F7182-BC93-370B-E7EF-6ADD8C66F7E0}"/>
              </a:ext>
            </a:extLst>
          </p:cNvPr>
          <p:cNvSpPr>
            <a:spLocks noGrp="1"/>
          </p:cNvSpPr>
          <p:nvPr>
            <p:ph type="title"/>
          </p:nvPr>
        </p:nvSpPr>
        <p:spPr>
          <a:xfrm>
            <a:off x="838200" y="286024"/>
            <a:ext cx="10515600" cy="1325563"/>
          </a:xfrm>
        </p:spPr>
        <p:txBody>
          <a:bodyPr>
            <a:normAutofit/>
          </a:bodyPr>
          <a:lstStyle/>
          <a:p>
            <a:pPr algn="ctr"/>
            <a:r>
              <a:rPr lang="en-US" sz="4000" dirty="0">
                <a:latin typeface="Segoe Print" panose="02000800000000000000" pitchFamily="2" charset="0"/>
              </a:rPr>
              <a:t>We’ll do a few practice rounds and then send you and Bleeblop on your way!</a:t>
            </a:r>
          </a:p>
        </p:txBody>
      </p:sp>
      <p:pic>
        <p:nvPicPr>
          <p:cNvPr id="4" name="Picture 3">
            <a:extLst>
              <a:ext uri="{FF2B5EF4-FFF2-40B4-BE49-F238E27FC236}">
                <a16:creationId xmlns:a16="http://schemas.microsoft.com/office/drawing/2014/main" id="{99ECD7DD-4547-D626-792D-53B9CF9AEA4F}"/>
              </a:ext>
            </a:extLst>
          </p:cNvPr>
          <p:cNvPicPr>
            <a:picLocks noChangeAspect="1"/>
          </p:cNvPicPr>
          <p:nvPr/>
        </p:nvPicPr>
        <p:blipFill>
          <a:blip r:embed="rId3"/>
          <a:stretch>
            <a:fillRect/>
          </a:stretch>
        </p:blipFill>
        <p:spPr>
          <a:xfrm>
            <a:off x="3897020" y="1822967"/>
            <a:ext cx="4397960" cy="4158072"/>
          </a:xfrm>
          <a:prstGeom prst="rect">
            <a:avLst/>
          </a:prstGeom>
        </p:spPr>
      </p:pic>
      <p:sp>
        <p:nvSpPr>
          <p:cNvPr id="5" name="5-Point Star 4">
            <a:extLst>
              <a:ext uri="{FF2B5EF4-FFF2-40B4-BE49-F238E27FC236}">
                <a16:creationId xmlns:a16="http://schemas.microsoft.com/office/drawing/2014/main" id="{65136500-566F-097F-EBE3-3410E451EC00}"/>
              </a:ext>
            </a:extLst>
          </p:cNvPr>
          <p:cNvSpPr/>
          <p:nvPr/>
        </p:nvSpPr>
        <p:spPr>
          <a:xfrm>
            <a:off x="5617911" y="4031312"/>
            <a:ext cx="199911" cy="192472"/>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935427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1B12-448B-5E80-9B76-27672123E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40C3-D635-3CCD-1101-EEF00B4D3C89}"/>
              </a:ext>
            </a:extLst>
          </p:cNvPr>
          <p:cNvSpPr>
            <a:spLocks noGrp="1"/>
          </p:cNvSpPr>
          <p:nvPr>
            <p:ph type="title"/>
          </p:nvPr>
        </p:nvSpPr>
        <p:spPr>
          <a:xfrm>
            <a:off x="838200" y="286024"/>
            <a:ext cx="10515600" cy="1325563"/>
          </a:xfrm>
        </p:spPr>
        <p:txBody>
          <a:bodyPr>
            <a:normAutofit/>
          </a:bodyPr>
          <a:lstStyle/>
          <a:p>
            <a:pPr algn="ctr"/>
            <a:r>
              <a:rPr lang="en-US" sz="4000" dirty="0">
                <a:latin typeface="Segoe Print" panose="02000800000000000000" pitchFamily="2" charset="0"/>
              </a:rPr>
              <a:t>Great work! Bleeblop can’t wait to travel with you!</a:t>
            </a:r>
          </a:p>
        </p:txBody>
      </p:sp>
      <p:pic>
        <p:nvPicPr>
          <p:cNvPr id="7" name="Picture 6">
            <a:extLst>
              <a:ext uri="{FF2B5EF4-FFF2-40B4-BE49-F238E27FC236}">
                <a16:creationId xmlns:a16="http://schemas.microsoft.com/office/drawing/2014/main" id="{11FB02B0-D51D-73B2-6914-90C45672468F}"/>
              </a:ext>
            </a:extLst>
          </p:cNvPr>
          <p:cNvPicPr>
            <a:picLocks noChangeAspect="1"/>
          </p:cNvPicPr>
          <p:nvPr/>
        </p:nvPicPr>
        <p:blipFill>
          <a:blip r:embed="rId3"/>
          <a:stretch>
            <a:fillRect/>
          </a:stretch>
        </p:blipFill>
        <p:spPr>
          <a:xfrm>
            <a:off x="4285522" y="2182726"/>
            <a:ext cx="3620951" cy="3423445"/>
          </a:xfrm>
          <a:prstGeom prst="rect">
            <a:avLst/>
          </a:prstGeom>
        </p:spPr>
      </p:pic>
    </p:spTree>
    <p:extLst>
      <p:ext uri="{BB962C8B-B14F-4D97-AF65-F5344CB8AC3E}">
        <p14:creationId xmlns:p14="http://schemas.microsoft.com/office/powerpoint/2010/main" val="18893675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56A95-B7A9-6FD2-0267-897E27F49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3DC74-AC45-70FF-3616-3B29D65E9A07}"/>
              </a:ext>
            </a:extLst>
          </p:cNvPr>
          <p:cNvSpPr>
            <a:spLocks noGrp="1"/>
          </p:cNvSpPr>
          <p:nvPr>
            <p:ph type="title"/>
          </p:nvPr>
        </p:nvSpPr>
        <p:spPr>
          <a:xfrm>
            <a:off x="838200" y="286024"/>
            <a:ext cx="10515600" cy="1325563"/>
          </a:xfrm>
        </p:spPr>
        <p:txBody>
          <a:bodyPr>
            <a:normAutofit/>
          </a:bodyPr>
          <a:lstStyle/>
          <a:p>
            <a:pPr algn="ctr"/>
            <a:r>
              <a:rPr lang="en-US" sz="4000" dirty="0">
                <a:latin typeface="Segoe Print" panose="02000800000000000000" pitchFamily="2" charset="0"/>
              </a:rPr>
              <a:t>Let’s get started!</a:t>
            </a:r>
          </a:p>
        </p:txBody>
      </p:sp>
      <p:pic>
        <p:nvPicPr>
          <p:cNvPr id="6" name="Picture 5">
            <a:extLst>
              <a:ext uri="{FF2B5EF4-FFF2-40B4-BE49-F238E27FC236}">
                <a16:creationId xmlns:a16="http://schemas.microsoft.com/office/drawing/2014/main" id="{F00EEC15-7A4A-01E8-83A8-D65F8E3C05D7}"/>
              </a:ext>
            </a:extLst>
          </p:cNvPr>
          <p:cNvPicPr>
            <a:picLocks noChangeAspect="1"/>
          </p:cNvPicPr>
          <p:nvPr/>
        </p:nvPicPr>
        <p:blipFill>
          <a:blip r:embed="rId3"/>
          <a:stretch>
            <a:fillRect/>
          </a:stretch>
        </p:blipFill>
        <p:spPr>
          <a:xfrm>
            <a:off x="4285521" y="2182724"/>
            <a:ext cx="3620951" cy="3423445"/>
          </a:xfrm>
          <a:prstGeom prst="rect">
            <a:avLst/>
          </a:prstGeom>
        </p:spPr>
      </p:pic>
      <p:sp>
        <p:nvSpPr>
          <p:cNvPr id="3" name="5-Point Star 2">
            <a:extLst>
              <a:ext uri="{FF2B5EF4-FFF2-40B4-BE49-F238E27FC236}">
                <a16:creationId xmlns:a16="http://schemas.microsoft.com/office/drawing/2014/main" id="{3997A606-54D7-4862-8625-C2F4C445318C}"/>
              </a:ext>
            </a:extLst>
          </p:cNvPr>
          <p:cNvSpPr/>
          <p:nvPr/>
        </p:nvSpPr>
        <p:spPr>
          <a:xfrm>
            <a:off x="5687568" y="4050792"/>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354032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41031-5091-7E3A-5647-6AF280867476}"/>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9438236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9731-B5B6-8402-8E01-0D857A80A255}"/>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88094964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C41E-FF0C-5351-2443-BE66C3248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AEA7D-A941-3968-4B78-E774781F9611}"/>
              </a:ext>
            </a:extLst>
          </p:cNvPr>
          <p:cNvSpPr>
            <a:spLocks noGrp="1"/>
          </p:cNvSpPr>
          <p:nvPr>
            <p:ph type="title"/>
          </p:nvPr>
        </p:nvSpPr>
        <p:spPr>
          <a:xfrm>
            <a:off x="430306" y="187438"/>
            <a:ext cx="11456894" cy="1453103"/>
          </a:xfrm>
        </p:spPr>
        <p:txBody>
          <a:bodyPr>
            <a:normAutofit fontScale="90000"/>
          </a:bodyPr>
          <a:lstStyle/>
          <a:p>
            <a:pPr algn="ctr"/>
            <a:r>
              <a:rPr lang="en-US" sz="4000" dirty="0">
                <a:latin typeface="Segoe Print" panose="02000800000000000000" pitchFamily="2" charset="0"/>
              </a:rPr>
              <a:t>Overheating or running out of power will force Bleeblop to go back for help and lose progress</a:t>
            </a:r>
          </a:p>
        </p:txBody>
      </p:sp>
      <p:pic>
        <p:nvPicPr>
          <p:cNvPr id="3" name="Picture 2">
            <a:extLst>
              <a:ext uri="{FF2B5EF4-FFF2-40B4-BE49-F238E27FC236}">
                <a16:creationId xmlns:a16="http://schemas.microsoft.com/office/drawing/2014/main" id="{3740AF60-5BFB-C5F8-BDEE-F83CFC3C6966}"/>
              </a:ext>
            </a:extLst>
          </p:cNvPr>
          <p:cNvPicPr>
            <a:picLocks noChangeAspect="1"/>
          </p:cNvPicPr>
          <p:nvPr/>
        </p:nvPicPr>
        <p:blipFill>
          <a:blip r:embed="rId3"/>
          <a:stretch>
            <a:fillRect/>
          </a:stretch>
        </p:blipFill>
        <p:spPr>
          <a:xfrm>
            <a:off x="3016623" y="1640541"/>
            <a:ext cx="6158753" cy="4798424"/>
          </a:xfrm>
          <a:prstGeom prst="rect">
            <a:avLst/>
          </a:prstGeom>
        </p:spPr>
      </p:pic>
      <p:pic>
        <p:nvPicPr>
          <p:cNvPr id="4" name="Picture 3">
            <a:extLst>
              <a:ext uri="{FF2B5EF4-FFF2-40B4-BE49-F238E27FC236}">
                <a16:creationId xmlns:a16="http://schemas.microsoft.com/office/drawing/2014/main" id="{98E9F09B-0897-037C-D8E4-7EE1266F53D0}"/>
              </a:ext>
            </a:extLst>
          </p:cNvPr>
          <p:cNvPicPr>
            <a:picLocks noChangeAspect="1"/>
          </p:cNvPicPr>
          <p:nvPr/>
        </p:nvPicPr>
        <p:blipFill>
          <a:blip r:embed="rId4"/>
          <a:stretch>
            <a:fillRect/>
          </a:stretch>
        </p:blipFill>
        <p:spPr>
          <a:xfrm>
            <a:off x="6095999" y="4039753"/>
            <a:ext cx="868680" cy="821298"/>
          </a:xfrm>
          <a:prstGeom prst="rect">
            <a:avLst/>
          </a:prstGeom>
        </p:spPr>
      </p:pic>
      <p:pic>
        <p:nvPicPr>
          <p:cNvPr id="8" name="Picture 7">
            <a:extLst>
              <a:ext uri="{FF2B5EF4-FFF2-40B4-BE49-F238E27FC236}">
                <a16:creationId xmlns:a16="http://schemas.microsoft.com/office/drawing/2014/main" id="{A6F38BB2-7014-65D7-9D37-479CD4EF2B20}"/>
              </a:ext>
            </a:extLst>
          </p:cNvPr>
          <p:cNvPicPr>
            <a:picLocks noChangeAspect="1"/>
          </p:cNvPicPr>
          <p:nvPr/>
        </p:nvPicPr>
        <p:blipFill>
          <a:blip r:embed="rId5"/>
          <a:stretch>
            <a:fillRect/>
          </a:stretch>
        </p:blipFill>
        <p:spPr>
          <a:xfrm>
            <a:off x="5057673" y="2572885"/>
            <a:ext cx="1060628" cy="1041518"/>
          </a:xfrm>
          <a:prstGeom prst="rect">
            <a:avLst/>
          </a:prstGeom>
        </p:spPr>
      </p:pic>
    </p:spTree>
    <p:extLst>
      <p:ext uri="{BB962C8B-B14F-4D97-AF65-F5344CB8AC3E}">
        <p14:creationId xmlns:p14="http://schemas.microsoft.com/office/powerpoint/2010/main" val="25671719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nodeType="clickEffect">
                                  <p:stCondLst>
                                    <p:cond delay="0"/>
                                  </p:stCondLst>
                                  <p:childTnLst>
                                    <p:animMotion origin="layout" path="M 3.125E-6 -2.59259E-6 L -0.02448 0.00185 C -0.02943 0.00255 -0.03659 0.0007 -0.04323 -0.00416 C -0.05131 -0.00903 -0.0569 -0.01481 -0.06029 -0.02129 L -0.07761 -0.05046 " pathEditMode="relative" rAng="1200000" ptsTypes="AAAAA">
                                      <p:cBhvr>
                                        <p:cTn id="6" dur="10000" fill="hold"/>
                                        <p:tgtEl>
                                          <p:spTgt spid="4"/>
                                        </p:tgtEl>
                                        <p:attrNameLst>
                                          <p:attrName>ppt_x</p:attrName>
                                          <p:attrName>ppt_y</p:attrName>
                                        </p:attrNameLst>
                                      </p:cBhvr>
                                      <p:rCtr x="-4102" y="-14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7521-94A8-F476-FF7C-4D90A7661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BED45-A569-CE36-F3E8-7726F932F333}"/>
              </a:ext>
            </a:extLst>
          </p:cNvPr>
          <p:cNvSpPr>
            <a:spLocks noGrp="1"/>
          </p:cNvSpPr>
          <p:nvPr>
            <p:ph type="title"/>
          </p:nvPr>
        </p:nvSpPr>
        <p:spPr>
          <a:xfrm>
            <a:off x="838200" y="497404"/>
            <a:ext cx="10515600" cy="1325563"/>
          </a:xfrm>
        </p:spPr>
        <p:txBody>
          <a:bodyPr>
            <a:normAutofit fontScale="90000"/>
          </a:bodyPr>
          <a:lstStyle/>
          <a:p>
            <a:pPr algn="ctr"/>
            <a:r>
              <a:rPr lang="en-US" sz="4000" dirty="0">
                <a:latin typeface="Segoe Print" panose="02000800000000000000" pitchFamily="2" charset="0"/>
              </a:rPr>
              <a:t>Overheating or running out of power will cause Bleeblop to go backwards to the last repair shop that they passed</a:t>
            </a:r>
          </a:p>
        </p:txBody>
      </p:sp>
      <p:pic>
        <p:nvPicPr>
          <p:cNvPr id="3" name="Picture 2">
            <a:extLst>
              <a:ext uri="{FF2B5EF4-FFF2-40B4-BE49-F238E27FC236}">
                <a16:creationId xmlns:a16="http://schemas.microsoft.com/office/drawing/2014/main" id="{66ED3506-023E-2AEA-CB49-004744741462}"/>
              </a:ext>
            </a:extLst>
          </p:cNvPr>
          <p:cNvPicPr>
            <a:picLocks noChangeAspect="1"/>
          </p:cNvPicPr>
          <p:nvPr/>
        </p:nvPicPr>
        <p:blipFill>
          <a:blip r:embed="rId3"/>
          <a:stretch>
            <a:fillRect/>
          </a:stretch>
        </p:blipFill>
        <p:spPr>
          <a:xfrm>
            <a:off x="3978704" y="2204061"/>
            <a:ext cx="4234592" cy="4156535"/>
          </a:xfrm>
          <a:prstGeom prst="rect">
            <a:avLst/>
          </a:prstGeom>
        </p:spPr>
      </p:pic>
    </p:spTree>
    <p:extLst>
      <p:ext uri="{BB962C8B-B14F-4D97-AF65-F5344CB8AC3E}">
        <p14:creationId xmlns:p14="http://schemas.microsoft.com/office/powerpoint/2010/main" val="38030074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1513-682D-A5AE-F4AE-13A0200FA3F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0462B05-75E7-59DA-AED4-837EFC372D6B}"/>
              </a:ext>
            </a:extLst>
          </p:cNvPr>
          <p:cNvSpPr txBox="1">
            <a:spLocks/>
          </p:cNvSpPr>
          <p:nvPr/>
        </p:nvSpPr>
        <p:spPr>
          <a:xfrm>
            <a:off x="990600"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p>
        </p:txBody>
      </p:sp>
      <p:sp>
        <p:nvSpPr>
          <p:cNvPr id="7" name="Title 1">
            <a:extLst>
              <a:ext uri="{FF2B5EF4-FFF2-40B4-BE49-F238E27FC236}">
                <a16:creationId xmlns:a16="http://schemas.microsoft.com/office/drawing/2014/main" id="{FC6C3222-7B56-78D8-CE90-8AB877374E2C}"/>
              </a:ext>
            </a:extLst>
          </p:cNvPr>
          <p:cNvSpPr txBox="1">
            <a:spLocks/>
          </p:cNvSpPr>
          <p:nvPr/>
        </p:nvSpPr>
        <p:spPr>
          <a:xfrm>
            <a:off x="431809" y="382248"/>
            <a:ext cx="1132837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By clicking the up arrow, you can dump some stored gloop back into the main gloop container</a:t>
            </a:r>
          </a:p>
        </p:txBody>
      </p:sp>
      <p:pic>
        <p:nvPicPr>
          <p:cNvPr id="8" name="Picture 7">
            <a:extLst>
              <a:ext uri="{FF2B5EF4-FFF2-40B4-BE49-F238E27FC236}">
                <a16:creationId xmlns:a16="http://schemas.microsoft.com/office/drawing/2014/main" id="{21A60D50-20E9-B953-42DE-D531C621C3DD}"/>
              </a:ext>
            </a:extLst>
          </p:cNvPr>
          <p:cNvPicPr>
            <a:picLocks noChangeAspect="1"/>
          </p:cNvPicPr>
          <p:nvPr/>
        </p:nvPicPr>
        <p:blipFill>
          <a:blip r:embed="rId3"/>
          <a:stretch>
            <a:fillRect/>
          </a:stretch>
        </p:blipFill>
        <p:spPr>
          <a:xfrm>
            <a:off x="3773503" y="2110580"/>
            <a:ext cx="4644988" cy="4365169"/>
          </a:xfrm>
          <a:prstGeom prst="rect">
            <a:avLst/>
          </a:prstGeom>
        </p:spPr>
      </p:pic>
      <p:sp>
        <p:nvSpPr>
          <p:cNvPr id="2" name="5-Point Star 1">
            <a:extLst>
              <a:ext uri="{FF2B5EF4-FFF2-40B4-BE49-F238E27FC236}">
                <a16:creationId xmlns:a16="http://schemas.microsoft.com/office/drawing/2014/main" id="{DBBE22A7-2F68-A6A7-839A-E43DE1A01770}"/>
              </a:ext>
            </a:extLst>
          </p:cNvPr>
          <p:cNvSpPr/>
          <p:nvPr/>
        </p:nvSpPr>
        <p:spPr>
          <a:xfrm>
            <a:off x="5632704" y="4480560"/>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screenshot of a computer&#10;&#10;AI-generated content may be incorrect.">
            <a:extLst>
              <a:ext uri="{FF2B5EF4-FFF2-40B4-BE49-F238E27FC236}">
                <a16:creationId xmlns:a16="http://schemas.microsoft.com/office/drawing/2014/main" id="{4095DC10-514B-01FE-082B-A0B2D366DD8E}"/>
              </a:ext>
            </a:extLst>
          </p:cNvPr>
          <p:cNvPicPr>
            <a:picLocks noChangeAspect="1"/>
          </p:cNvPicPr>
          <p:nvPr/>
        </p:nvPicPr>
        <p:blipFill>
          <a:blip r:embed="rId4"/>
          <a:srcRect t="53857" r="75429"/>
          <a:stretch>
            <a:fillRect/>
          </a:stretch>
        </p:blipFill>
        <p:spPr>
          <a:xfrm>
            <a:off x="8866483" y="3922776"/>
            <a:ext cx="1909763" cy="1494350"/>
          </a:xfrm>
          <a:prstGeom prst="rect">
            <a:avLst/>
          </a:prstGeom>
        </p:spPr>
      </p:pic>
      <p:sp>
        <p:nvSpPr>
          <p:cNvPr id="4" name="TextBox 3">
            <a:extLst>
              <a:ext uri="{FF2B5EF4-FFF2-40B4-BE49-F238E27FC236}">
                <a16:creationId xmlns:a16="http://schemas.microsoft.com/office/drawing/2014/main" id="{B7B60A8E-2D7E-F509-1E2C-2A2CE904F7AE}"/>
              </a:ext>
            </a:extLst>
          </p:cNvPr>
          <p:cNvSpPr txBox="1"/>
          <p:nvPr/>
        </p:nvSpPr>
        <p:spPr>
          <a:xfrm>
            <a:off x="10107765" y="2967864"/>
            <a:ext cx="2029638" cy="923330"/>
          </a:xfrm>
          <a:prstGeom prst="rect">
            <a:avLst/>
          </a:prstGeom>
          <a:noFill/>
        </p:spPr>
        <p:txBody>
          <a:bodyPr wrap="square">
            <a:spAutoFit/>
          </a:bodyPr>
          <a:lstStyle/>
          <a:p>
            <a:r>
              <a:rPr lang="en-US" sz="1800" dirty="0">
                <a:latin typeface="Segoe Print" panose="02000800000000000000" pitchFamily="2" charset="0"/>
              </a:rPr>
              <a:t>Move gloop from storage to main container</a:t>
            </a:r>
          </a:p>
        </p:txBody>
      </p:sp>
      <p:sp>
        <p:nvSpPr>
          <p:cNvPr id="6" name="Rounded Rectangle 5">
            <a:extLst>
              <a:ext uri="{FF2B5EF4-FFF2-40B4-BE49-F238E27FC236}">
                <a16:creationId xmlns:a16="http://schemas.microsoft.com/office/drawing/2014/main" id="{0FB34F53-B690-A5AF-7D4A-9914BFCB80B3}"/>
              </a:ext>
            </a:extLst>
          </p:cNvPr>
          <p:cNvSpPr/>
          <p:nvPr/>
        </p:nvSpPr>
        <p:spPr>
          <a:xfrm>
            <a:off x="9734022" y="4050723"/>
            <a:ext cx="373743" cy="384627"/>
          </a:xfrm>
          <a:prstGeom prst="roundRect">
            <a:avLst>
              <a:gd name="adj" fmla="val 11007"/>
            </a:avLst>
          </a:prstGeom>
          <a:solidFill>
            <a:srgbClr val="D565E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45B31CA9-06A1-CDB1-5B3A-11F2C116A326}"/>
              </a:ext>
            </a:extLst>
          </p:cNvPr>
          <p:cNvCxnSpPr/>
          <p:nvPr/>
        </p:nvCxnSpPr>
        <p:spPr>
          <a:xfrm flipH="1">
            <a:off x="10135178" y="3891194"/>
            <a:ext cx="220489" cy="1669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0" name="Picture 9" descr="A black and white hand pointing&#10;&#10;AI-generated content may be incorrect.">
            <a:extLst>
              <a:ext uri="{FF2B5EF4-FFF2-40B4-BE49-F238E27FC236}">
                <a16:creationId xmlns:a16="http://schemas.microsoft.com/office/drawing/2014/main" id="{C03A1BA5-817D-B250-1482-A4C8A49461FE}"/>
              </a:ext>
            </a:extLst>
          </p:cNvPr>
          <p:cNvPicPr>
            <a:picLocks noChangeAspect="1"/>
          </p:cNvPicPr>
          <p:nvPr/>
        </p:nvPicPr>
        <p:blipFill>
          <a:blip r:embed="rId5">
            <a:clrChange>
              <a:clrFrom>
                <a:srgbClr val="FEFEFE"/>
              </a:clrFrom>
              <a:clrTo>
                <a:srgbClr val="FEFEFE">
                  <a:alpha val="0"/>
                </a:srgbClr>
              </a:clrTo>
            </a:clrChange>
          </a:blip>
          <a:srcRect l="9733" t="14299" r="59247" b="16054"/>
          <a:stretch>
            <a:fillRect/>
          </a:stretch>
        </p:blipFill>
        <p:spPr>
          <a:xfrm>
            <a:off x="9493917" y="4394292"/>
            <a:ext cx="1015410" cy="1424186"/>
          </a:xfrm>
          <a:prstGeom prst="rect">
            <a:avLst/>
          </a:prstGeom>
        </p:spPr>
      </p:pic>
    </p:spTree>
    <p:extLst>
      <p:ext uri="{BB962C8B-B14F-4D97-AF65-F5344CB8AC3E}">
        <p14:creationId xmlns:p14="http://schemas.microsoft.com/office/powerpoint/2010/main" val="6705244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1784E-F843-2290-BB9A-2FEE36ED603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DF6E46-8A0D-ADC0-728F-0D273A6187CE}"/>
              </a:ext>
            </a:extLst>
          </p:cNvPr>
          <p:cNvSpPr txBox="1">
            <a:spLocks/>
          </p:cNvSpPr>
          <p:nvPr/>
        </p:nvSpPr>
        <p:spPr>
          <a:xfrm>
            <a:off x="838200" y="4338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Use the left arrow key to add to the main gloop container</a:t>
            </a:r>
          </a:p>
        </p:txBody>
      </p:sp>
      <p:pic>
        <p:nvPicPr>
          <p:cNvPr id="6" name="Picture 5">
            <a:extLst>
              <a:ext uri="{FF2B5EF4-FFF2-40B4-BE49-F238E27FC236}">
                <a16:creationId xmlns:a16="http://schemas.microsoft.com/office/drawing/2014/main" id="{DBE04D61-C00E-7409-2DCF-B9F6A123389C}"/>
              </a:ext>
            </a:extLst>
          </p:cNvPr>
          <p:cNvPicPr>
            <a:picLocks noChangeAspect="1"/>
          </p:cNvPicPr>
          <p:nvPr/>
        </p:nvPicPr>
        <p:blipFill>
          <a:blip r:embed="rId3"/>
          <a:stretch>
            <a:fillRect/>
          </a:stretch>
        </p:blipFill>
        <p:spPr>
          <a:xfrm>
            <a:off x="4090928" y="2446637"/>
            <a:ext cx="4010138" cy="3791403"/>
          </a:xfrm>
          <a:prstGeom prst="rect">
            <a:avLst/>
          </a:prstGeom>
        </p:spPr>
      </p:pic>
      <p:sp>
        <p:nvSpPr>
          <p:cNvPr id="2" name="5-Point Star 1">
            <a:extLst>
              <a:ext uri="{FF2B5EF4-FFF2-40B4-BE49-F238E27FC236}">
                <a16:creationId xmlns:a16="http://schemas.microsoft.com/office/drawing/2014/main" id="{76E830F5-73AC-CD43-6076-3AC3F7661466}"/>
              </a:ext>
            </a:extLst>
          </p:cNvPr>
          <p:cNvSpPr/>
          <p:nvPr/>
        </p:nvSpPr>
        <p:spPr>
          <a:xfrm>
            <a:off x="5669280" y="448970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screenshot of a computer&#10;&#10;AI-generated content may be incorrect.">
            <a:extLst>
              <a:ext uri="{FF2B5EF4-FFF2-40B4-BE49-F238E27FC236}">
                <a16:creationId xmlns:a16="http://schemas.microsoft.com/office/drawing/2014/main" id="{AB3FD3DB-656C-E85D-EC86-1F850E0E02BC}"/>
              </a:ext>
            </a:extLst>
          </p:cNvPr>
          <p:cNvPicPr>
            <a:picLocks noChangeAspect="1"/>
          </p:cNvPicPr>
          <p:nvPr/>
        </p:nvPicPr>
        <p:blipFill>
          <a:blip r:embed="rId4"/>
          <a:srcRect t="53857" r="75429"/>
          <a:stretch>
            <a:fillRect/>
          </a:stretch>
        </p:blipFill>
        <p:spPr>
          <a:xfrm>
            <a:off x="9144390" y="3604246"/>
            <a:ext cx="1909763" cy="1494350"/>
          </a:xfrm>
          <a:prstGeom prst="rect">
            <a:avLst/>
          </a:prstGeom>
        </p:spPr>
      </p:pic>
      <p:sp>
        <p:nvSpPr>
          <p:cNvPr id="5" name="TextBox 4">
            <a:extLst>
              <a:ext uri="{FF2B5EF4-FFF2-40B4-BE49-F238E27FC236}">
                <a16:creationId xmlns:a16="http://schemas.microsoft.com/office/drawing/2014/main" id="{8E24A24F-0932-9973-A404-083D030F8085}"/>
              </a:ext>
            </a:extLst>
          </p:cNvPr>
          <p:cNvSpPr txBox="1"/>
          <p:nvPr/>
        </p:nvSpPr>
        <p:spPr>
          <a:xfrm>
            <a:off x="8491505" y="3576750"/>
            <a:ext cx="1061645" cy="646331"/>
          </a:xfrm>
          <a:prstGeom prst="rect">
            <a:avLst/>
          </a:prstGeom>
          <a:noFill/>
        </p:spPr>
        <p:txBody>
          <a:bodyPr wrap="square">
            <a:spAutoFit/>
          </a:bodyPr>
          <a:lstStyle/>
          <a:p>
            <a:r>
              <a:rPr lang="en-US" sz="1800" dirty="0">
                <a:latin typeface="Segoe Print" panose="02000800000000000000" pitchFamily="2" charset="0"/>
              </a:rPr>
              <a:t>Add gloop</a:t>
            </a:r>
          </a:p>
        </p:txBody>
      </p:sp>
      <p:sp>
        <p:nvSpPr>
          <p:cNvPr id="7" name="Rounded Rectangle 6">
            <a:extLst>
              <a:ext uri="{FF2B5EF4-FFF2-40B4-BE49-F238E27FC236}">
                <a16:creationId xmlns:a16="http://schemas.microsoft.com/office/drawing/2014/main" id="{2880A886-B8EE-9285-6E63-A1F3769FA78A}"/>
              </a:ext>
            </a:extLst>
          </p:cNvPr>
          <p:cNvSpPr/>
          <p:nvPr/>
        </p:nvSpPr>
        <p:spPr>
          <a:xfrm>
            <a:off x="9562294" y="4200289"/>
            <a:ext cx="373743" cy="384627"/>
          </a:xfrm>
          <a:prstGeom prst="roundRect">
            <a:avLst>
              <a:gd name="adj" fmla="val 11007"/>
            </a:avLst>
          </a:prstGeom>
          <a:solidFill>
            <a:srgbClr val="D565E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Arrow Connector 7">
            <a:extLst>
              <a:ext uri="{FF2B5EF4-FFF2-40B4-BE49-F238E27FC236}">
                <a16:creationId xmlns:a16="http://schemas.microsoft.com/office/drawing/2014/main" id="{4CF57D63-D87B-7051-D575-741FDD39B46A}"/>
              </a:ext>
            </a:extLst>
          </p:cNvPr>
          <p:cNvCxnSpPr>
            <a:cxnSpLocks/>
          </p:cNvCxnSpPr>
          <p:nvPr/>
        </p:nvCxnSpPr>
        <p:spPr>
          <a:xfrm>
            <a:off x="9251752" y="4005943"/>
            <a:ext cx="220489" cy="1669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Picture 8" descr="A black and white hand pointing&#10;&#10;AI-generated content may be incorrect.">
            <a:extLst>
              <a:ext uri="{FF2B5EF4-FFF2-40B4-BE49-F238E27FC236}">
                <a16:creationId xmlns:a16="http://schemas.microsoft.com/office/drawing/2014/main" id="{F66AC7C3-9DAE-2679-911E-A36CD1837196}"/>
              </a:ext>
            </a:extLst>
          </p:cNvPr>
          <p:cNvPicPr>
            <a:picLocks noChangeAspect="1"/>
          </p:cNvPicPr>
          <p:nvPr/>
        </p:nvPicPr>
        <p:blipFill>
          <a:blip r:embed="rId5">
            <a:clrChange>
              <a:clrFrom>
                <a:srgbClr val="FEFEFE"/>
              </a:clrFrom>
              <a:clrTo>
                <a:srgbClr val="FEFEFE">
                  <a:alpha val="0"/>
                </a:srgbClr>
              </a:clrTo>
            </a:clrChange>
          </a:blip>
          <a:srcRect l="9733" t="14299" r="59247" b="16054"/>
          <a:stretch>
            <a:fillRect/>
          </a:stretch>
        </p:blipFill>
        <p:spPr>
          <a:xfrm>
            <a:off x="9361996" y="4456577"/>
            <a:ext cx="1015410" cy="1424186"/>
          </a:xfrm>
          <a:prstGeom prst="rect">
            <a:avLst/>
          </a:prstGeom>
        </p:spPr>
      </p:pic>
    </p:spTree>
    <p:extLst>
      <p:ext uri="{BB962C8B-B14F-4D97-AF65-F5344CB8AC3E}">
        <p14:creationId xmlns:p14="http://schemas.microsoft.com/office/powerpoint/2010/main" val="30014109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DD5F-FF15-2D29-1A6F-CADFC8DA955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6EC4BD6-D413-68F1-7CFB-DB1B531B75DC}"/>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Segoe Print" panose="02000800000000000000" pitchFamily="2" charset="0"/>
              </a:rPr>
              <a:t>Bleeblop’s gloop levels will reset at the end of each day</a:t>
            </a:r>
          </a:p>
        </p:txBody>
      </p:sp>
      <p:pic>
        <p:nvPicPr>
          <p:cNvPr id="5" name="Picture 4">
            <a:extLst>
              <a:ext uri="{FF2B5EF4-FFF2-40B4-BE49-F238E27FC236}">
                <a16:creationId xmlns:a16="http://schemas.microsoft.com/office/drawing/2014/main" id="{6EF954D6-F840-97AE-7E60-478A6B19D839}"/>
              </a:ext>
            </a:extLst>
          </p:cNvPr>
          <p:cNvPicPr>
            <a:picLocks noChangeAspect="1"/>
          </p:cNvPicPr>
          <p:nvPr/>
        </p:nvPicPr>
        <p:blipFill>
          <a:blip r:embed="rId3"/>
          <a:stretch>
            <a:fillRect/>
          </a:stretch>
        </p:blipFill>
        <p:spPr>
          <a:xfrm>
            <a:off x="3780523" y="1943888"/>
            <a:ext cx="4630951" cy="4378354"/>
          </a:xfrm>
          <a:prstGeom prst="rect">
            <a:avLst/>
          </a:prstGeom>
        </p:spPr>
      </p:pic>
      <p:sp>
        <p:nvSpPr>
          <p:cNvPr id="2" name="5-Point Star 1">
            <a:extLst>
              <a:ext uri="{FF2B5EF4-FFF2-40B4-BE49-F238E27FC236}">
                <a16:creationId xmlns:a16="http://schemas.microsoft.com/office/drawing/2014/main" id="{0CDE43B8-A109-91D7-B5B5-4736766EA5F3}"/>
              </a:ext>
            </a:extLst>
          </p:cNvPr>
          <p:cNvSpPr/>
          <p:nvPr/>
        </p:nvSpPr>
        <p:spPr>
          <a:xfrm>
            <a:off x="5650992" y="4306824"/>
            <a:ext cx="164592" cy="173736"/>
          </a:xfrm>
          <a:prstGeom prst="star5">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429070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05F2-E5CD-E03C-68D2-BB51BAEC9ABC}"/>
              </a:ext>
            </a:extLst>
          </p:cNvPr>
          <p:cNvSpPr>
            <a:spLocks noGrp="1"/>
          </p:cNvSpPr>
          <p:nvPr>
            <p:ph type="title"/>
          </p:nvPr>
        </p:nvSpPr>
        <p:spPr>
          <a:xfrm>
            <a:off x="838200" y="757536"/>
            <a:ext cx="10515600" cy="5853126"/>
          </a:xfrm>
        </p:spPr>
        <p:txBody>
          <a:bodyPr>
            <a:noAutofit/>
          </a:bodyPr>
          <a:lstStyle/>
          <a:p>
            <a:r>
              <a:rPr lang="en-US" sz="2000" dirty="0"/>
              <a:t>5 rounds without storage and then five rounds with storage (using different color liquids, and a different velocity) </a:t>
            </a:r>
            <a:br>
              <a:rPr lang="en-US" sz="2000" dirty="0"/>
            </a:br>
            <a:br>
              <a:rPr lang="en-US" sz="2000" dirty="0"/>
            </a:br>
            <a:r>
              <a:rPr lang="en-US" sz="2000" dirty="0"/>
              <a:t>giving feedback as it goes</a:t>
            </a:r>
            <a:br>
              <a:rPr lang="en-US" sz="2000" dirty="0"/>
            </a:br>
            <a:r>
              <a:rPr lang="en-US" sz="2000" dirty="0"/>
              <a:t>	- if the main container goes empty: “Oh no! Bleeblop ran out of power… Remember, you can use the </a:t>
            </a:r>
            <a:r>
              <a:rPr lang="en-US" sz="2000" b="1" dirty="0"/>
              <a:t>left arrow key </a:t>
            </a:r>
            <a:r>
              <a:rPr lang="en-US" sz="2000" dirty="0"/>
              <a:t>to add to the main gloop container, and clicking the </a:t>
            </a:r>
            <a:r>
              <a:rPr lang="en-US" sz="2000" b="1" dirty="0"/>
              <a:t>up arrow key </a:t>
            </a:r>
            <a:r>
              <a:rPr lang="en-US" sz="2000" dirty="0"/>
              <a:t>will dump some stored gloop into the container if it is available. Try to keep the main gloop container at the ideal level (maybe have an arrow pointing to it) so Bleeblop can move as fast as possible!”</a:t>
            </a:r>
            <a:br>
              <a:rPr lang="en-US" sz="2000" dirty="0"/>
            </a:br>
            <a:r>
              <a:rPr lang="en-US" sz="2000" dirty="0"/>
              <a:t>	- if the main container reaches the max: “Oh no! Bleeblop overheated… Remember, Bleeblop’s gloop levels naturally drain overtime, so sometimes it may be best to hold off from filling the main container to keep Bleeblop’s gloop at the ideal level (maybe have an arrow pointing to it). Keeping the main gloop container at the ideal level will let Bleeblop move as fast as possible!”</a:t>
            </a:r>
            <a:br>
              <a:rPr lang="en-US" sz="2000" dirty="0"/>
            </a:br>
            <a:r>
              <a:rPr lang="en-US" sz="2000" dirty="0"/>
              <a:t>	- if they hit the up arrow key on a no storage round: “Bleeblop’s stored gloop is not available today… Bleeblop still has what you stored, it just cannot be accessed right now. Remember, you can always use the </a:t>
            </a:r>
            <a:r>
              <a:rPr lang="en-US" sz="2000" b="1" dirty="0"/>
              <a:t>left arrow key </a:t>
            </a:r>
            <a:r>
              <a:rPr lang="en-US" sz="2000" dirty="0"/>
              <a:t>to add to the main gloop container!”</a:t>
            </a:r>
            <a:br>
              <a:rPr lang="en-US" sz="2000" dirty="0"/>
            </a:br>
            <a:r>
              <a:rPr lang="en-US" sz="2000" dirty="0"/>
              <a:t>	- if they hit the up arrow key on a storage round but the storage is empty: “Bleeblop does not have any stored gloop to use at the moment… The storage container will fill with whatever drains when the main container is </a:t>
            </a:r>
            <a:r>
              <a:rPr lang="en-US" sz="2000" b="1" dirty="0"/>
              <a:t>above</a:t>
            </a:r>
            <a:r>
              <a:rPr lang="en-US" sz="2000" dirty="0"/>
              <a:t> the ideal level.”</a:t>
            </a:r>
          </a:p>
        </p:txBody>
      </p:sp>
    </p:spTree>
    <p:extLst>
      <p:ext uri="{BB962C8B-B14F-4D97-AF65-F5344CB8AC3E}">
        <p14:creationId xmlns:p14="http://schemas.microsoft.com/office/powerpoint/2010/main" val="103710760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4915A-036C-6116-9D13-D1B852936B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E8A7E9-8F21-ACAB-B136-9889B4F99026}"/>
              </a:ext>
            </a:extLst>
          </p:cNvPr>
          <p:cNvSpPr txBox="1"/>
          <p:nvPr/>
        </p:nvSpPr>
        <p:spPr>
          <a:xfrm>
            <a:off x="1241742" y="1017381"/>
            <a:ext cx="9708516" cy="5478423"/>
          </a:xfrm>
          <a:prstGeom prst="rect">
            <a:avLst/>
          </a:prstGeom>
          <a:noFill/>
        </p:spPr>
        <p:txBody>
          <a:bodyPr wrap="square" rtlCol="0">
            <a:spAutoFit/>
          </a:bodyPr>
          <a:lstStyle/>
          <a:p>
            <a:pPr algn="ctr"/>
            <a:r>
              <a:rPr lang="en-US" sz="4000" dirty="0">
                <a:latin typeface="Segoe Print" panose="02000800000000000000" pitchFamily="2" charset="0"/>
                <a:ea typeface="Verdana" panose="020B0604030504040204" pitchFamily="34" charset="0"/>
                <a:cs typeface="Dreaming Outloud Pro" panose="020F0502020204030204" pitchFamily="34" charset="0"/>
              </a:rPr>
              <a:t>Welcome to the Maintenance Game</a:t>
            </a:r>
          </a:p>
          <a:p>
            <a:pPr marL="457200" indent="-457200">
              <a:buFont typeface="Arial" panose="020B0604020202020204" pitchFamily="34" charset="0"/>
              <a:buChar char="•"/>
            </a:pPr>
            <a:endParaRPr lang="en-US" sz="3000" dirty="0"/>
          </a:p>
          <a:p>
            <a:r>
              <a:rPr lang="en-US" sz="2800" dirty="0">
                <a:latin typeface="Segoe Print" panose="02000800000000000000" pitchFamily="2" charset="0"/>
              </a:rPr>
              <a:t>Now that you’re logged in, please give this game </a:t>
            </a:r>
            <a:r>
              <a:rPr lang="en-US" sz="2800" b="1" u="sng" dirty="0">
                <a:latin typeface="Segoe Print" panose="02000800000000000000" pitchFamily="2" charset="0"/>
              </a:rPr>
              <a:t>your full attention</a:t>
            </a:r>
            <a:r>
              <a:rPr lang="en-US" sz="2800" b="1" dirty="0">
                <a:latin typeface="Segoe Print" panose="02000800000000000000" pitchFamily="2" charset="0"/>
              </a:rPr>
              <a:t>.</a:t>
            </a:r>
          </a:p>
          <a:p>
            <a:endParaRPr lang="en-US" sz="2800" dirty="0">
              <a:latin typeface="Segoe Print" panose="02000800000000000000" pitchFamily="2" charset="0"/>
            </a:endParaRPr>
          </a:p>
          <a:p>
            <a:r>
              <a:rPr lang="en-US" sz="2800" dirty="0">
                <a:latin typeface="Segoe Print" panose="02000800000000000000" pitchFamily="2" charset="0"/>
              </a:rPr>
              <a:t>To make sure your data is recorded correctly, </a:t>
            </a:r>
            <a:r>
              <a:rPr lang="en-US" sz="2800" b="1" u="sng" dirty="0">
                <a:latin typeface="Segoe Print" panose="02000800000000000000" pitchFamily="2" charset="0"/>
              </a:rPr>
              <a:t>do not switch tabs or leave this window while playing</a:t>
            </a:r>
            <a:r>
              <a:rPr lang="en-US" sz="2800" u="sng" dirty="0">
                <a:latin typeface="Segoe Print" panose="02000800000000000000" pitchFamily="2" charset="0"/>
              </a:rPr>
              <a:t>. </a:t>
            </a:r>
            <a:r>
              <a:rPr lang="en-US" sz="2800" dirty="0">
                <a:latin typeface="Segoe Print" panose="02000800000000000000" pitchFamily="2" charset="0"/>
              </a:rPr>
              <a:t>Doing so may stop the game early or make your results unusable. Please also check that your </a:t>
            </a:r>
            <a:r>
              <a:rPr lang="en-US" sz="2800" b="1" u="sng" dirty="0">
                <a:latin typeface="Segoe Print" panose="02000800000000000000" pitchFamily="2" charset="0"/>
              </a:rPr>
              <a:t>volume is turned on</a:t>
            </a:r>
            <a:r>
              <a:rPr lang="en-US" sz="2800" dirty="0">
                <a:latin typeface="Segoe Print" panose="02000800000000000000" pitchFamily="2" charset="0"/>
              </a:rPr>
              <a:t>.</a:t>
            </a:r>
          </a:p>
          <a:p>
            <a:endParaRPr lang="en-US" sz="2800" dirty="0">
              <a:latin typeface="Segoe Print" panose="02000800000000000000" pitchFamily="2" charset="0"/>
            </a:endParaRPr>
          </a:p>
          <a:p>
            <a:r>
              <a:rPr lang="en-US" sz="2800" dirty="0">
                <a:latin typeface="Segoe Print" panose="02000800000000000000" pitchFamily="2" charset="0"/>
              </a:rPr>
              <a:t>Take a breath, get comfortable—and let’s begin </a:t>
            </a:r>
            <a:r>
              <a:rPr lang="en-US" sz="2800" dirty="0">
                <a:latin typeface=""/>
              </a:rPr>
              <a:t>🙂</a:t>
            </a:r>
          </a:p>
        </p:txBody>
      </p:sp>
      <p:sp>
        <p:nvSpPr>
          <p:cNvPr id="2" name="Rounded Rectangle 1">
            <a:extLst>
              <a:ext uri="{FF2B5EF4-FFF2-40B4-BE49-F238E27FC236}">
                <a16:creationId xmlns:a16="http://schemas.microsoft.com/office/drawing/2014/main" id="{52411C02-6AD7-DF27-933A-594E7A6B84E9}"/>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107230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2D73-4F2B-A119-860E-03FA09934D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F25A19-B3E5-9144-3F18-7EC298DFE1C3}"/>
              </a:ext>
            </a:extLst>
          </p:cNvPr>
          <p:cNvSpPr txBox="1"/>
          <p:nvPr/>
        </p:nvSpPr>
        <p:spPr>
          <a:xfrm>
            <a:off x="878326" y="1008635"/>
            <a:ext cx="9708516" cy="5078313"/>
          </a:xfrm>
          <a:prstGeom prst="rect">
            <a:avLst/>
          </a:prstGeom>
          <a:noFill/>
        </p:spPr>
        <p:txBody>
          <a:bodyPr wrap="square" rtlCol="0">
            <a:spAutoFit/>
          </a:bodyPr>
          <a:lstStyle/>
          <a:p>
            <a:r>
              <a:rPr lang="en-US" sz="3600" b="1" dirty="0">
                <a:latin typeface="Segoe Print" panose="02000800000000000000" pitchFamily="2" charset="0"/>
              </a:rPr>
              <a:t>Please take a moment to read the instructions carefully.</a:t>
            </a:r>
          </a:p>
          <a:p>
            <a:br>
              <a:rPr lang="en-US" sz="3600" dirty="0">
                <a:latin typeface="Segoe Print" panose="02000800000000000000" pitchFamily="2" charset="0"/>
              </a:rPr>
            </a:br>
            <a:r>
              <a:rPr lang="en-US" sz="3600" dirty="0">
                <a:latin typeface="Segoe Print" panose="02000800000000000000" pitchFamily="2" charset="0"/>
              </a:rPr>
              <a:t>Each slide will remain on screen for at least </a:t>
            </a:r>
            <a:r>
              <a:rPr lang="en-US" sz="3600" b="1" dirty="0">
                <a:latin typeface="Segoe Print" panose="02000800000000000000" pitchFamily="2" charset="0"/>
              </a:rPr>
              <a:t>two seconds</a:t>
            </a:r>
            <a:r>
              <a:rPr lang="en-US" sz="3600" dirty="0">
                <a:latin typeface="Segoe Print" panose="02000800000000000000" pitchFamily="2" charset="0"/>
              </a:rPr>
              <a:t> before you can continue to the next one.</a:t>
            </a:r>
          </a:p>
          <a:p>
            <a:endParaRPr lang="en-US" sz="3600" dirty="0">
              <a:latin typeface="Segoe Print" panose="02000800000000000000" pitchFamily="2" charset="0"/>
            </a:endParaRPr>
          </a:p>
          <a:p>
            <a:endParaRPr lang="en-US" sz="3600" dirty="0">
              <a:latin typeface="Segoe Print" panose="02000800000000000000" pitchFamily="2" charset="0"/>
            </a:endParaRPr>
          </a:p>
          <a:p>
            <a:pPr algn="r"/>
            <a:r>
              <a:rPr lang="en-US" sz="3600" dirty="0">
                <a:latin typeface="Segoe Print" panose="02000800000000000000" pitchFamily="2" charset="0"/>
              </a:rPr>
              <a:t>Thank you for playing!</a:t>
            </a:r>
          </a:p>
        </p:txBody>
      </p:sp>
      <p:sp>
        <p:nvSpPr>
          <p:cNvPr id="2" name="Rounded Rectangle 1">
            <a:extLst>
              <a:ext uri="{FF2B5EF4-FFF2-40B4-BE49-F238E27FC236}">
                <a16:creationId xmlns:a16="http://schemas.microsoft.com/office/drawing/2014/main" id="{F72BAD8D-2B12-F433-5A1B-686F8AA16A0C}"/>
              </a:ext>
            </a:extLst>
          </p:cNvPr>
          <p:cNvSpPr/>
          <p:nvPr/>
        </p:nvSpPr>
        <p:spPr>
          <a:xfrm>
            <a:off x="228600" y="169984"/>
            <a:ext cx="11734800" cy="6518031"/>
          </a:xfrm>
          <a:custGeom>
            <a:avLst/>
            <a:gdLst>
              <a:gd name="csX0" fmla="*/ 0 w 11734800"/>
              <a:gd name="csY0" fmla="*/ 1086360 h 6518031"/>
              <a:gd name="csX1" fmla="*/ 1086360 w 11734800"/>
              <a:gd name="csY1" fmla="*/ 0 h 6518031"/>
              <a:gd name="csX2" fmla="*/ 1875232 w 11734800"/>
              <a:gd name="csY2" fmla="*/ 0 h 6518031"/>
              <a:gd name="csX3" fmla="*/ 2377241 w 11734800"/>
              <a:gd name="csY3" fmla="*/ 0 h 6518031"/>
              <a:gd name="csX4" fmla="*/ 2783629 w 11734800"/>
              <a:gd name="csY4" fmla="*/ 0 h 6518031"/>
              <a:gd name="csX5" fmla="*/ 3476880 w 11734800"/>
              <a:gd name="csY5" fmla="*/ 0 h 6518031"/>
              <a:gd name="csX6" fmla="*/ 3978889 w 11734800"/>
              <a:gd name="csY6" fmla="*/ 0 h 6518031"/>
              <a:gd name="csX7" fmla="*/ 4767761 w 11734800"/>
              <a:gd name="csY7" fmla="*/ 0 h 6518031"/>
              <a:gd name="csX8" fmla="*/ 5174149 w 11734800"/>
              <a:gd name="csY8" fmla="*/ 0 h 6518031"/>
              <a:gd name="csX9" fmla="*/ 5963021 w 11734800"/>
              <a:gd name="csY9" fmla="*/ 0 h 6518031"/>
              <a:gd name="csX10" fmla="*/ 6273788 w 11734800"/>
              <a:gd name="csY10" fmla="*/ 0 h 6518031"/>
              <a:gd name="csX11" fmla="*/ 6871418 w 11734800"/>
              <a:gd name="csY11" fmla="*/ 0 h 6518031"/>
              <a:gd name="csX12" fmla="*/ 7469048 w 11734800"/>
              <a:gd name="csY12" fmla="*/ 0 h 6518031"/>
              <a:gd name="csX13" fmla="*/ 7971058 w 11734800"/>
              <a:gd name="csY13" fmla="*/ 0 h 6518031"/>
              <a:gd name="csX14" fmla="*/ 8759929 w 11734800"/>
              <a:gd name="csY14" fmla="*/ 0 h 6518031"/>
              <a:gd name="csX15" fmla="*/ 9548801 w 11734800"/>
              <a:gd name="csY15" fmla="*/ 0 h 6518031"/>
              <a:gd name="csX16" fmla="*/ 9955189 w 11734800"/>
              <a:gd name="csY16" fmla="*/ 0 h 6518031"/>
              <a:gd name="csX17" fmla="*/ 10648440 w 11734800"/>
              <a:gd name="csY17" fmla="*/ 0 h 6518031"/>
              <a:gd name="csX18" fmla="*/ 11734800 w 11734800"/>
              <a:gd name="csY18" fmla="*/ 1086360 h 6518031"/>
              <a:gd name="csX19" fmla="*/ 11734800 w 11734800"/>
              <a:gd name="csY19" fmla="*/ 1672977 h 6518031"/>
              <a:gd name="csX20" fmla="*/ 11734800 w 11734800"/>
              <a:gd name="csY20" fmla="*/ 2129235 h 6518031"/>
              <a:gd name="csX21" fmla="*/ 11734800 w 11734800"/>
              <a:gd name="csY21" fmla="*/ 2759305 h 6518031"/>
              <a:gd name="csX22" fmla="*/ 11734800 w 11734800"/>
              <a:gd name="csY22" fmla="*/ 3302469 h 6518031"/>
              <a:gd name="csX23" fmla="*/ 11734800 w 11734800"/>
              <a:gd name="csY23" fmla="*/ 3758726 h 6518031"/>
              <a:gd name="csX24" fmla="*/ 11734800 w 11734800"/>
              <a:gd name="csY24" fmla="*/ 4301890 h 6518031"/>
              <a:gd name="csX25" fmla="*/ 11734800 w 11734800"/>
              <a:gd name="csY25" fmla="*/ 4714695 h 6518031"/>
              <a:gd name="csX26" fmla="*/ 11734800 w 11734800"/>
              <a:gd name="csY26" fmla="*/ 5431671 h 6518031"/>
              <a:gd name="csX27" fmla="*/ 10648440 w 11734800"/>
              <a:gd name="csY27" fmla="*/ 6518031 h 6518031"/>
              <a:gd name="csX28" fmla="*/ 9955189 w 11734800"/>
              <a:gd name="csY28" fmla="*/ 6518031 h 6518031"/>
              <a:gd name="csX29" fmla="*/ 9548801 w 11734800"/>
              <a:gd name="csY29" fmla="*/ 6518031 h 6518031"/>
              <a:gd name="csX30" fmla="*/ 8855550 w 11734800"/>
              <a:gd name="csY30" fmla="*/ 6518031 h 6518031"/>
              <a:gd name="csX31" fmla="*/ 8544782 w 11734800"/>
              <a:gd name="csY31" fmla="*/ 6518031 h 6518031"/>
              <a:gd name="csX32" fmla="*/ 7851532 w 11734800"/>
              <a:gd name="csY32" fmla="*/ 6518031 h 6518031"/>
              <a:gd name="csX33" fmla="*/ 7445143 w 11734800"/>
              <a:gd name="csY33" fmla="*/ 6518031 h 6518031"/>
              <a:gd name="csX34" fmla="*/ 7134376 w 11734800"/>
              <a:gd name="csY34" fmla="*/ 6518031 h 6518031"/>
              <a:gd name="csX35" fmla="*/ 6727987 w 11734800"/>
              <a:gd name="csY35" fmla="*/ 6518031 h 6518031"/>
              <a:gd name="csX36" fmla="*/ 6034736 w 11734800"/>
              <a:gd name="csY36" fmla="*/ 6518031 h 6518031"/>
              <a:gd name="csX37" fmla="*/ 5628348 w 11734800"/>
              <a:gd name="csY37" fmla="*/ 6518031 h 6518031"/>
              <a:gd name="csX38" fmla="*/ 5317580 w 11734800"/>
              <a:gd name="csY38" fmla="*/ 6518031 h 6518031"/>
              <a:gd name="csX39" fmla="*/ 4911192 w 11734800"/>
              <a:gd name="csY39" fmla="*/ 6518031 h 6518031"/>
              <a:gd name="csX40" fmla="*/ 4409183 w 11734800"/>
              <a:gd name="csY40" fmla="*/ 6518031 h 6518031"/>
              <a:gd name="csX41" fmla="*/ 3811553 w 11734800"/>
              <a:gd name="csY41" fmla="*/ 6518031 h 6518031"/>
              <a:gd name="csX42" fmla="*/ 3405164 w 11734800"/>
              <a:gd name="csY42" fmla="*/ 6518031 h 6518031"/>
              <a:gd name="csX43" fmla="*/ 2616293 w 11734800"/>
              <a:gd name="csY43" fmla="*/ 6518031 h 6518031"/>
              <a:gd name="csX44" fmla="*/ 2018663 w 11734800"/>
              <a:gd name="csY44" fmla="*/ 6518031 h 6518031"/>
              <a:gd name="csX45" fmla="*/ 1086360 w 11734800"/>
              <a:gd name="csY45" fmla="*/ 6518031 h 6518031"/>
              <a:gd name="csX46" fmla="*/ 0 w 11734800"/>
              <a:gd name="csY46" fmla="*/ 5431671 h 6518031"/>
              <a:gd name="csX47" fmla="*/ 0 w 11734800"/>
              <a:gd name="csY47" fmla="*/ 4801601 h 6518031"/>
              <a:gd name="csX48" fmla="*/ 0 w 11734800"/>
              <a:gd name="csY48" fmla="*/ 4345343 h 6518031"/>
              <a:gd name="csX49" fmla="*/ 0 w 11734800"/>
              <a:gd name="csY49" fmla="*/ 3802179 h 6518031"/>
              <a:gd name="csX50" fmla="*/ 0 w 11734800"/>
              <a:gd name="csY50" fmla="*/ 3389375 h 6518031"/>
              <a:gd name="csX51" fmla="*/ 0 w 11734800"/>
              <a:gd name="csY51" fmla="*/ 2759305 h 6518031"/>
              <a:gd name="csX52" fmla="*/ 0 w 11734800"/>
              <a:gd name="csY52" fmla="*/ 2216141 h 6518031"/>
              <a:gd name="csX53" fmla="*/ 0 w 11734800"/>
              <a:gd name="csY53" fmla="*/ 1586071 h 6518031"/>
              <a:gd name="csX54" fmla="*/ 0 w 11734800"/>
              <a:gd name="csY54" fmla="*/ 1086360 h 6518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1734800" h="6518031" extrusionOk="0">
                <a:moveTo>
                  <a:pt x="0" y="1086360"/>
                </a:moveTo>
                <a:cubicBezTo>
                  <a:pt x="-83530" y="434857"/>
                  <a:pt x="382210" y="39097"/>
                  <a:pt x="1086360" y="0"/>
                </a:cubicBezTo>
                <a:cubicBezTo>
                  <a:pt x="1281388" y="-31929"/>
                  <a:pt x="1565780" y="26063"/>
                  <a:pt x="1875232" y="0"/>
                </a:cubicBezTo>
                <a:cubicBezTo>
                  <a:pt x="2184684" y="-26063"/>
                  <a:pt x="2178052" y="948"/>
                  <a:pt x="2377241" y="0"/>
                </a:cubicBezTo>
                <a:cubicBezTo>
                  <a:pt x="2576430" y="-948"/>
                  <a:pt x="2663434" y="13726"/>
                  <a:pt x="2783629" y="0"/>
                </a:cubicBezTo>
                <a:cubicBezTo>
                  <a:pt x="2903824" y="-13726"/>
                  <a:pt x="3313233" y="8305"/>
                  <a:pt x="3476880" y="0"/>
                </a:cubicBezTo>
                <a:cubicBezTo>
                  <a:pt x="3640527" y="-8305"/>
                  <a:pt x="3848355" y="56316"/>
                  <a:pt x="3978889" y="0"/>
                </a:cubicBezTo>
                <a:cubicBezTo>
                  <a:pt x="4109423" y="-56316"/>
                  <a:pt x="4429924" y="1917"/>
                  <a:pt x="4767761" y="0"/>
                </a:cubicBezTo>
                <a:cubicBezTo>
                  <a:pt x="5105598" y="-1917"/>
                  <a:pt x="5064379" y="13041"/>
                  <a:pt x="5174149" y="0"/>
                </a:cubicBezTo>
                <a:cubicBezTo>
                  <a:pt x="5283919" y="-13041"/>
                  <a:pt x="5774275" y="74428"/>
                  <a:pt x="5963021" y="0"/>
                </a:cubicBezTo>
                <a:cubicBezTo>
                  <a:pt x="6151767" y="-74428"/>
                  <a:pt x="6175390" y="15462"/>
                  <a:pt x="6273788" y="0"/>
                </a:cubicBezTo>
                <a:cubicBezTo>
                  <a:pt x="6372186" y="-15462"/>
                  <a:pt x="6605362" y="60466"/>
                  <a:pt x="6871418" y="0"/>
                </a:cubicBezTo>
                <a:cubicBezTo>
                  <a:pt x="7137474" y="-60466"/>
                  <a:pt x="7342717" y="25992"/>
                  <a:pt x="7469048" y="0"/>
                </a:cubicBezTo>
                <a:cubicBezTo>
                  <a:pt x="7595379" y="-25992"/>
                  <a:pt x="7773627" y="49653"/>
                  <a:pt x="7971058" y="0"/>
                </a:cubicBezTo>
                <a:cubicBezTo>
                  <a:pt x="8168489" y="-49653"/>
                  <a:pt x="8369009" y="20727"/>
                  <a:pt x="8759929" y="0"/>
                </a:cubicBezTo>
                <a:cubicBezTo>
                  <a:pt x="9150849" y="-20727"/>
                  <a:pt x="9217355" y="57866"/>
                  <a:pt x="9548801" y="0"/>
                </a:cubicBezTo>
                <a:cubicBezTo>
                  <a:pt x="9880247" y="-57866"/>
                  <a:pt x="9752592" y="35312"/>
                  <a:pt x="9955189" y="0"/>
                </a:cubicBezTo>
                <a:cubicBezTo>
                  <a:pt x="10157786" y="-35312"/>
                  <a:pt x="10412166" y="10194"/>
                  <a:pt x="10648440" y="0"/>
                </a:cubicBezTo>
                <a:cubicBezTo>
                  <a:pt x="11241232" y="-14653"/>
                  <a:pt x="11744429" y="356132"/>
                  <a:pt x="11734800" y="1086360"/>
                </a:cubicBezTo>
                <a:cubicBezTo>
                  <a:pt x="11772740" y="1277475"/>
                  <a:pt x="11719692" y="1500591"/>
                  <a:pt x="11734800" y="1672977"/>
                </a:cubicBezTo>
                <a:cubicBezTo>
                  <a:pt x="11749908" y="1845363"/>
                  <a:pt x="11719157" y="2003363"/>
                  <a:pt x="11734800" y="2129235"/>
                </a:cubicBezTo>
                <a:cubicBezTo>
                  <a:pt x="11750443" y="2255107"/>
                  <a:pt x="11680694" y="2591232"/>
                  <a:pt x="11734800" y="2759305"/>
                </a:cubicBezTo>
                <a:cubicBezTo>
                  <a:pt x="11788906" y="2927378"/>
                  <a:pt x="11699298" y="3146720"/>
                  <a:pt x="11734800" y="3302469"/>
                </a:cubicBezTo>
                <a:cubicBezTo>
                  <a:pt x="11770302" y="3458218"/>
                  <a:pt x="11680120" y="3654064"/>
                  <a:pt x="11734800" y="3758726"/>
                </a:cubicBezTo>
                <a:cubicBezTo>
                  <a:pt x="11789480" y="3863388"/>
                  <a:pt x="11719312" y="4164232"/>
                  <a:pt x="11734800" y="4301890"/>
                </a:cubicBezTo>
                <a:cubicBezTo>
                  <a:pt x="11750288" y="4439548"/>
                  <a:pt x="11732759" y="4593925"/>
                  <a:pt x="11734800" y="4714695"/>
                </a:cubicBezTo>
                <a:cubicBezTo>
                  <a:pt x="11736841" y="4835466"/>
                  <a:pt x="11689271" y="5162841"/>
                  <a:pt x="11734800" y="5431671"/>
                </a:cubicBezTo>
                <a:cubicBezTo>
                  <a:pt x="11682891" y="6135857"/>
                  <a:pt x="11226896" y="6489472"/>
                  <a:pt x="10648440" y="6518031"/>
                </a:cubicBezTo>
                <a:cubicBezTo>
                  <a:pt x="10449798" y="6546922"/>
                  <a:pt x="10144233" y="6494997"/>
                  <a:pt x="9955189" y="6518031"/>
                </a:cubicBezTo>
                <a:cubicBezTo>
                  <a:pt x="9766145" y="6541065"/>
                  <a:pt x="9740974" y="6496624"/>
                  <a:pt x="9548801" y="6518031"/>
                </a:cubicBezTo>
                <a:cubicBezTo>
                  <a:pt x="9356628" y="6539438"/>
                  <a:pt x="9133154" y="6444571"/>
                  <a:pt x="8855550" y="6518031"/>
                </a:cubicBezTo>
                <a:cubicBezTo>
                  <a:pt x="8577946" y="6591491"/>
                  <a:pt x="8674103" y="6500915"/>
                  <a:pt x="8544782" y="6518031"/>
                </a:cubicBezTo>
                <a:cubicBezTo>
                  <a:pt x="8415461" y="6535147"/>
                  <a:pt x="8087965" y="6507902"/>
                  <a:pt x="7851532" y="6518031"/>
                </a:cubicBezTo>
                <a:cubicBezTo>
                  <a:pt x="7615099" y="6528160"/>
                  <a:pt x="7597925" y="6486821"/>
                  <a:pt x="7445143" y="6518031"/>
                </a:cubicBezTo>
                <a:cubicBezTo>
                  <a:pt x="7292361" y="6549241"/>
                  <a:pt x="7265684" y="6509273"/>
                  <a:pt x="7134376" y="6518031"/>
                </a:cubicBezTo>
                <a:cubicBezTo>
                  <a:pt x="7003068" y="6526789"/>
                  <a:pt x="6869150" y="6470202"/>
                  <a:pt x="6727987" y="6518031"/>
                </a:cubicBezTo>
                <a:cubicBezTo>
                  <a:pt x="6586824" y="6565860"/>
                  <a:pt x="6243276" y="6453951"/>
                  <a:pt x="6034736" y="6518031"/>
                </a:cubicBezTo>
                <a:cubicBezTo>
                  <a:pt x="5826196" y="6582111"/>
                  <a:pt x="5710498" y="6512941"/>
                  <a:pt x="5628348" y="6518031"/>
                </a:cubicBezTo>
                <a:cubicBezTo>
                  <a:pt x="5546198" y="6523121"/>
                  <a:pt x="5392992" y="6490705"/>
                  <a:pt x="5317580" y="6518031"/>
                </a:cubicBezTo>
                <a:cubicBezTo>
                  <a:pt x="5242168" y="6545357"/>
                  <a:pt x="5101658" y="6517083"/>
                  <a:pt x="4911192" y="6518031"/>
                </a:cubicBezTo>
                <a:cubicBezTo>
                  <a:pt x="4720726" y="6518979"/>
                  <a:pt x="4587487" y="6491374"/>
                  <a:pt x="4409183" y="6518031"/>
                </a:cubicBezTo>
                <a:cubicBezTo>
                  <a:pt x="4230879" y="6544688"/>
                  <a:pt x="3965788" y="6469414"/>
                  <a:pt x="3811553" y="6518031"/>
                </a:cubicBezTo>
                <a:cubicBezTo>
                  <a:pt x="3657318" y="6566648"/>
                  <a:pt x="3595523" y="6494589"/>
                  <a:pt x="3405164" y="6518031"/>
                </a:cubicBezTo>
                <a:cubicBezTo>
                  <a:pt x="3214805" y="6541473"/>
                  <a:pt x="3008767" y="6495230"/>
                  <a:pt x="2616293" y="6518031"/>
                </a:cubicBezTo>
                <a:cubicBezTo>
                  <a:pt x="2223819" y="6540832"/>
                  <a:pt x="2298375" y="6510048"/>
                  <a:pt x="2018663" y="6518031"/>
                </a:cubicBezTo>
                <a:cubicBezTo>
                  <a:pt x="1738951" y="6526014"/>
                  <a:pt x="1470175" y="6412948"/>
                  <a:pt x="1086360" y="6518031"/>
                </a:cubicBezTo>
                <a:cubicBezTo>
                  <a:pt x="371451" y="6386537"/>
                  <a:pt x="47816" y="5979913"/>
                  <a:pt x="0" y="5431671"/>
                </a:cubicBezTo>
                <a:cubicBezTo>
                  <a:pt x="-8352" y="5203794"/>
                  <a:pt x="38749" y="5044344"/>
                  <a:pt x="0" y="4801601"/>
                </a:cubicBezTo>
                <a:cubicBezTo>
                  <a:pt x="-38749" y="4558858"/>
                  <a:pt x="16762" y="4522471"/>
                  <a:pt x="0" y="4345343"/>
                </a:cubicBezTo>
                <a:cubicBezTo>
                  <a:pt x="-16762" y="4168215"/>
                  <a:pt x="43329" y="3957402"/>
                  <a:pt x="0" y="3802179"/>
                </a:cubicBezTo>
                <a:cubicBezTo>
                  <a:pt x="-43329" y="3646956"/>
                  <a:pt x="11676" y="3548346"/>
                  <a:pt x="0" y="3389375"/>
                </a:cubicBezTo>
                <a:cubicBezTo>
                  <a:pt x="-11676" y="3230404"/>
                  <a:pt x="37494" y="3026026"/>
                  <a:pt x="0" y="2759305"/>
                </a:cubicBezTo>
                <a:cubicBezTo>
                  <a:pt x="-37494" y="2492584"/>
                  <a:pt x="14184" y="2428501"/>
                  <a:pt x="0" y="2216141"/>
                </a:cubicBezTo>
                <a:cubicBezTo>
                  <a:pt x="-14184" y="2003781"/>
                  <a:pt x="47144" y="1834509"/>
                  <a:pt x="0" y="1586071"/>
                </a:cubicBezTo>
                <a:cubicBezTo>
                  <a:pt x="-47144" y="1337633"/>
                  <a:pt x="34548" y="1284564"/>
                  <a:pt x="0" y="1086360"/>
                </a:cubicBezTo>
                <a:close/>
              </a:path>
            </a:pathLst>
          </a:custGeom>
          <a:noFill/>
          <a:ln>
            <a:solidFill>
              <a:srgbClr val="FFC000"/>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4425608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9936-D0A6-5B93-6C36-B92D0E1C16A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1B8B46E-0C50-9790-0A5A-2E68C7428022}"/>
              </a:ext>
            </a:extLst>
          </p:cNvPr>
          <p:cNvSpPr txBox="1">
            <a:spLocks/>
          </p:cNvSpPr>
          <p:nvPr/>
        </p:nvSpPr>
        <p:spPr>
          <a:xfrm>
            <a:off x="838200" y="2882333"/>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latin typeface="Segoe Print" panose="02000800000000000000" pitchFamily="2" charset="0"/>
              </a:rPr>
              <a:t>Oops, there was at least one </a:t>
            </a:r>
            <a:r>
              <a:rPr lang="en-US" sz="3000" u="sng" dirty="0">
                <a:solidFill>
                  <a:srgbClr val="C00000"/>
                </a:solidFill>
                <a:latin typeface="Segoe Print" panose="02000800000000000000" pitchFamily="2" charset="0"/>
              </a:rPr>
              <a:t>incorrect response. </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It seems that you did not quite understand </a:t>
            </a:r>
          </a:p>
          <a:p>
            <a:pPr algn="ctr"/>
            <a:r>
              <a:rPr lang="en-US" sz="3000" dirty="0">
                <a:latin typeface="Segoe Print" panose="02000800000000000000" pitchFamily="2" charset="0"/>
              </a:rPr>
              <a:t>this section…</a:t>
            </a:r>
          </a:p>
          <a:p>
            <a:pPr algn="ctr"/>
            <a:endParaRPr lang="en-US" sz="3000" dirty="0">
              <a:latin typeface="Segoe Print" panose="02000800000000000000" pitchFamily="2" charset="0"/>
            </a:endParaRPr>
          </a:p>
          <a:p>
            <a:pPr algn="ctr"/>
            <a:r>
              <a:rPr lang="en-US" sz="3000" dirty="0">
                <a:latin typeface="Segoe Print" panose="02000800000000000000" pitchFamily="2" charset="0"/>
              </a:rPr>
              <a:t>No worries—let’s review the instructions </a:t>
            </a:r>
          </a:p>
          <a:p>
            <a:pPr algn="ctr"/>
            <a:r>
              <a:rPr lang="en-US" sz="3000" u="sng" dirty="0">
                <a:solidFill>
                  <a:srgbClr val="C00000"/>
                </a:solidFill>
                <a:latin typeface="Segoe Print" panose="02000800000000000000" pitchFamily="2" charset="0"/>
              </a:rPr>
              <a:t>one last time.</a:t>
            </a:r>
          </a:p>
          <a:p>
            <a:pPr algn="ctr"/>
            <a:br>
              <a:rPr lang="en-US" sz="2800" dirty="0">
                <a:latin typeface="Segoe Print" panose="02000800000000000000" pitchFamily="2" charset="0"/>
              </a:rPr>
            </a:br>
            <a:r>
              <a:rPr lang="en-US" sz="2000" dirty="0">
                <a:latin typeface="Segoe Print" panose="02000800000000000000" pitchFamily="2" charset="0"/>
              </a:rPr>
              <a:t>To be clear, any more incorrect answers will end the game and result in </a:t>
            </a:r>
            <a:r>
              <a:rPr lang="en-US" sz="2000" b="1" dirty="0">
                <a:latin typeface="Segoe Print" panose="02000800000000000000" pitchFamily="2" charset="0"/>
              </a:rPr>
              <a:t>minimal compensation</a:t>
            </a:r>
            <a:r>
              <a:rPr lang="en-US" sz="2000" dirty="0">
                <a:latin typeface="Segoe Print" panose="02000800000000000000" pitchFamily="2" charset="0"/>
              </a:rPr>
              <a:t>.</a:t>
            </a:r>
            <a:endParaRPr lang="en-US" sz="2800" dirty="0">
              <a:latin typeface="Segoe Print" panose="02000800000000000000" pitchFamily="2" charset="0"/>
            </a:endParaRPr>
          </a:p>
        </p:txBody>
      </p:sp>
    </p:spTree>
    <p:extLst>
      <p:ext uri="{BB962C8B-B14F-4D97-AF65-F5344CB8AC3E}">
        <p14:creationId xmlns:p14="http://schemas.microsoft.com/office/powerpoint/2010/main" val="3660070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18644</TotalTime>
  <Words>2632</Words>
  <Application>Microsoft Macintosh PowerPoint</Application>
  <PresentationFormat>Widescreen</PresentationFormat>
  <Paragraphs>302</Paragraphs>
  <Slides>75</Slides>
  <Notes>59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Aptos</vt:lpstr>
      <vt:lpstr>Aptos Display</vt:lpstr>
      <vt:lpstr>Arial</vt:lpstr>
      <vt:lpstr>Segoe Print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This is BleeBlop.  BleeBlop is a Robot.</vt:lpstr>
      <vt:lpstr>PowerPoint Presentation</vt:lpstr>
      <vt:lpstr>But their journey there won’t be easy…</vt:lpstr>
      <vt:lpstr>For Bleeblop to move most efficiently, their gloop needs to be at the ideal level.</vt:lpstr>
      <vt:lpstr>The ideal level for Bleeblop’s gloop will be indicated using a star.</vt:lpstr>
      <vt:lpstr>Over time, Bleeblop’s gloop will naturally drain…</vt:lpstr>
      <vt:lpstr>So, you will need to add to BleeBlop’s gloop to keep them moving efficiently!</vt:lpstr>
      <vt:lpstr>As you do this, be careful…</vt:lpstr>
      <vt:lpstr>If Bleeblop’s main gloop container maxes out…</vt:lpstr>
      <vt:lpstr>PowerPoint Presentation</vt:lpstr>
      <vt:lpstr>If Bleeblop’s main gloop container empties…</vt:lpstr>
      <vt:lpstr>Bleeblop will shut down.</vt:lpstr>
      <vt:lpstr>Overheating or shutting down will force Bleeblop to go backwards to the last repair shop they passed, and progress will be lost.</vt:lpstr>
      <vt:lpstr>Your job is to keep BleeBlop’s gloop levels at the ideal height so that they can get to Robonia as fast as possible!</vt:lpstr>
      <vt:lpstr>Where is BleeBlop trying to go?</vt:lpstr>
      <vt:lpstr>What naturally happens to BleeBlop’s gloop over time?</vt:lpstr>
      <vt:lpstr>What happens if Bleeblop’s gloop container maxes out?</vt:lpstr>
      <vt:lpstr>What happens if Bleeblop’s gloop container empties?</vt:lpstr>
      <vt:lpstr>When does BleeBlop move the fastest</vt:lpstr>
      <vt:lpstr>PowerPoint Presentation</vt:lpstr>
      <vt:lpstr>PowerPoint Presentation</vt:lpstr>
      <vt:lpstr>PowerPoint Presentation</vt:lpstr>
      <vt:lpstr>PowerPoint Presentation</vt:lpstr>
      <vt:lpstr>PowerPoint Presentation</vt:lpstr>
      <vt:lpstr>PowerPoint Presentation</vt:lpstr>
      <vt:lpstr>Sometimes, Bleeblop will have an extra storage container for their gloop.</vt:lpstr>
      <vt:lpstr>When BleeBlop has more than the ideal amount of gloop, the gloop that naturally drains will fill this container.</vt:lpstr>
      <vt:lpstr>PowerPoint Presentation</vt:lpstr>
      <vt:lpstr>PowerPoint Presentation</vt:lpstr>
      <vt:lpstr>At the end of each day, you will get to see how far you helped Bleeblop travel.</vt:lpstr>
      <vt:lpstr>Bleeblop’s gloop levels will reset when the new day begins,</vt:lpstr>
      <vt:lpstr>But you’ll get to keep whatever gloop you’ve stored (even if it isn’t always accessible).</vt:lpstr>
      <vt:lpstr>PowerPoint Presentation</vt:lpstr>
      <vt:lpstr>What happens if Bleeblop overheats?</vt:lpstr>
      <vt:lpstr>What happens if Bleeblop shuts down?</vt:lpstr>
      <vt:lpstr>What key can you use to add to Bleeblop’s main gloop container?</vt:lpstr>
      <vt:lpstr>What key can you use to dump gloop into the main container from storage?</vt:lpstr>
      <vt:lpstr>When does gloop get stored? (mark all necessary conditions)</vt:lpstr>
      <vt:lpstr>When is Bleeblop’s stored gloop reset?</vt:lpstr>
      <vt:lpstr>When is Bleeblop’s main gloop container reset?</vt:lpstr>
      <vt:lpstr>PowerPoint Presentation</vt:lpstr>
      <vt:lpstr>PowerPoint Presentation</vt:lpstr>
      <vt:lpstr>PowerPoint Presentation</vt:lpstr>
      <vt:lpstr>PowerPoint Presentation</vt:lpstr>
      <vt:lpstr>PowerPoint Presentation</vt:lpstr>
      <vt:lpstr>Bleeblop is counting on you to make it to Robonia in time!</vt:lpstr>
      <vt:lpstr>The closer you can keep Bleeblop’s gloop level to its ideal, the faster BleeBlop will progress towards Robonia.</vt:lpstr>
      <vt:lpstr>If you are able to get Bleeblop at least 75% of the way to Robonia before the annual Roboday celebration, you will receive a $5 bonus!</vt:lpstr>
      <vt:lpstr>What must happen for you to receive the $5 bonus?</vt:lpstr>
      <vt:lpstr>PowerPoint Presentation</vt:lpstr>
      <vt:lpstr>PowerPoint Presentation</vt:lpstr>
      <vt:lpstr>PowerPoint Presentation</vt:lpstr>
      <vt:lpstr>Ready to Go?</vt:lpstr>
      <vt:lpstr>Great!</vt:lpstr>
      <vt:lpstr>We’ll do a few practice rounds and then send you and Bleeblop on your way!</vt:lpstr>
      <vt:lpstr>Great work! Bleeblop can’t wait to travel with you!</vt:lpstr>
      <vt:lpstr>Let’s get started!</vt:lpstr>
      <vt:lpstr>PowerPoint Presentation</vt:lpstr>
      <vt:lpstr>PowerPoint Presentation</vt:lpstr>
      <vt:lpstr>Overheating or running out of power will force Bleeblop to go back for help and lose progress</vt:lpstr>
      <vt:lpstr>Overheating or running out of power will cause Bleeblop to go backwards to the last repair shop that they passed</vt:lpstr>
      <vt:lpstr>PowerPoint Presentation</vt:lpstr>
      <vt:lpstr>PowerPoint Presentation</vt:lpstr>
      <vt:lpstr>Bleeblop’s gloop levels will reset at the end of each day</vt:lpstr>
      <vt:lpstr>5 rounds without storage and then five rounds with storage (using different color liquids, and a different velocity)   giving feedback as it goes  - if the main container goes empty: “Oh no! Bleeblop ran out of power… Remember, you can use the left arrow key to add to the main gloop container, and clicking the up arrow key will dump some stored gloop into the container if it is available. Try to keep the main gloop container at the ideal level (maybe have an arrow pointing to it) so Bleeblop can move as fast as possible!”  - if the main container reaches the max: “Oh no! Bleeblop overheated… Remember, Bleeblop’s gloop levels naturally drain overtime, so sometimes it may be best to hold off from filling the main container to keep Bleeblop’s gloop at the ideal level (maybe have an arrow pointing to it). Keeping the main gloop container at the ideal level will let Bleeblop move as fast as possible!”  - if they hit the up arrow key on a no storage round: “Bleeblop’s stored gloop is not available today… Bleeblop still has what you stored, it just cannot be accessed right now. Remember, you can always use the left arrow key to add to the main gloop container!”  - if they hit the up arrow key on a storage round but the storage is empty: “Bleeblop does not have any stored gloop to use at the moment… The storage container will fill with whatever drains when the main container is above the ideal level.”</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Warren, Katherine</dc:creator>
  <cp:lastModifiedBy>Warren, Katherine</cp:lastModifiedBy>
  <cp:revision>72</cp:revision>
  <dcterms:created xsi:type="dcterms:W3CDTF">2025-10-23T17:38:55Z</dcterms:created>
  <dcterms:modified xsi:type="dcterms:W3CDTF">2026-03-10T20:32:11Z</dcterms:modified>
</cp:coreProperties>
</file>